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1" r:id="rId3"/>
    <p:sldId id="337" r:id="rId4"/>
    <p:sldId id="334" r:id="rId5"/>
    <p:sldId id="336" r:id="rId6"/>
    <p:sldId id="319" r:id="rId7"/>
    <p:sldId id="320" r:id="rId8"/>
    <p:sldId id="257" r:id="rId9"/>
    <p:sldId id="258" r:id="rId10"/>
    <p:sldId id="285" r:id="rId11"/>
    <p:sldId id="265" r:id="rId12"/>
    <p:sldId id="322" r:id="rId13"/>
    <p:sldId id="323" r:id="rId14"/>
    <p:sldId id="335" r:id="rId15"/>
    <p:sldId id="260" r:id="rId16"/>
    <p:sldId id="310" r:id="rId17"/>
    <p:sldId id="312" r:id="rId18"/>
    <p:sldId id="259" r:id="rId19"/>
    <p:sldId id="311" r:id="rId20"/>
    <p:sldId id="278" r:id="rId21"/>
    <p:sldId id="262" r:id="rId22"/>
    <p:sldId id="263" r:id="rId23"/>
    <p:sldId id="264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338" r:id="rId32"/>
    <p:sldId id="277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339" r:id="rId43"/>
    <p:sldId id="340" r:id="rId44"/>
    <p:sldId id="318" r:id="rId45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43" autoAdjust="0"/>
  </p:normalViewPr>
  <p:slideViewPr>
    <p:cSldViewPr>
      <p:cViewPr varScale="1">
        <p:scale>
          <a:sx n="64" d="100"/>
          <a:sy n="64" d="100"/>
        </p:scale>
        <p:origin x="46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6C8B2-E44E-44A6-8716-66701E3263C7}" type="datetimeFigureOut">
              <a:rPr lang="da-DK" smtClean="0"/>
              <a:pPr/>
              <a:t>21-11-2025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E7D99-808D-41CC-8885-9A51AD05BF51}" type="slidenum">
              <a:rPr lang="da-DK" smtClean="0"/>
              <a:pPr/>
              <a:t>‹nr.›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206680" cy="1470025"/>
          </a:xfrm>
        </p:spPr>
        <p:txBody>
          <a:bodyPr>
            <a:normAutofit/>
          </a:bodyPr>
          <a:lstStyle/>
          <a:p>
            <a:r>
              <a:rPr lang="da-DK" dirty="0"/>
              <a:t>Algoritmer og Datastrukturer </a:t>
            </a:r>
            <a:br>
              <a:rPr lang="da-DK" dirty="0"/>
            </a:br>
            <a:r>
              <a:rPr lang="da-DK" dirty="0"/>
              <a:t>21. november 2025</a:t>
            </a:r>
            <a:endParaRPr lang="da-DK" sz="3200" dirty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sz="5400" dirty="0"/>
              <a:t>Grafer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B6D9DE-3F5E-4FDF-B0B6-01FCBADA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Dagens citat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011C3A9-E62D-43B5-ABFD-4D7759700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a-DK" dirty="0"/>
              <a:t>”Efterhånden kommer algoritmerne til at kende os så godt, at autoritære myndigheder kan opnå absolut kontrol over borgerne (mere end i Nazityskland), og modstand mod et sådan et regime vil være aldeles umulig. Ikke kun vil regimet vide præcis, hvordan du føler – det vil også kunne få dig til at føle hvad som helst, det ønsker.” </a:t>
            </a:r>
          </a:p>
          <a:p>
            <a:pPr marL="0" indent="0" algn="r">
              <a:buNone/>
            </a:pPr>
            <a:r>
              <a:rPr lang="da-DK" sz="2000" dirty="0" err="1"/>
              <a:t>Yuval</a:t>
            </a:r>
            <a:r>
              <a:rPr lang="da-DK" sz="2000" dirty="0"/>
              <a:t> Noah Harari</a:t>
            </a:r>
          </a:p>
          <a:p>
            <a:pPr marL="0" indent="0" algn="r">
              <a:buNone/>
            </a:pPr>
            <a:r>
              <a:rPr lang="da-DK" sz="2000" dirty="0"/>
              <a:t>”21 </a:t>
            </a:r>
            <a:r>
              <a:rPr lang="da-DK" sz="2000" dirty="0" err="1"/>
              <a:t>Lessons</a:t>
            </a:r>
            <a:r>
              <a:rPr lang="da-DK" sz="2000" dirty="0"/>
              <a:t> for the 21st Century”</a:t>
            </a:r>
          </a:p>
          <a:p>
            <a:pPr marL="0" indent="0" algn="r">
              <a:buNone/>
            </a:pPr>
            <a:r>
              <a:rPr lang="da-DK" sz="2000" dirty="0"/>
              <a:t>Guardian. 2018. P. 82</a:t>
            </a:r>
          </a:p>
        </p:txBody>
      </p:sp>
    </p:spTree>
    <p:extLst>
      <p:ext uri="{BB962C8B-B14F-4D97-AF65-F5344CB8AC3E}">
        <p14:creationId xmlns:p14="http://schemas.microsoft.com/office/powerpoint/2010/main" val="209621305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83751-55D0-49C3-9597-42A159932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Hvad er en algoritme?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8447F6-EA77-49A6-83E8-C2C65FA4A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En algoritme er en endelig sekvens af veldefinerede, computer-</a:t>
            </a:r>
            <a:r>
              <a:rPr lang="da-DK" dirty="0" err="1"/>
              <a:t>implementerbare</a:t>
            </a:r>
            <a:r>
              <a:rPr lang="da-DK" dirty="0"/>
              <a:t> instruktioner, typisk til at løse en klasse af problemer eller for at foretage en beregning.</a:t>
            </a:r>
          </a:p>
          <a:p>
            <a:pPr marL="0" indent="0" algn="r">
              <a:buNone/>
            </a:pPr>
            <a:r>
              <a:rPr lang="da-DK" sz="1600" i="1" dirty="0"/>
              <a:t>Wikipedia, </a:t>
            </a:r>
            <a:r>
              <a:rPr lang="da-DK" sz="1600" dirty="0" err="1"/>
              <a:t>quoting</a:t>
            </a:r>
            <a:r>
              <a:rPr lang="da-DK" sz="1600" dirty="0"/>
              <a:t> </a:t>
            </a:r>
            <a:r>
              <a:rPr lang="da-DK" sz="1600" dirty="0" err="1"/>
              <a:t>various</a:t>
            </a:r>
            <a:r>
              <a:rPr lang="da-DK" sz="1600" dirty="0"/>
              <a:t> </a:t>
            </a:r>
            <a:r>
              <a:rPr lang="da-DK" sz="1600" dirty="0" err="1"/>
              <a:t>scientific</a:t>
            </a:r>
            <a:r>
              <a:rPr lang="da-DK" sz="1600" dirty="0"/>
              <a:t> </a:t>
            </a:r>
            <a:r>
              <a:rPr lang="da-DK" sz="1600" dirty="0" err="1"/>
              <a:t>sourses</a:t>
            </a:r>
            <a:r>
              <a:rPr lang="da-DK" sz="1600" dirty="0"/>
              <a:t>.</a:t>
            </a:r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864176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65F15-F21D-618B-767D-1A824E96F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Endnu</a:t>
            </a:r>
            <a:r>
              <a:rPr lang="en-US" dirty="0"/>
              <a:t> et </a:t>
            </a:r>
            <a:r>
              <a:rPr lang="en-US" dirty="0" err="1"/>
              <a:t>citat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30EE2CA-DA3C-F5C5-706F-4FDCCB3A6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”Algoritmer er en variant af kunstig intelligens.”</a:t>
            </a:r>
          </a:p>
          <a:p>
            <a:pPr marL="0" indent="0">
              <a:buNone/>
            </a:pPr>
            <a:endParaRPr lang="da-DK" dirty="0"/>
          </a:p>
          <a:p>
            <a:pPr marL="0" indent="0" algn="r">
              <a:buNone/>
            </a:pPr>
            <a:r>
              <a:rPr lang="da-DK" sz="2000" dirty="0"/>
              <a:t>Anonym kollega fra Aalborg Universitet</a:t>
            </a:r>
          </a:p>
        </p:txBody>
      </p:sp>
    </p:spTree>
    <p:extLst>
      <p:ext uri="{BB962C8B-B14F-4D97-AF65-F5344CB8AC3E}">
        <p14:creationId xmlns:p14="http://schemas.microsoft.com/office/powerpoint/2010/main" val="263551283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CF2222-2F65-3589-7312-ADE5229E6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Anbefaling </a:t>
            </a:r>
          </a:p>
        </p:txBody>
      </p:sp>
      <p:pic>
        <p:nvPicPr>
          <p:cNvPr id="7" name="Content Placeholder 6" descr="A book cover of a book&#10;&#10;Description automatically generated">
            <a:extLst>
              <a:ext uri="{FF2B5EF4-FFF2-40B4-BE49-F238E27FC236}">
                <a16:creationId xmlns:a16="http://schemas.microsoft.com/office/drawing/2014/main" id="{F56D9FE9-1ED1-8F87-57EC-036D13F10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065" y="1600200"/>
            <a:ext cx="3027869" cy="4525963"/>
          </a:xfrm>
        </p:spPr>
      </p:pic>
    </p:spTree>
    <p:extLst>
      <p:ext uri="{BB962C8B-B14F-4D97-AF65-F5344CB8AC3E}">
        <p14:creationId xmlns:p14="http://schemas.microsoft.com/office/powerpoint/2010/main" val="85386823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923B6A-9296-480C-B94B-0C2914FB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Broerne i Königsberg</a:t>
            </a:r>
            <a:br>
              <a:rPr lang="da-DK" dirty="0"/>
            </a:br>
            <a:r>
              <a:rPr lang="da-DK" dirty="0"/>
              <a:t>Et simpelt(?) grafproblem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2E4247-4D97-40FB-BB04-E023395BB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Findes der en tur rundt i byen, hvor hver bro krydses præcis én gang?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6072A7FF-17FF-43E2-868C-B6ECF23A6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600199"/>
            <a:ext cx="6076950" cy="319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55360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91F62-40BA-4CD6-A9FE-954C16F3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Broerne i Königsberg 2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EDB8513-521B-49B9-8FEA-F12A9170F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Det intuitive (og korrekte) svar er nej, men hvad karakteriser en graf, hvor sådan en sti (</a:t>
            </a:r>
            <a:r>
              <a:rPr lang="da-DK" dirty="0" err="1"/>
              <a:t>path</a:t>
            </a:r>
            <a:r>
              <a:rPr lang="da-DK" dirty="0"/>
              <a:t>) ikke findes?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595A682D-EF11-4DC7-BF59-8343AAC4A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147763"/>
            <a:ext cx="6076950" cy="343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2556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En graf</a:t>
            </a:r>
          </a:p>
        </p:txBody>
      </p:sp>
      <p:pic>
        <p:nvPicPr>
          <p:cNvPr id="1026" name="Picture 2" descr="C:\Dokumenter\Arbejde\E2011\ADA5\Figurer, kapitel 7-12\0321395670_pt2\ch09\ch09gif\fig09_0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0587" y="1815306"/>
            <a:ext cx="7362825" cy="40957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Nøglebegreber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da-DK" dirty="0" err="1"/>
              <a:t>vertex</a:t>
            </a:r>
            <a:r>
              <a:rPr lang="da-DK" dirty="0"/>
              <a:t>/node		</a:t>
            </a:r>
            <a:r>
              <a:rPr lang="da-DK" dirty="0" err="1"/>
              <a:t>edge</a:t>
            </a:r>
            <a:r>
              <a:rPr lang="da-DK" dirty="0"/>
              <a:t>		</a:t>
            </a:r>
            <a:r>
              <a:rPr lang="da-DK"/>
              <a:t>	kant</a:t>
            </a:r>
            <a:endParaRPr lang="da-DK" dirty="0"/>
          </a:p>
          <a:p>
            <a:pPr>
              <a:buNone/>
            </a:pPr>
            <a:r>
              <a:rPr lang="da-DK" dirty="0" err="1"/>
              <a:t>directed</a:t>
            </a:r>
            <a:r>
              <a:rPr lang="da-DK" dirty="0"/>
              <a:t>			</a:t>
            </a:r>
            <a:r>
              <a:rPr lang="da-DK" dirty="0" err="1"/>
              <a:t>digraphs</a:t>
            </a:r>
            <a:r>
              <a:rPr lang="da-DK" dirty="0"/>
              <a:t>		</a:t>
            </a:r>
            <a:r>
              <a:rPr lang="da-DK" dirty="0" err="1"/>
              <a:t>adjacent</a:t>
            </a:r>
            <a:endParaRPr lang="da-DK" dirty="0"/>
          </a:p>
          <a:p>
            <a:pPr>
              <a:buNone/>
            </a:pPr>
            <a:r>
              <a:rPr lang="da-DK" dirty="0" err="1"/>
              <a:t>cost</a:t>
            </a:r>
            <a:r>
              <a:rPr lang="da-DK" dirty="0"/>
              <a:t>				</a:t>
            </a:r>
            <a:r>
              <a:rPr lang="da-DK" dirty="0" err="1"/>
              <a:t>weight</a:t>
            </a:r>
            <a:r>
              <a:rPr lang="da-DK" dirty="0"/>
              <a:t>		</a:t>
            </a:r>
            <a:r>
              <a:rPr lang="da-DK" dirty="0" err="1"/>
              <a:t>length</a:t>
            </a:r>
            <a:endParaRPr lang="da-DK" dirty="0"/>
          </a:p>
          <a:p>
            <a:pPr>
              <a:buNone/>
            </a:pPr>
            <a:r>
              <a:rPr lang="da-DK" dirty="0" err="1"/>
              <a:t>path</a:t>
            </a:r>
            <a:r>
              <a:rPr lang="da-DK" dirty="0"/>
              <a:t>				</a:t>
            </a:r>
            <a:r>
              <a:rPr lang="da-DK" dirty="0" err="1"/>
              <a:t>acyclic</a:t>
            </a:r>
            <a:r>
              <a:rPr lang="da-DK" dirty="0"/>
              <a:t>		DAG</a:t>
            </a:r>
          </a:p>
          <a:p>
            <a:pPr>
              <a:buNone/>
            </a:pPr>
            <a:r>
              <a:rPr lang="da-DK" dirty="0" err="1"/>
              <a:t>strongly</a:t>
            </a:r>
            <a:r>
              <a:rPr lang="da-DK" dirty="0"/>
              <a:t> </a:t>
            </a:r>
            <a:r>
              <a:rPr lang="da-DK" dirty="0" err="1"/>
              <a:t>connected</a:t>
            </a:r>
            <a:r>
              <a:rPr lang="da-DK" dirty="0"/>
              <a:t>	</a:t>
            </a:r>
            <a:r>
              <a:rPr lang="da-DK" dirty="0" err="1"/>
              <a:t>connected</a:t>
            </a:r>
            <a:r>
              <a:rPr lang="da-DK" dirty="0"/>
              <a:t>	(</a:t>
            </a:r>
            <a:r>
              <a:rPr lang="da-DK" dirty="0" err="1"/>
              <a:t>undir</a:t>
            </a:r>
            <a:r>
              <a:rPr lang="da-DK" dirty="0"/>
              <a:t>.)	</a:t>
            </a:r>
          </a:p>
          <a:p>
            <a:pPr>
              <a:buNone/>
            </a:pPr>
            <a:r>
              <a:rPr lang="da-DK" dirty="0" err="1"/>
              <a:t>complete</a:t>
            </a:r>
            <a:r>
              <a:rPr lang="da-DK" dirty="0"/>
              <a:t> </a:t>
            </a:r>
            <a:r>
              <a:rPr lang="da-DK" dirty="0" err="1"/>
              <a:t>graph</a:t>
            </a:r>
            <a:r>
              <a:rPr lang="da-DK" dirty="0"/>
              <a:t>		</a:t>
            </a:r>
            <a:r>
              <a:rPr lang="da-DK" dirty="0" err="1"/>
              <a:t>adjacency</a:t>
            </a:r>
            <a:r>
              <a:rPr lang="da-DK" dirty="0"/>
              <a:t> matrix</a:t>
            </a:r>
          </a:p>
          <a:p>
            <a:pPr>
              <a:buNone/>
            </a:pPr>
            <a:r>
              <a:rPr lang="da-DK" dirty="0" err="1"/>
              <a:t>dense</a:t>
            </a:r>
            <a:r>
              <a:rPr lang="da-DK" dirty="0"/>
              <a:t>			</a:t>
            </a:r>
            <a:r>
              <a:rPr lang="da-DK" dirty="0" err="1"/>
              <a:t>adjacency</a:t>
            </a:r>
            <a:r>
              <a:rPr lang="da-DK" dirty="0"/>
              <a:t> list	</a:t>
            </a:r>
            <a:r>
              <a:rPr lang="da-DK" dirty="0" err="1"/>
              <a:t>sparse</a:t>
            </a:r>
            <a:r>
              <a:rPr lang="da-DK" dirty="0"/>
              <a:t>	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Lufthavne i Europa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/>
          </a:p>
          <a:p>
            <a:pPr marL="0" indent="0">
              <a:buNone/>
            </a:pPr>
            <a:endParaRPr lang="da-DK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419350"/>
            <a:ext cx="4824535" cy="374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58387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/>
              <a:t>Repræsentationer </a:t>
            </a:r>
            <a:r>
              <a:rPr lang="da-DK" dirty="0"/>
              <a:t>af grafer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Adjacency</a:t>
            </a:r>
            <a:r>
              <a:rPr lang="da-DK" dirty="0"/>
              <a:t> matrix</a:t>
            </a:r>
          </a:p>
          <a:p>
            <a:pPr lvl="1"/>
            <a:r>
              <a:rPr lang="da-DK" dirty="0"/>
              <a:t>God til </a:t>
            </a:r>
            <a:r>
              <a:rPr lang="da-DK" dirty="0" err="1"/>
              <a:t>dense</a:t>
            </a:r>
            <a:r>
              <a:rPr lang="da-DK" dirty="0"/>
              <a:t> (tætte) grafer</a:t>
            </a:r>
          </a:p>
          <a:p>
            <a:pPr lvl="1"/>
            <a:r>
              <a:rPr lang="da-DK" dirty="0"/>
              <a:t>Pladskompleksitet  Θ(      )</a:t>
            </a:r>
          </a:p>
          <a:p>
            <a:r>
              <a:rPr lang="da-DK" dirty="0" err="1"/>
              <a:t>Adjacency</a:t>
            </a:r>
            <a:r>
              <a:rPr lang="da-DK" dirty="0"/>
              <a:t> list</a:t>
            </a:r>
          </a:p>
          <a:p>
            <a:pPr lvl="1"/>
            <a:r>
              <a:rPr lang="da-DK" dirty="0"/>
              <a:t>God til </a:t>
            </a:r>
            <a:r>
              <a:rPr lang="da-DK" dirty="0" err="1"/>
              <a:t>sparse</a:t>
            </a:r>
            <a:r>
              <a:rPr lang="da-DK" dirty="0"/>
              <a:t> (tynde) grafer</a:t>
            </a:r>
          </a:p>
          <a:p>
            <a:pPr lvl="1"/>
            <a:r>
              <a:rPr lang="da-DK" dirty="0"/>
              <a:t>Pladskompleksitet O(|E|+|V|)    </a:t>
            </a:r>
          </a:p>
          <a:p>
            <a:pPr marL="0" indent="0">
              <a:buNone/>
            </a:pPr>
            <a:r>
              <a:rPr lang="da-DK" dirty="0"/>
              <a:t>  </a:t>
            </a: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27984" y="2708920"/>
            <a:ext cx="466725" cy="55245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72F27-ACE1-421D-893D-B474F7FC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Adjacency</a:t>
            </a:r>
            <a:r>
              <a:rPr lang="da-DK" dirty="0"/>
              <a:t> matrix</a:t>
            </a:r>
          </a:p>
        </p:txBody>
      </p:sp>
      <p:pic>
        <p:nvPicPr>
          <p:cNvPr id="5" name="Pladsholder til indhold 4" descr="Et billede, der indeholder bord&#10;&#10;Automatisk genereret beskrivelse">
            <a:extLst>
              <a:ext uri="{FF2B5EF4-FFF2-40B4-BE49-F238E27FC236}">
                <a16:creationId xmlns:a16="http://schemas.microsoft.com/office/drawing/2014/main" id="{267A2275-164E-4F90-9C99-D23CB2382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27250"/>
            <a:ext cx="8229600" cy="3471862"/>
          </a:xfrm>
        </p:spPr>
      </p:pic>
    </p:spTree>
    <p:extLst>
      <p:ext uri="{BB962C8B-B14F-4D97-AF65-F5344CB8AC3E}">
        <p14:creationId xmlns:p14="http://schemas.microsoft.com/office/powerpoint/2010/main" val="403648842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AD0AD7-4F65-4B5E-9FC5-CFB89820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Adjacency</a:t>
            </a:r>
            <a:r>
              <a:rPr lang="da-DK" dirty="0"/>
              <a:t> list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59DE0291-1E01-42B1-8EA8-86D99FE1D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50" y="2215356"/>
            <a:ext cx="6743700" cy="3295650"/>
          </a:xfrm>
        </p:spPr>
      </p:pic>
    </p:spTree>
    <p:extLst>
      <p:ext uri="{BB962C8B-B14F-4D97-AF65-F5344CB8AC3E}">
        <p14:creationId xmlns:p14="http://schemas.microsoft.com/office/powerpoint/2010/main" val="155243383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B1B0F9-3AFA-E383-4E97-A91AC209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600" dirty="0"/>
              <a:t>Manhattans gader – </a:t>
            </a:r>
            <a:r>
              <a:rPr lang="da-DK" sz="3600" dirty="0" err="1"/>
              <a:t>dense</a:t>
            </a:r>
            <a:r>
              <a:rPr lang="da-DK" sz="3600" dirty="0"/>
              <a:t> or </a:t>
            </a:r>
            <a:r>
              <a:rPr lang="da-DK" sz="3600" dirty="0" err="1"/>
              <a:t>sparse</a:t>
            </a:r>
            <a:r>
              <a:rPr lang="da-DK" sz="3600" dirty="0"/>
              <a:t>?</a:t>
            </a:r>
          </a:p>
        </p:txBody>
      </p:sp>
      <p:pic>
        <p:nvPicPr>
          <p:cNvPr id="7" name="Pladsholder til indhold 6" descr="Et billede, der indeholder kort&#10;&#10;Automatisk genereret beskrivelse">
            <a:extLst>
              <a:ext uri="{FF2B5EF4-FFF2-40B4-BE49-F238E27FC236}">
                <a16:creationId xmlns:a16="http://schemas.microsoft.com/office/drawing/2014/main" id="{3ABD4A25-5F0E-A0A7-EDE2-504AB770F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196" y="1600200"/>
            <a:ext cx="2977607" cy="4525963"/>
          </a:xfrm>
        </p:spPr>
      </p:pic>
    </p:spTree>
    <p:extLst>
      <p:ext uri="{BB962C8B-B14F-4D97-AF65-F5344CB8AC3E}">
        <p14:creationId xmlns:p14="http://schemas.microsoft.com/office/powerpoint/2010/main" val="33969463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Topologisk sortering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dirty="0"/>
                  <a:t>En ordning af noder i en </a:t>
                </a:r>
                <a:r>
                  <a:rPr lang="da-DK" dirty="0" err="1"/>
                  <a:t>directed</a:t>
                </a:r>
                <a:r>
                  <a:rPr lang="da-DK" dirty="0"/>
                  <a:t>, </a:t>
                </a:r>
                <a:r>
                  <a:rPr lang="da-DK" dirty="0" err="1"/>
                  <a:t>acyklisk</a:t>
                </a:r>
                <a:r>
                  <a:rPr lang="da-DK" dirty="0"/>
                  <a:t> graf, således at hvis der er en sti fra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da-DK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a-DK" dirty="0"/>
                  <a:t> til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da-DK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da-DK" dirty="0"/>
                  <a:t>, så skal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da-DK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da-DK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da-DK" dirty="0"/>
                  <a:t>komme </a:t>
                </a:r>
                <a:r>
                  <a:rPr lang="da-DK" i="1" dirty="0"/>
                  <a:t>efter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da-DK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a-DK" dirty="0"/>
                  <a:t> i sorteringen.</a:t>
                </a:r>
              </a:p>
              <a:p>
                <a:r>
                  <a:rPr lang="da-DK" dirty="0"/>
                  <a:t>Cykliske grafer kan ikke sorteres topologisk.</a:t>
                </a:r>
              </a:p>
              <a:p>
                <a:r>
                  <a:rPr lang="da-DK" dirty="0"/>
                  <a:t>Der kan være mere end en løsning.</a:t>
                </a:r>
              </a:p>
              <a:p>
                <a:r>
                  <a:rPr lang="da-DK" dirty="0"/>
                  <a:t>Alle noder skal besøges.</a:t>
                </a: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28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1009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0" y="1057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3086" name="Rectangle 14"/>
          <p:cNvSpPr>
            <a:spLocks noChangeArrowheads="1"/>
          </p:cNvSpPr>
          <p:nvPr/>
        </p:nvSpPr>
        <p:spPr bwMode="auto">
          <a:xfrm>
            <a:off x="0" y="1057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auto">
          <a:xfrm>
            <a:off x="0" y="1009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Struktur for kursus-forudsætninger</a:t>
            </a: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222" y="1667492"/>
            <a:ext cx="6039556" cy="4391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708920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Topologisk sortering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For at besøge en node (eller at tage et kursus i det forrige eksempel), skal alle noderne (eller kurserne) fra indgående kanter være besøgt </a:t>
            </a:r>
            <a:r>
              <a:rPr lang="da-DK"/>
              <a:t>(bestået). </a:t>
            </a: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6910296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Topologisk sortering</a:t>
            </a:r>
          </a:p>
        </p:txBody>
      </p:sp>
      <p:pic>
        <p:nvPicPr>
          <p:cNvPr id="2052" name="Picture 4" descr="C:\Dokumenter\Arbejde\E2011\ADA5\Figurer, kapitel 7-12\0321395670_pt2\ch09\ch09gif\fig09_04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8287" y="1916832"/>
            <a:ext cx="6067425" cy="2952328"/>
          </a:xfrm>
          <a:prstGeom prst="rect">
            <a:avLst/>
          </a:prstGeom>
          <a:noFill/>
        </p:spPr>
      </p:pic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3419872" y="5517232"/>
            <a:ext cx="262778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2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5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4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3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7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6</a:t>
            </a:r>
            <a:endParaRPr kumimoji="0" lang="da-DK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2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5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4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7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3</a:t>
            </a: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v</a:t>
            </a:r>
            <a:r>
              <a:rPr kumimoji="0" lang="da-DK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6</a:t>
            </a:r>
            <a:endParaRPr kumimoji="0" 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Pseudokode - topsort</a:t>
            </a:r>
          </a:p>
        </p:txBody>
      </p:sp>
      <p:pic>
        <p:nvPicPr>
          <p:cNvPr id="4" name="Pladsholder til indhold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" y="2020094"/>
            <a:ext cx="6791325" cy="3686175"/>
          </a:xfrm>
        </p:spPr>
      </p:pic>
    </p:spTree>
    <p:extLst>
      <p:ext uri="{BB962C8B-B14F-4D97-AF65-F5344CB8AC3E}">
        <p14:creationId xmlns:p14="http://schemas.microsoft.com/office/powerpoint/2010/main" val="167019693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Topologisk Sortering</a:t>
            </a: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305" y="2209491"/>
            <a:ext cx="5659389" cy="330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805673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Pseudokode - topsort</a:t>
            </a:r>
          </a:p>
        </p:txBody>
      </p:sp>
      <p:pic>
        <p:nvPicPr>
          <p:cNvPr id="19458" name="Picture 2" descr="C:\Dokumenter\Arbejde\E2011\ADA5\Figurer, kapitel 7-12\0321395670_pt2\ch09\ch09gif\fig09_07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2085" y="1600200"/>
            <a:ext cx="3839830" cy="4525963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Korteste sti – </a:t>
            </a:r>
            <a:r>
              <a:rPr lang="da-DK" dirty="0" err="1"/>
              <a:t>shortest</a:t>
            </a:r>
            <a:r>
              <a:rPr lang="da-DK" dirty="0"/>
              <a:t> </a:t>
            </a:r>
            <a:r>
              <a:rPr lang="da-DK" dirty="0" err="1"/>
              <a:t>path</a:t>
            </a:r>
            <a:endParaRPr lang="da-DK" dirty="0"/>
          </a:p>
        </p:txBody>
      </p:sp>
      <p:pic>
        <p:nvPicPr>
          <p:cNvPr id="22529" name="Picture 1" descr="C:\Dokumenter\Arbejde\E2011\ADA5\Figurer, kapitel 7-12\0321395670_pt2\ch09\ch09gif\fig09_08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8287" y="2172494"/>
            <a:ext cx="6067425" cy="33813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Korteste sti – </a:t>
            </a:r>
            <a:r>
              <a:rPr lang="da-DK" dirty="0" err="1"/>
              <a:t>shortest</a:t>
            </a:r>
            <a:r>
              <a:rPr lang="da-DK" dirty="0"/>
              <a:t> </a:t>
            </a:r>
            <a:r>
              <a:rPr lang="da-DK" dirty="0" err="1"/>
              <a:t>path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636912"/>
            <a:ext cx="8229600" cy="3489251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da-DK" dirty="0"/>
              <a:t>	I en O sammenhæng er det at finde den korteste afstand fra en bestemt node </a:t>
            </a:r>
            <a:r>
              <a:rPr lang="da-DK" b="1" dirty="0"/>
              <a:t>s</a:t>
            </a:r>
            <a:r>
              <a:rPr lang="da-DK" dirty="0"/>
              <a:t> til </a:t>
            </a:r>
            <a:r>
              <a:rPr lang="da-DK" i="1" dirty="0"/>
              <a:t>alle andre noder </a:t>
            </a:r>
            <a:r>
              <a:rPr lang="da-DK" dirty="0"/>
              <a:t>lige så hurtigt som at finde den korteste afstand fra </a:t>
            </a:r>
            <a:r>
              <a:rPr lang="da-DK" b="1" dirty="0"/>
              <a:t>s</a:t>
            </a:r>
            <a:r>
              <a:rPr lang="da-DK" dirty="0"/>
              <a:t> til </a:t>
            </a:r>
            <a:r>
              <a:rPr lang="da-DK" i="1" dirty="0"/>
              <a:t>en anden node</a:t>
            </a:r>
            <a:r>
              <a:rPr lang="da-DK" dirty="0"/>
              <a:t>. 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Shortest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– 4 muligheder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dirty="0" err="1"/>
              <a:t>Unweighted</a:t>
            </a:r>
            <a:r>
              <a:rPr lang="da-DK" dirty="0"/>
              <a:t> </a:t>
            </a:r>
            <a:r>
              <a:rPr lang="da-DK" dirty="0" err="1"/>
              <a:t>shortest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O(|E|+|V|).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 err="1"/>
              <a:t>Weighted</a:t>
            </a:r>
            <a:r>
              <a:rPr lang="da-DK" dirty="0"/>
              <a:t> </a:t>
            </a:r>
            <a:r>
              <a:rPr lang="da-DK" dirty="0" err="1"/>
              <a:t>shortest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O(|E| </a:t>
            </a:r>
            <a:r>
              <a:rPr lang="da-DK" dirty="0" err="1"/>
              <a:t>log|V</a:t>
            </a:r>
            <a:r>
              <a:rPr lang="da-DK" dirty="0"/>
              <a:t>|).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 err="1"/>
              <a:t>Weighted</a:t>
            </a:r>
            <a:r>
              <a:rPr lang="da-DK" dirty="0"/>
              <a:t> </a:t>
            </a:r>
            <a:r>
              <a:rPr lang="da-DK" dirty="0" err="1"/>
              <a:t>shortest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</a:t>
            </a:r>
            <a:r>
              <a:rPr lang="da-DK" dirty="0" err="1"/>
              <a:t>with</a:t>
            </a:r>
            <a:r>
              <a:rPr lang="da-DK" dirty="0"/>
              <a:t> negative </a:t>
            </a:r>
            <a:r>
              <a:rPr lang="da-DK" dirty="0" err="1"/>
              <a:t>edges</a:t>
            </a:r>
            <a:r>
              <a:rPr lang="da-DK" dirty="0"/>
              <a:t> O(|E|*|V|).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 err="1"/>
              <a:t>Weighted</a:t>
            </a:r>
            <a:r>
              <a:rPr lang="da-DK" dirty="0"/>
              <a:t> </a:t>
            </a:r>
            <a:r>
              <a:rPr lang="da-DK" dirty="0" err="1"/>
              <a:t>acyclic</a:t>
            </a:r>
            <a:r>
              <a:rPr lang="da-DK" dirty="0"/>
              <a:t> </a:t>
            </a:r>
            <a:r>
              <a:rPr lang="da-DK" dirty="0" err="1"/>
              <a:t>graph</a:t>
            </a:r>
            <a:r>
              <a:rPr lang="da-DK" dirty="0"/>
              <a:t> </a:t>
            </a:r>
            <a:r>
              <a:rPr lang="da-DK" dirty="0" err="1"/>
              <a:t>special</a:t>
            </a:r>
            <a:r>
              <a:rPr lang="da-DK" dirty="0"/>
              <a:t> case O(N).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Unweighted</a:t>
            </a:r>
            <a:r>
              <a:rPr lang="da-DK" dirty="0"/>
              <a:t> </a:t>
            </a:r>
            <a:r>
              <a:rPr lang="da-DK" dirty="0" err="1"/>
              <a:t>shortest</a:t>
            </a:r>
            <a:r>
              <a:rPr lang="da-DK" dirty="0"/>
              <a:t> </a:t>
            </a:r>
            <a:r>
              <a:rPr lang="da-DK" dirty="0" err="1"/>
              <a:t>paths</a:t>
            </a:r>
            <a:endParaRPr lang="da-DK" dirty="0"/>
          </a:p>
        </p:txBody>
      </p:sp>
      <p:pic>
        <p:nvPicPr>
          <p:cNvPr id="27650" name="Picture 2" descr="C:\Dokumenter\Arbejde\E2011\ADA5\Figurer, kapitel 7-12\0321395670_pt2\ch09\ch09gif\fig09_1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8287" y="2177256"/>
            <a:ext cx="6067425" cy="33718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Usp</a:t>
            </a:r>
            <a:r>
              <a:rPr lang="da-DK" dirty="0"/>
              <a:t> (2)</a:t>
            </a:r>
          </a:p>
        </p:txBody>
      </p:sp>
      <p:pic>
        <p:nvPicPr>
          <p:cNvPr id="28674" name="Picture 2" descr="C:\Dokumenter\Arbejde\E2011\ADA5\Figurer, kapitel 7-12\0321395670_pt2\ch09\ch09gif\fig09_14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0662" y="1628800"/>
            <a:ext cx="6162675" cy="3168352"/>
          </a:xfrm>
          <a:prstGeom prst="rect">
            <a:avLst/>
          </a:prstGeom>
          <a:noFill/>
        </p:spPr>
      </p:pic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-1116632" y="5589240"/>
            <a:ext cx="1141174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828675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breadth-first</a:t>
            </a:r>
            <a:r>
              <a:rPr kumimoji="0" lang="da-D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da-DK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search</a:t>
            </a:r>
            <a:endParaRPr kumimoji="0" lang="da-D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82867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nodes </a:t>
            </a:r>
            <a:r>
              <a:rPr kumimoji="0" lang="da-D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are</a:t>
            </a:r>
            <a:r>
              <a:rPr kumimoji="0" 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da-D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visited</a:t>
            </a:r>
            <a:r>
              <a:rPr kumimoji="0" 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in ‘</a:t>
            </a:r>
            <a:r>
              <a:rPr kumimoji="0" lang="da-D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levels</a:t>
            </a:r>
            <a:r>
              <a:rPr kumimoji="0" 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’: </a:t>
            </a:r>
            <a:r>
              <a:rPr kumimoji="0" lang="da-D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closest</a:t>
            </a:r>
            <a:r>
              <a:rPr kumimoji="0" 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da-D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first</a:t>
            </a:r>
            <a:r>
              <a:rPr kumimoji="0" 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</a:t>
            </a:r>
            <a:r>
              <a:rPr kumimoji="0" lang="da-DK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most distant last</a:t>
            </a:r>
            <a:endParaRPr kumimoji="0" lang="da-D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Usp</a:t>
            </a:r>
            <a:r>
              <a:rPr lang="da-DK" dirty="0"/>
              <a:t> (3)</a:t>
            </a:r>
          </a:p>
        </p:txBody>
      </p:sp>
      <p:pic>
        <p:nvPicPr>
          <p:cNvPr id="29697" name="Picture 1" descr="C:\Dokumenter\Arbejde\E2011\ADA5\Figurer, kapitel 7-12\0321395670_pt2\ch09\ch09gif\fig09_16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600200"/>
            <a:ext cx="5328591" cy="4925144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Usp</a:t>
            </a:r>
            <a:r>
              <a:rPr lang="da-DK" dirty="0"/>
              <a:t> (4)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unweighted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Vertex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s )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Queue&lt;Vertex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&gt; q = new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Queue&lt;Vertex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&gt;( );</a:t>
            </a:r>
          </a:p>
          <a:p>
            <a:pPr>
              <a:buNone/>
            </a:pPr>
            <a:endParaRPr lang="da-DK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for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each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Vertex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v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v.dist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= INFINITY;</a:t>
            </a:r>
          </a:p>
          <a:p>
            <a:pPr>
              <a:buNone/>
            </a:pPr>
            <a:endParaRPr lang="da-DK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s.dist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q.enqueue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( s );</a:t>
            </a:r>
          </a:p>
          <a:p>
            <a:pPr>
              <a:buNone/>
            </a:pPr>
            <a:endParaRPr lang="da-DK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( !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q.isEmpty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( ) )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Vertex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v =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q.dequeue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( );</a:t>
            </a:r>
          </a:p>
          <a:p>
            <a:pPr>
              <a:buNone/>
            </a:pPr>
            <a:endParaRPr lang="da-DK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    for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each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Vertex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w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adjacent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to v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w.dist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== INFINITY )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        {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           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w.dist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v.dist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+ 1;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           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w.path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= v;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            </a:t>
            </a:r>
            <a:r>
              <a:rPr lang="da-DK" sz="1200" b="1" dirty="0" err="1">
                <a:latin typeface="Courier New" pitchFamily="49" charset="0"/>
                <a:cs typeface="Courier New" pitchFamily="49" charset="0"/>
              </a:rPr>
              <a:t>q.enqueue</a:t>
            </a:r>
            <a:r>
              <a:rPr lang="da-DK" sz="1200" b="1" dirty="0">
                <a:latin typeface="Courier New" pitchFamily="49" charset="0"/>
                <a:cs typeface="Courier New" pitchFamily="49" charset="0"/>
              </a:rPr>
              <a:t>( w );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        }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buNone/>
            </a:pPr>
            <a:r>
              <a:rPr lang="da-DK" sz="12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endParaRPr lang="da-DK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2. WSP – </a:t>
            </a:r>
            <a:r>
              <a:rPr lang="da-DK" dirty="0" err="1"/>
              <a:t>Dijkstra</a:t>
            </a:r>
            <a:r>
              <a:rPr lang="da-DK" dirty="0"/>
              <a:t> (1)</a:t>
            </a:r>
          </a:p>
        </p:txBody>
      </p:sp>
      <p:pic>
        <p:nvPicPr>
          <p:cNvPr id="31746" name="Picture 2" descr="C:\Dokumenter\Arbejde\E2011\ADA5\Figurer, kapitel 7-12\0321395670_pt2\ch09\ch09gif\fig09_20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8287" y="2172494"/>
            <a:ext cx="6067425" cy="33813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2. WSP – </a:t>
            </a:r>
            <a:r>
              <a:rPr lang="da-DK" dirty="0" err="1"/>
              <a:t>Dijkstra</a:t>
            </a:r>
            <a:r>
              <a:rPr lang="da-DK" dirty="0"/>
              <a:t> (2)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 fontScale="92500" lnSpcReduction="10000"/>
          </a:bodyPr>
          <a:lstStyle/>
          <a:p>
            <a:r>
              <a:rPr lang="da-DK" dirty="0"/>
              <a:t>Om </a:t>
            </a:r>
            <a:r>
              <a:rPr lang="da-DK" dirty="0" err="1"/>
              <a:t>Edsger</a:t>
            </a:r>
            <a:r>
              <a:rPr lang="da-DK" dirty="0"/>
              <a:t> </a:t>
            </a:r>
            <a:r>
              <a:rPr lang="da-DK" dirty="0" err="1"/>
              <a:t>Dijkstra</a:t>
            </a:r>
            <a:r>
              <a:rPr lang="da-DK" dirty="0"/>
              <a:t> (1930-2002) og hans algoritme:</a:t>
            </a:r>
          </a:p>
          <a:p>
            <a:r>
              <a:rPr lang="da-DK" dirty="0"/>
              <a:t>Udviklet i 1970’erne.</a:t>
            </a:r>
          </a:p>
          <a:p>
            <a:r>
              <a:rPr lang="da-DK" i="1" dirty="0"/>
              <a:t>Grådig (</a:t>
            </a:r>
            <a:r>
              <a:rPr lang="da-DK" i="1" dirty="0" err="1"/>
              <a:t>greedy</a:t>
            </a:r>
            <a:r>
              <a:rPr lang="da-DK" i="1" dirty="0"/>
              <a:t>)</a:t>
            </a:r>
            <a:r>
              <a:rPr lang="da-DK" dirty="0"/>
              <a:t> algoritme; løser problemet trinvis ved altid at vælge, hvad der ser ud til at være den bedste mulighed.</a:t>
            </a:r>
          </a:p>
          <a:p>
            <a:r>
              <a:rPr lang="da-DK" dirty="0"/>
              <a:t>Vælger altid den nærmeste node.</a:t>
            </a:r>
          </a:p>
          <a:p>
            <a:r>
              <a:rPr lang="da-DK" dirty="0"/>
              <a:t>Virker ikke med negative omkostninger.</a:t>
            </a:r>
          </a:p>
          <a:p>
            <a:r>
              <a:rPr lang="da-DK" dirty="0"/>
              <a:t>O(|E| </a:t>
            </a:r>
            <a:r>
              <a:rPr lang="da-DK" dirty="0" err="1"/>
              <a:t>log|V</a:t>
            </a:r>
            <a:r>
              <a:rPr lang="da-DK" dirty="0"/>
              <a:t>|) med anvendelse af passende datastrukturer.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21C05-C21C-1BEB-174D-BB152C1D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– </a:t>
            </a:r>
            <a:r>
              <a:rPr lang="en-US" dirty="0" err="1"/>
              <a:t>andre</a:t>
            </a:r>
            <a:r>
              <a:rPr lang="en-US" dirty="0"/>
              <a:t> </a:t>
            </a:r>
            <a:r>
              <a:rPr lang="en-US" dirty="0" err="1"/>
              <a:t>bidrag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BF63-05E9-B302-2D52-4C70363D7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 </a:t>
            </a:r>
            <a:r>
              <a:rPr lang="en-US" dirty="0" err="1"/>
              <a:t>udtalte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1968: “the </a:t>
            </a:r>
            <a:r>
              <a:rPr lang="en-US" dirty="0" err="1"/>
              <a:t>goto</a:t>
            </a:r>
            <a:r>
              <a:rPr lang="en-US" dirty="0"/>
              <a:t> statement considered harmful.”</a:t>
            </a:r>
          </a:p>
          <a:p>
            <a:r>
              <a:rPr lang="en-US" dirty="0" err="1"/>
              <a:t>Reduktion</a:t>
            </a:r>
            <a:r>
              <a:rPr lang="en-US" dirty="0"/>
              <a:t> af </a:t>
            </a:r>
            <a:r>
              <a:rPr lang="en-US" dirty="0" err="1"/>
              <a:t>problemer</a:t>
            </a:r>
            <a:r>
              <a:rPr lang="en-US" dirty="0"/>
              <a:t>: </a:t>
            </a:r>
            <a:r>
              <a:rPr lang="en-US" dirty="0" err="1"/>
              <a:t>skakbrættet</a:t>
            </a:r>
            <a:r>
              <a:rPr lang="en-US" dirty="0"/>
              <a:t>.</a:t>
            </a:r>
          </a:p>
          <a:p>
            <a:r>
              <a:rPr lang="en-US" dirty="0" err="1"/>
              <a:t>Bemærkede</a:t>
            </a:r>
            <a:r>
              <a:rPr lang="en-US" dirty="0"/>
              <a:t> at </a:t>
            </a:r>
            <a:r>
              <a:rPr lang="en-US" dirty="0" err="1"/>
              <a:t>spørgsmålet</a:t>
            </a:r>
            <a:r>
              <a:rPr lang="en-US" dirty="0"/>
              <a:t> om </a:t>
            </a:r>
            <a:r>
              <a:rPr lang="en-US" dirty="0" err="1"/>
              <a:t>hvorvidt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computer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tænke</a:t>
            </a:r>
            <a:r>
              <a:rPr lang="en-US" dirty="0"/>
              <a:t>, er </a:t>
            </a:r>
            <a:r>
              <a:rPr lang="en-US" dirty="0" err="1"/>
              <a:t>lige</a:t>
            </a:r>
            <a:r>
              <a:rPr lang="en-US" dirty="0"/>
              <a:t> </a:t>
            </a:r>
            <a:r>
              <a:rPr lang="en-US" dirty="0" err="1"/>
              <a:t>så</a:t>
            </a:r>
            <a:r>
              <a:rPr lang="en-US" dirty="0"/>
              <a:t> (</a:t>
            </a:r>
            <a:r>
              <a:rPr lang="en-US" dirty="0" err="1"/>
              <a:t>lidt</a:t>
            </a:r>
            <a:r>
              <a:rPr lang="en-US" dirty="0"/>
              <a:t>) relevant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spørgsmålet</a:t>
            </a:r>
            <a:r>
              <a:rPr lang="en-US" dirty="0"/>
              <a:t> om, </a:t>
            </a:r>
            <a:r>
              <a:rPr lang="en-US" dirty="0" err="1"/>
              <a:t>hvorvidt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U-</a:t>
            </a:r>
            <a:r>
              <a:rPr lang="en-US" dirty="0" err="1"/>
              <a:t>båd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svømme</a:t>
            </a:r>
            <a:r>
              <a:rPr lang="en-US" dirty="0"/>
              <a:t>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174079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3. WSP – </a:t>
            </a:r>
            <a:r>
              <a:rPr lang="da-DK" dirty="0" err="1"/>
              <a:t>Dijkstra</a:t>
            </a:r>
            <a:r>
              <a:rPr lang="da-DK" dirty="0"/>
              <a:t> (3)</a:t>
            </a:r>
          </a:p>
        </p:txBody>
      </p:sp>
      <p:pic>
        <p:nvPicPr>
          <p:cNvPr id="32770" name="Picture 2" descr="C:\Dokumenter\Arbejde\E2011\ADA5\Figurer, kapitel 7-12\0321395670_pt2\ch09\ch09gif\fig09_3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5" y="1412776"/>
            <a:ext cx="4608512" cy="5184576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429000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66589"/>
            <a:ext cx="5254625" cy="271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815419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429000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818" y="-171400"/>
            <a:ext cx="4394200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690394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429000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131" y="-171400"/>
            <a:ext cx="4325938" cy="354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9528276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429000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6114"/>
            <a:ext cx="4187825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948577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429000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3145"/>
            <a:ext cx="5300663" cy="317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370532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429000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0"/>
            <a:ext cx="4097338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09955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429000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-27384"/>
            <a:ext cx="6315075" cy="328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5873125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16632"/>
            <a:ext cx="4752528" cy="6552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8481948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3. WSP – </a:t>
            </a:r>
            <a:r>
              <a:rPr lang="da-DK" dirty="0" err="1"/>
              <a:t>Dijkstra</a:t>
            </a:r>
            <a:r>
              <a:rPr lang="da-DK" dirty="0"/>
              <a:t> (3)</a:t>
            </a:r>
          </a:p>
        </p:txBody>
      </p:sp>
      <p:pic>
        <p:nvPicPr>
          <p:cNvPr id="32770" name="Picture 2" descr="C:\Dokumenter\Arbejde\E2011\ADA5\Figurer, kapitel 7-12\0321395670_pt2\ch09\ch09gif\fig09_3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5" y="1412776"/>
            <a:ext cx="4608512" cy="5184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42596691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7083F9-D22C-0D15-7E04-336A44EE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D52D0C6-E0AE-F1CC-59B9-A5C2F1473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sz="4400" dirty="0"/>
              <a:t>Opgave i aktivitetsplanlægning</a:t>
            </a:r>
          </a:p>
          <a:p>
            <a:pPr marL="0" indent="0" algn="ctr">
              <a:buNone/>
            </a:pPr>
            <a:r>
              <a:rPr lang="da-DK" sz="4000" i="1" dirty="0"/>
              <a:t>Kritisk vej</a:t>
            </a:r>
          </a:p>
          <a:p>
            <a:pPr marL="0" indent="0" algn="ctr">
              <a:buNone/>
            </a:pPr>
            <a:r>
              <a:rPr lang="da-DK" sz="1800" dirty="0"/>
              <a:t>på</a:t>
            </a:r>
          </a:p>
          <a:p>
            <a:pPr marL="0" indent="0" algn="ctr">
              <a:buNone/>
            </a:pPr>
            <a:r>
              <a:rPr lang="da-DK" sz="1800" i="1" dirty="0"/>
              <a:t>itslearning</a:t>
            </a:r>
          </a:p>
        </p:txBody>
      </p:sp>
    </p:spTree>
    <p:extLst>
      <p:ext uri="{BB962C8B-B14F-4D97-AF65-F5344CB8AC3E}">
        <p14:creationId xmlns:p14="http://schemas.microsoft.com/office/powerpoint/2010/main" val="19458555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B6BCA-0E21-0FE2-1959-ACE2DD17F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5" name="Pladsholder til indhold 4" descr="Et billede, der indeholder håndskrift, tekst, Rektangel, diagram">
            <a:extLst>
              <a:ext uri="{FF2B5EF4-FFF2-40B4-BE49-F238E27FC236}">
                <a16:creationId xmlns:a16="http://schemas.microsoft.com/office/drawing/2014/main" id="{B707BD02-161A-BD82-3311-0EC972FBF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44" y="1600200"/>
            <a:ext cx="7827511" cy="4525963"/>
          </a:xfrm>
        </p:spPr>
      </p:pic>
    </p:spTree>
    <p:extLst>
      <p:ext uri="{BB962C8B-B14F-4D97-AF65-F5344CB8AC3E}">
        <p14:creationId xmlns:p14="http://schemas.microsoft.com/office/powerpoint/2010/main" val="245416928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DF5BA7-040E-4F6C-93D2-160177DB9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Supplerende 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433CB3A-4C19-4D69-95EC-F3213ECE5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Implementer din egen graf med klasserne </a:t>
            </a:r>
            <a:r>
              <a:rPr lang="da-DK" i="1" dirty="0"/>
              <a:t>Edge, </a:t>
            </a:r>
            <a:r>
              <a:rPr lang="da-DK" i="1" dirty="0" err="1"/>
              <a:t>Vertex</a:t>
            </a:r>
            <a:r>
              <a:rPr lang="da-DK" i="1" dirty="0"/>
              <a:t> </a:t>
            </a:r>
            <a:r>
              <a:rPr lang="da-DK" dirty="0"/>
              <a:t>og </a:t>
            </a:r>
            <a:r>
              <a:rPr lang="da-DK" i="1" dirty="0"/>
              <a:t>Graph, </a:t>
            </a:r>
            <a:r>
              <a:rPr lang="da-DK" dirty="0"/>
              <a:t>og lav øvelse 9.13 a og b i lærebogen.</a:t>
            </a:r>
          </a:p>
        </p:txBody>
      </p:sp>
    </p:spTree>
    <p:extLst>
      <p:ext uri="{BB962C8B-B14F-4D97-AF65-F5344CB8AC3E}">
        <p14:creationId xmlns:p14="http://schemas.microsoft.com/office/powerpoint/2010/main" val="307481733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15446</TotalTime>
  <Words>869</Words>
  <Application>Microsoft Office PowerPoint</Application>
  <PresentationFormat>Skærmshow (4:3)</PresentationFormat>
  <Paragraphs>132</Paragraphs>
  <Slides>44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 Math</vt:lpstr>
      <vt:lpstr>Courier New</vt:lpstr>
      <vt:lpstr>Times New Roman</vt:lpstr>
      <vt:lpstr>Kontortema</vt:lpstr>
      <vt:lpstr>Algoritmer og Datastrukturer  21. november 2025</vt:lpstr>
      <vt:lpstr>Dagens citat</vt:lpstr>
      <vt:lpstr>Hvad er en algoritme?</vt:lpstr>
      <vt:lpstr>Endnu et citat</vt:lpstr>
      <vt:lpstr>Anbefaling </vt:lpstr>
      <vt:lpstr>Broerne i Königsberg Et simpelt(?) grafproblem</vt:lpstr>
      <vt:lpstr>Broerne i Königsberg 2</vt:lpstr>
      <vt:lpstr>En graf</vt:lpstr>
      <vt:lpstr>Nøglebegreber</vt:lpstr>
      <vt:lpstr>Lufthavne i Europa</vt:lpstr>
      <vt:lpstr>Repræsentationer af grafer</vt:lpstr>
      <vt:lpstr>Adjacency matrix</vt:lpstr>
      <vt:lpstr>Adjacency list</vt:lpstr>
      <vt:lpstr>Manhattans gader – dense or sparse?</vt:lpstr>
      <vt:lpstr>Topologisk sortering</vt:lpstr>
      <vt:lpstr>Struktur for kursus-forudsætninger</vt:lpstr>
      <vt:lpstr>Topologisk sortering</vt:lpstr>
      <vt:lpstr>Topologisk sortering</vt:lpstr>
      <vt:lpstr>Pseudokode - topsort</vt:lpstr>
      <vt:lpstr>Topologisk Sortering</vt:lpstr>
      <vt:lpstr>Pseudokode - topsort</vt:lpstr>
      <vt:lpstr>Korteste sti – shortest path</vt:lpstr>
      <vt:lpstr>Korteste sti – shortest path</vt:lpstr>
      <vt:lpstr>Shortest path – 4 muligheder</vt:lpstr>
      <vt:lpstr>1. Unweighted shortest paths</vt:lpstr>
      <vt:lpstr>1. Usp (2)</vt:lpstr>
      <vt:lpstr>1. Usp (3)</vt:lpstr>
      <vt:lpstr>1. Usp (4)</vt:lpstr>
      <vt:lpstr>2. WSP – Dijkstra (1)</vt:lpstr>
      <vt:lpstr>2. WSP – Dijkstra (2)</vt:lpstr>
      <vt:lpstr>Dijkstra – andre bidrag</vt:lpstr>
      <vt:lpstr>3. WSP – Dijkstra (3)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3. WSP – Dijkstra (3)</vt:lpstr>
      <vt:lpstr>Øvelse</vt:lpstr>
      <vt:lpstr>PowerPoint-præsentation</vt:lpstr>
      <vt:lpstr>Supplerende øvelse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VPR/ADA 26. oktober 2011</dc:title>
  <dc:creator>Ole Dolriis</dc:creator>
  <cp:lastModifiedBy>Ole Dolriis</cp:lastModifiedBy>
  <cp:revision>167</cp:revision>
  <dcterms:created xsi:type="dcterms:W3CDTF">2011-11-16T10:33:03Z</dcterms:created>
  <dcterms:modified xsi:type="dcterms:W3CDTF">2025-11-21T08:54:55Z</dcterms:modified>
</cp:coreProperties>
</file>