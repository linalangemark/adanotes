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5" r:id="rId3"/>
    <p:sldId id="336" r:id="rId4"/>
    <p:sldId id="337" r:id="rId5"/>
    <p:sldId id="338" r:id="rId6"/>
    <p:sldId id="339" r:id="rId7"/>
    <p:sldId id="340" r:id="rId8"/>
    <p:sldId id="341" r:id="rId9"/>
    <p:sldId id="295" r:id="rId10"/>
    <p:sldId id="296" r:id="rId11"/>
    <p:sldId id="297" r:id="rId12"/>
    <p:sldId id="298" r:id="rId13"/>
    <p:sldId id="342" r:id="rId14"/>
    <p:sldId id="299" r:id="rId15"/>
    <p:sldId id="343" r:id="rId16"/>
    <p:sldId id="346" r:id="rId17"/>
    <p:sldId id="348" r:id="rId18"/>
    <p:sldId id="316" r:id="rId19"/>
    <p:sldId id="347" r:id="rId20"/>
    <p:sldId id="349" r:id="rId21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43" autoAdjust="0"/>
  </p:normalViewPr>
  <p:slideViewPr>
    <p:cSldViewPr>
      <p:cViewPr varScale="1">
        <p:scale>
          <a:sx n="64" d="100"/>
          <a:sy n="64" d="100"/>
        </p:scale>
        <p:origin x="46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6C8B2-E44E-44A6-8716-66701E3263C7}" type="datetimeFigureOut">
              <a:rPr lang="da-DK" smtClean="0"/>
              <a:pPr/>
              <a:t>05-12-2025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206680" cy="1470025"/>
          </a:xfrm>
        </p:spPr>
        <p:txBody>
          <a:bodyPr>
            <a:normAutofit/>
          </a:bodyPr>
          <a:lstStyle/>
          <a:p>
            <a:r>
              <a:rPr lang="da-DK" dirty="0"/>
              <a:t>Algoritmer &amp; </a:t>
            </a:r>
            <a:r>
              <a:rPr lang="da-DK" dirty="0" err="1"/>
              <a:t>Datastrkurer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5. december 2025</a:t>
            </a:r>
            <a:endParaRPr lang="da-DK" sz="3200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sz="5400" dirty="0"/>
              <a:t>Algoritmedesign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Schedulering</a:t>
            </a:r>
            <a:endParaRPr lang="da-DK" dirty="0"/>
          </a:p>
        </p:txBody>
      </p:sp>
      <p:pic>
        <p:nvPicPr>
          <p:cNvPr id="2050" name="Picture 2" descr="C:\Dokumenter\Arbejde\E2011\ADA5\Figurer, kapitel 7-12\0321395670_pt2\ch10\ch10gif\fig10_0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875" y="3148806"/>
            <a:ext cx="7334250" cy="14287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Schedulering</a:t>
            </a:r>
            <a:endParaRPr lang="da-DK" dirty="0"/>
          </a:p>
        </p:txBody>
      </p:sp>
      <p:pic>
        <p:nvPicPr>
          <p:cNvPr id="1026" name="Picture 2" descr="C:\Dokumenter\Arbejde\E2011\ADA5\Figurer, kapitel 7-12\0321395670_pt2\ch10\ch10gif\fig10_03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875" y="3172619"/>
            <a:ext cx="7334250" cy="13811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Totale omkostninger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452596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>
                          <a:latin typeface="Cambria Math"/>
                        </a:rPr>
                        <m:t>C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𝑘</m:t>
                          </m:r>
                          <m:r>
                            <a:rPr lang="da-DK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𝑁</m:t>
                              </m:r>
                              <m:r>
                                <a:rPr lang="da-DK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da-DK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da-DK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/>
                        </a:rPr>
                        <m:t>𝐶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+1</m:t>
                          </m:r>
                        </m:e>
                      </m:d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𝑘</m:t>
                          </m:r>
                          <m:r>
                            <a:rPr lang="da-DK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  <m:r>
                        <a:rPr lang="da-DK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𝑘</m:t>
                          </m:r>
                          <m:r>
                            <a:rPr lang="da-DK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da-DK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da-DK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 algn="ctr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Hvis de største jobs eksekveres til sidst, reduceres de totale omkostninger.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4525963"/>
              </a:xfrm>
              <a:blipFill>
                <a:blip r:embed="rId2"/>
                <a:stretch>
                  <a:fillRect l="-1806" r="-2023" b="-363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31881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Multiprocessor s.</a:t>
            </a:r>
          </a:p>
        </p:txBody>
      </p:sp>
      <p:pic>
        <p:nvPicPr>
          <p:cNvPr id="3074" name="Picture 2" descr="C:\Dokumenter\Arbejde\E2011\ADA5\Figurer, kapitel 7-12\0321395670_pt2\ch10\ch10gif\fig10_05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825" y="2091531"/>
            <a:ext cx="8134350" cy="35433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Multiprocessor s.</a:t>
            </a:r>
          </a:p>
        </p:txBody>
      </p:sp>
      <p:pic>
        <p:nvPicPr>
          <p:cNvPr id="4098" name="Picture 2" descr="C:\Dokumenter\Arbejde\E2011\ADA5\Figurer, kapitel 7-12\0321395670_pt2\ch10\ch10gif\fig10_0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2082006"/>
            <a:ext cx="6934200" cy="35623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kompression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a-DK" dirty="0" err="1"/>
              <a:t>Huffmann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(1952)</a:t>
            </a:r>
          </a:p>
          <a:p>
            <a:pPr marL="0" indent="0">
              <a:buNone/>
            </a:pPr>
            <a:r>
              <a:rPr lang="da-DK" dirty="0"/>
              <a:t>Idé: variabel længde repræsentation af karakterer (eller andre symboler, fx pixels), således at den oftest </a:t>
            </a:r>
            <a:r>
              <a:rPr lang="da-DK" dirty="0" err="1"/>
              <a:t>forekomende</a:t>
            </a:r>
            <a:r>
              <a:rPr lang="da-DK" dirty="0"/>
              <a:t> optager mindst plads.</a:t>
            </a:r>
          </a:p>
          <a:p>
            <a:pPr marL="0" indent="0">
              <a:buNone/>
            </a:pPr>
            <a:r>
              <a:rPr lang="da-DK" dirty="0"/>
              <a:t>Metode: præfiks(fri) koder – ingen kode kan være et præfiks for en anden kode, og således undgår man at bruge plads på længder og anden bogføring. </a:t>
            </a:r>
          </a:p>
        </p:txBody>
      </p:sp>
    </p:spTree>
    <p:extLst>
      <p:ext uri="{BB962C8B-B14F-4D97-AF65-F5344CB8AC3E}">
        <p14:creationId xmlns:p14="http://schemas.microsoft.com/office/powerpoint/2010/main" val="122640094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Huffman</a:t>
            </a:r>
            <a:r>
              <a:rPr lang="da-DK" dirty="0"/>
              <a:t> 1</a:t>
            </a:r>
          </a:p>
        </p:txBody>
      </p:sp>
      <p:pic>
        <p:nvPicPr>
          <p:cNvPr id="5122" name="Picture 2" descr="C:\Dokumenter\Arbejde\E2011\ADA5\Figurer, kapitel 7-12\0321395670_pt2\ch10\ch10gif\fig10_08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7" y="1268760"/>
            <a:ext cx="3960440" cy="2187277"/>
          </a:xfrm>
          <a:prstGeom prst="rect">
            <a:avLst/>
          </a:prstGeom>
          <a:noFill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873" y="3717032"/>
            <a:ext cx="6243637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Huffman</a:t>
            </a:r>
            <a:r>
              <a:rPr lang="da-DK" dirty="0"/>
              <a:t> 2</a:t>
            </a:r>
          </a:p>
        </p:txBody>
      </p:sp>
      <p:pic>
        <p:nvPicPr>
          <p:cNvPr id="6146" name="Picture 2" descr="C:\Dokumenter\Arbejde\E2011\ADA5\Figurer, kapitel 7-12\0321395670_pt2\ch10\ch10gif\fig10_1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1268760"/>
            <a:ext cx="3600401" cy="2259285"/>
          </a:xfrm>
          <a:prstGeom prst="rect">
            <a:avLst/>
          </a:prstGeom>
          <a:noFill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4" y="3448050"/>
            <a:ext cx="5973763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Binpacking</a:t>
            </a:r>
            <a:r>
              <a:rPr lang="da-DK" dirty="0"/>
              <a:t> – optimal</a:t>
            </a:r>
            <a:br>
              <a:rPr lang="da-DK" dirty="0"/>
            </a:br>
            <a:r>
              <a:rPr lang="da-DK" sz="2400" dirty="0"/>
              <a:t>0.2, 0.5, 0.4, 0.7, 0.1, 0.3, 0,8</a:t>
            </a:r>
            <a:endParaRPr lang="da-DK" dirty="0"/>
          </a:p>
        </p:txBody>
      </p:sp>
      <p:pic>
        <p:nvPicPr>
          <p:cNvPr id="7170" name="Picture 2" descr="C:\Dokumenter\Arbejde\E2011\ADA5\Figurer, kapitel 7-12\0321395670_pt2\ch10\ch10gif\fig10_20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5087" y="2277269"/>
            <a:ext cx="3933825" cy="31718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Bin </a:t>
            </a:r>
            <a:r>
              <a:rPr lang="da-DK" dirty="0" err="1"/>
              <a:t>packing</a:t>
            </a:r>
            <a:r>
              <a:rPr lang="da-DK" dirty="0"/>
              <a:t> – </a:t>
            </a:r>
            <a:r>
              <a:rPr lang="da-DK" dirty="0" err="1"/>
              <a:t>next</a:t>
            </a:r>
            <a:r>
              <a:rPr lang="da-DK" dirty="0"/>
              <a:t> fit</a:t>
            </a:r>
            <a:br>
              <a:rPr lang="da-DK" dirty="0"/>
            </a:br>
            <a:r>
              <a:rPr lang="da-DK" sz="2700" dirty="0"/>
              <a:t>0.2, 0.5, 0.4, 0.7, 0.1, 0.3, 0,8</a:t>
            </a:r>
          </a:p>
        </p:txBody>
      </p:sp>
      <p:pic>
        <p:nvPicPr>
          <p:cNvPr id="8194" name="Picture 2" descr="C:\Dokumenter\Arbejde\E2011\ADA5\Figurer, kapitel 7-12\0321395670_pt2\ch10\ch10gif\fig10_2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0150" y="2277269"/>
            <a:ext cx="6743700" cy="31718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Bin </a:t>
            </a:r>
            <a:r>
              <a:rPr lang="da-DK" dirty="0" err="1"/>
              <a:t>packing</a:t>
            </a:r>
            <a:r>
              <a:rPr lang="da-DK" dirty="0"/>
              <a:t> – </a:t>
            </a:r>
            <a:r>
              <a:rPr lang="da-DK" dirty="0" err="1"/>
              <a:t>first</a:t>
            </a:r>
            <a:r>
              <a:rPr lang="da-DK" dirty="0"/>
              <a:t> fit</a:t>
            </a:r>
            <a:br>
              <a:rPr lang="da-DK" dirty="0"/>
            </a:br>
            <a:r>
              <a:rPr lang="da-DK" sz="2700" dirty="0"/>
              <a:t>0.2, 0.5, 0.4, 0.7, 0.1, 0.3, 0,8</a:t>
            </a:r>
          </a:p>
        </p:txBody>
      </p:sp>
      <p:pic>
        <p:nvPicPr>
          <p:cNvPr id="9218" name="Picture 2" descr="C:\Dokumenter\Arbejde\E2011\ADA5\Figurer, kapitel 7-12\0321395670_pt2\ch10\ch10gif\fig10_24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9762" y="2267744"/>
            <a:ext cx="5324475" cy="31908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Fibonacci</a:t>
            </a:r>
            <a:r>
              <a:rPr lang="da-DK" dirty="0"/>
              <a:t>-tallene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a-DK" dirty="0"/>
              <a:t>	Fra det 3. tal: summen af de to foregående tal:</a:t>
            </a:r>
          </a:p>
          <a:p>
            <a:pPr>
              <a:buNone/>
            </a:pPr>
            <a:endParaRPr lang="da-DK" dirty="0"/>
          </a:p>
          <a:p>
            <a:pPr>
              <a:buNone/>
            </a:pPr>
            <a:r>
              <a:rPr lang="da-DK" dirty="0"/>
              <a:t>	1, 1, 2, 3, 5, 8, 13, 21, 34, 55, 89, 144, 233, 377, 610, 987 …..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Dynamisk programmering</a:t>
            </a:r>
          </a:p>
        </p:txBody>
      </p:sp>
      <p:pic>
        <p:nvPicPr>
          <p:cNvPr id="10242" name="Picture 2" descr="C:\Dokumenter\Arbejde\E2011\ADA5\Figurer, kapitel 7-12\0321395670_pt2\ch10\ch10gif\fig10_40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9175" y="2334419"/>
            <a:ext cx="7105650" cy="30575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Dynamisk programmering</a:t>
            </a:r>
          </a:p>
        </p:txBody>
      </p:sp>
      <p:pic>
        <p:nvPicPr>
          <p:cNvPr id="11266" name="Picture 2" descr="C:\Dokumenter\Arbejde\E2011\ADA5\Figurer, kapitel 7-12\0321395670_pt2\ch10\ch10gif\fig10_4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9122" y="1600200"/>
            <a:ext cx="5445755" cy="4525963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3F9A1-4737-2CDE-F47B-8B70EF4C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Resultat af </a:t>
            </a:r>
            <a:r>
              <a:rPr lang="da-DK" dirty="0" err="1"/>
              <a:t>Fibonacci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1C2308C-8EED-4FC1-92F1-492847441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Kaldt med parameteren 50 returnerer begge metoder:</a:t>
            </a:r>
          </a:p>
          <a:p>
            <a:pPr marL="0" indent="0" algn="ctr">
              <a:buNone/>
            </a:pPr>
            <a:r>
              <a:rPr lang="da-DK" dirty="0"/>
              <a:t>20,365,011,074 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27958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BB68-D2B6-8B4D-2B15-E33BAC96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Hvem</a:t>
            </a:r>
            <a:r>
              <a:rPr lang="en-US" dirty="0"/>
              <a:t> er </a:t>
            </a:r>
            <a:r>
              <a:rPr lang="en-US" dirty="0" err="1"/>
              <a:t>hurtigst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8F1FB-F58A-0177-4AC9-A8C931763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da-DK" dirty="0"/>
              <a:t>Antal gennemløb for den iterative version:</a:t>
            </a:r>
          </a:p>
          <a:p>
            <a:pPr marL="0" indent="0" algn="ctr">
              <a:buNone/>
            </a:pPr>
            <a:r>
              <a:rPr lang="da-DK" dirty="0"/>
              <a:t>49</a:t>
            </a:r>
          </a:p>
          <a:p>
            <a:pPr marL="0" indent="0">
              <a:buNone/>
            </a:pPr>
            <a:r>
              <a:rPr lang="da-DK" dirty="0"/>
              <a:t>Antal gennemløb for den rekursive version:</a:t>
            </a:r>
          </a:p>
          <a:p>
            <a:pPr marL="0" indent="0" algn="ctr">
              <a:buNone/>
            </a:pPr>
            <a:r>
              <a:rPr lang="da-DK" dirty="0"/>
              <a:t>2,075,316,483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453296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NP-</a:t>
            </a:r>
            <a:r>
              <a:rPr lang="da-DK" dirty="0" err="1"/>
              <a:t>completeness</a:t>
            </a:r>
            <a:br>
              <a:rPr lang="da-DK" dirty="0"/>
            </a:br>
            <a:r>
              <a:rPr lang="da-DK" sz="1800" dirty="0"/>
              <a:t>datalogi når det er mest </a:t>
            </a:r>
            <a:r>
              <a:rPr lang="da-DK" sz="1800" dirty="0" err="1"/>
              <a:t>uforståelgt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a-DK" dirty="0"/>
              <a:t>The halting problem – det er ikke muligt at skrive et program, som kan tjekke, om et hvilket som helst program indeholder en uendelig løkke.</a:t>
            </a:r>
          </a:p>
          <a:p>
            <a:r>
              <a:rPr lang="da-DK" dirty="0"/>
              <a:t>NP betyder </a:t>
            </a:r>
            <a:r>
              <a:rPr lang="da-DK" i="1" dirty="0" err="1"/>
              <a:t>nondeterministic</a:t>
            </a:r>
            <a:r>
              <a:rPr lang="da-DK" dirty="0"/>
              <a:t> </a:t>
            </a:r>
            <a:r>
              <a:rPr lang="da-DK" i="1" dirty="0" err="1"/>
              <a:t>polynomial</a:t>
            </a:r>
            <a:r>
              <a:rPr lang="da-DK" dirty="0"/>
              <a:t> </a:t>
            </a:r>
            <a:r>
              <a:rPr lang="da-DK" i="1" dirty="0"/>
              <a:t>time</a:t>
            </a:r>
            <a:r>
              <a:rPr lang="da-DK" dirty="0"/>
              <a:t>.</a:t>
            </a:r>
          </a:p>
          <a:p>
            <a:r>
              <a:rPr lang="da-DK" dirty="0"/>
              <a:t>Nogle problemer kan ikke løses i </a:t>
            </a:r>
            <a:r>
              <a:rPr lang="da-DK" dirty="0" err="1"/>
              <a:t>polynomiel</a:t>
            </a:r>
            <a:r>
              <a:rPr lang="da-DK" dirty="0"/>
              <a:t> tid, fordi alle muligheder skal undersøges.</a:t>
            </a:r>
          </a:p>
          <a:p>
            <a:r>
              <a:rPr lang="da-DK" dirty="0"/>
              <a:t>Det er muligvis således, at hvis ét </a:t>
            </a:r>
            <a:r>
              <a:rPr lang="da-DK" i="1" dirty="0"/>
              <a:t>tjek-alle-muligheder-</a:t>
            </a:r>
            <a:r>
              <a:rPr lang="da-DK" dirty="0"/>
              <a:t>problem kan reduceres, så kan alle.</a:t>
            </a:r>
          </a:p>
        </p:txBody>
      </p:sp>
    </p:spTree>
    <p:extLst>
      <p:ext uri="{BB962C8B-B14F-4D97-AF65-F5344CB8AC3E}">
        <p14:creationId xmlns:p14="http://schemas.microsoft.com/office/powerpoint/2010/main" val="41519521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116A-FB62-79CB-D3D3-A5BF6C9E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Supplerende</a:t>
            </a:r>
            <a:r>
              <a:rPr lang="en-US" dirty="0"/>
              <a:t> </a:t>
            </a:r>
            <a:r>
              <a:rPr lang="en-US" dirty="0" err="1"/>
              <a:t>læsning</a:t>
            </a:r>
            <a:endParaRPr lang="da-DK" dirty="0"/>
          </a:p>
        </p:txBody>
      </p:sp>
      <p:pic>
        <p:nvPicPr>
          <p:cNvPr id="5" name="Content Placeholder 4" descr="A book cover of a book&#10;&#10;Description automatically generated">
            <a:extLst>
              <a:ext uri="{FF2B5EF4-FFF2-40B4-BE49-F238E27FC236}">
                <a16:creationId xmlns:a16="http://schemas.microsoft.com/office/drawing/2014/main" id="{A7842704-20F7-FFDA-206E-0F7617D0C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276" y="1600200"/>
            <a:ext cx="3041447" cy="4525963"/>
          </a:xfrm>
        </p:spPr>
      </p:pic>
    </p:spTree>
    <p:extLst>
      <p:ext uri="{BB962C8B-B14F-4D97-AF65-F5344CB8AC3E}">
        <p14:creationId xmlns:p14="http://schemas.microsoft.com/office/powerpoint/2010/main" val="108197875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0D79A-717E-A072-9429-F73A66B7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– </a:t>
            </a:r>
            <a:r>
              <a:rPr lang="da-DK"/>
              <a:t>find tidskompleksitet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FAF6C59-D156-0154-ECC1-67CE675DA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long myMethod(long N)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long x = 0; long y = 0;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for (long i = N; i &gt; 0; i=i/4)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	for (long j = 0; j &lt; N; j++)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	{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		for (long k = 0; k &lt; N*N*N; k++)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			x++; k*=k;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		}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	return x; 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20520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13733</TotalTime>
  <Words>432</Words>
  <Application>Microsoft Office PowerPoint</Application>
  <PresentationFormat>Skærmshow (4:3)</PresentationFormat>
  <Paragraphs>58</Paragraphs>
  <Slides>20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Courier New</vt:lpstr>
      <vt:lpstr>Kontortema</vt:lpstr>
      <vt:lpstr>Algoritmer &amp; Datastrkurer  5. december 2025</vt:lpstr>
      <vt:lpstr>Schedulering</vt:lpstr>
      <vt:lpstr>Schedulering</vt:lpstr>
      <vt:lpstr>Totale omkostninger</vt:lpstr>
      <vt:lpstr>Multiprocessor s.</vt:lpstr>
      <vt:lpstr>Multiprocessor s.</vt:lpstr>
      <vt:lpstr>Data kompression</vt:lpstr>
      <vt:lpstr>Huffman 1</vt:lpstr>
      <vt:lpstr>Huffman 2</vt:lpstr>
      <vt:lpstr>Binpacking – optimal 0.2, 0.5, 0.4, 0.7, 0.1, 0.3, 0,8</vt:lpstr>
      <vt:lpstr>Bin packing – next fit 0.2, 0.5, 0.4, 0.7, 0.1, 0.3, 0,8</vt:lpstr>
      <vt:lpstr>Bin packing – first fit 0.2, 0.5, 0.4, 0.7, 0.1, 0.3, 0,8</vt:lpstr>
      <vt:lpstr>Fibonacci-tallene</vt:lpstr>
      <vt:lpstr>Dynamisk programmering</vt:lpstr>
      <vt:lpstr>Dynamisk programmering</vt:lpstr>
      <vt:lpstr>Resultat af Fibonacci</vt:lpstr>
      <vt:lpstr>Hvem er hurtigst?</vt:lpstr>
      <vt:lpstr>NP-completeness datalogi når det er mest uforståelgt</vt:lpstr>
      <vt:lpstr>Supplerende læsning</vt:lpstr>
      <vt:lpstr>Opgave – find tidskompleksitet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VPR/ADA 26. oktober 2011</dc:title>
  <dc:creator>Ole Dolriis</dc:creator>
  <cp:lastModifiedBy>Ole Dolriis</cp:lastModifiedBy>
  <cp:revision>171</cp:revision>
  <dcterms:created xsi:type="dcterms:W3CDTF">2011-11-16T10:33:03Z</dcterms:created>
  <dcterms:modified xsi:type="dcterms:W3CDTF">2025-12-05T10:01:45Z</dcterms:modified>
</cp:coreProperties>
</file>