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9"/>
  </p:handoutMasterIdLst>
  <p:sldIdLst>
    <p:sldId id="309" r:id="rId2"/>
    <p:sldId id="310" r:id="rId3"/>
    <p:sldId id="333" r:id="rId4"/>
    <p:sldId id="312" r:id="rId5"/>
    <p:sldId id="337" r:id="rId6"/>
    <p:sldId id="338" r:id="rId7"/>
    <p:sldId id="314" r:id="rId8"/>
    <p:sldId id="334" r:id="rId9"/>
    <p:sldId id="335" r:id="rId10"/>
    <p:sldId id="336" r:id="rId11"/>
    <p:sldId id="315" r:id="rId12"/>
    <p:sldId id="316" r:id="rId13"/>
    <p:sldId id="342" r:id="rId14"/>
    <p:sldId id="343" r:id="rId15"/>
    <p:sldId id="319" r:id="rId16"/>
    <p:sldId id="331" r:id="rId17"/>
    <p:sldId id="321" r:id="rId18"/>
    <p:sldId id="323" r:id="rId19"/>
    <p:sldId id="322" r:id="rId20"/>
    <p:sldId id="287" r:id="rId21"/>
    <p:sldId id="288" r:id="rId22"/>
    <p:sldId id="301" r:id="rId23"/>
    <p:sldId id="290" r:id="rId24"/>
    <p:sldId id="302" r:id="rId25"/>
    <p:sldId id="303" r:id="rId26"/>
    <p:sldId id="291" r:id="rId27"/>
    <p:sldId id="268" r:id="rId28"/>
    <p:sldId id="340" r:id="rId29"/>
    <p:sldId id="341" r:id="rId30"/>
    <p:sldId id="339" r:id="rId31"/>
    <p:sldId id="292" r:id="rId32"/>
    <p:sldId id="294" r:id="rId33"/>
    <p:sldId id="258" r:id="rId34"/>
    <p:sldId id="296" r:id="rId35"/>
    <p:sldId id="295" r:id="rId36"/>
    <p:sldId id="297" r:id="rId37"/>
    <p:sldId id="307" r:id="rId38"/>
  </p:sldIdLst>
  <p:sldSz cx="9144000" cy="6858000" type="screen4x3"/>
  <p:notesSz cx="6797675" cy="9928225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>
      <p:cViewPr varScale="1">
        <p:scale>
          <a:sx n="66" d="100"/>
          <a:sy n="66" d="100"/>
        </p:scale>
        <p:origin x="1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E549F-61FE-4853-ACBA-54D0CEF3E0E9}" type="datetimeFigureOut">
              <a:rPr lang="da-DK" smtClean="0"/>
              <a:t>07-11-2025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8E98F-B1C5-4C1C-A693-ABB11F2438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4774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dias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typografi i masteren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D423F-81E4-4C73-9585-EDB5AEC6FB09}" type="datetimeFigureOut">
              <a:rPr lang="da-DK" smtClean="0"/>
              <a:pPr/>
              <a:t>07-11-2025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D95A0-E56C-4C97-A2D0-64458444A7A0}" type="slidenum">
              <a:rPr lang="da-DK" smtClean="0"/>
              <a:pPr/>
              <a:t>‹nr.›</a:t>
            </a:fld>
            <a:endParaRPr lang="da-D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Algoritmer &amp; Datastrukturer </a:t>
            </a:r>
            <a:br>
              <a:rPr lang="da-DK" dirty="0"/>
            </a:br>
            <a:r>
              <a:rPr lang="da-DK" dirty="0"/>
              <a:t>7. november 2025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Træer</a:t>
            </a:r>
          </a:p>
          <a:p>
            <a:r>
              <a:rPr lang="da-DK" dirty="0"/>
              <a:t>Weiss, kapitel 4</a:t>
            </a:r>
          </a:p>
        </p:txBody>
      </p:sp>
    </p:spTree>
    <p:extLst>
      <p:ext uri="{BB962C8B-B14F-4D97-AF65-F5344CB8AC3E}">
        <p14:creationId xmlns:p14="http://schemas.microsoft.com/office/powerpoint/2010/main" val="42023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 træer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da-DK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da-DK" sz="3600" dirty="0"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lang="da-DK" sz="3600" i="1" dirty="0">
                <a:latin typeface="Calibri" panose="020F0502020204030204" pitchFamily="34" charset="0"/>
                <a:cs typeface="Calibri" panose="020F0502020204030204" pitchFamily="34" charset="0"/>
              </a:rPr>
              <a:t>Træet </a:t>
            </a:r>
            <a:r>
              <a:rPr lang="da-DK" sz="3600" dirty="0">
                <a:latin typeface="Calibri" panose="020F0502020204030204" pitchFamily="34" charset="0"/>
                <a:cs typeface="Calibri" panose="020F0502020204030204" pitchFamily="34" charset="0"/>
              </a:rPr>
              <a:t>er en fundamental struktur i computer science. Næsten alle operativsystemer lagrer filer i træer eller trælignende strukturer. Træer bruges også i design af compilere, tekstbehandling og søgealgoritmer (og databaser, red.).”</a:t>
            </a:r>
          </a:p>
          <a:p>
            <a:pPr marL="0" indent="0">
              <a:buNone/>
            </a:pPr>
            <a:endParaRPr lang="da-DK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r">
              <a:buNone/>
            </a:pPr>
            <a:r>
              <a:rPr lang="da-DK" sz="2800" dirty="0">
                <a:latin typeface="Calibri" panose="020F0502020204030204" pitchFamily="34" charset="0"/>
                <a:cs typeface="Calibri" panose="020F0502020204030204" pitchFamily="34" charset="0"/>
              </a:rPr>
              <a:t>Mark Allen Weiss</a:t>
            </a:r>
          </a:p>
        </p:txBody>
      </p:sp>
    </p:spTree>
    <p:extLst>
      <p:ext uri="{BB962C8B-B14F-4D97-AF65-F5344CB8AC3E}">
        <p14:creationId xmlns:p14="http://schemas.microsoft.com/office/powerpoint/2010/main" val="161809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5 ordens B-træ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</p:txBody>
      </p:sp>
      <p:pic>
        <p:nvPicPr>
          <p:cNvPr id="4099" name="Picture 3" descr="C:\Dokumenter\Arbejde\E2011\ADA5\Figurer, kapitel 1-6\0321395670_pt1\ch04\ch04gif\fig04_59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71663"/>
            <a:ext cx="9144000" cy="3933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11873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Introduktion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Linkede lister med deres lineære tilgang er ikke brugbare for store datamængder.</a:t>
            </a:r>
          </a:p>
          <a:p>
            <a:r>
              <a:rPr lang="da-DK" dirty="0"/>
              <a:t>Vi har brug for en simpel datastruktur med en </a:t>
            </a:r>
            <a:r>
              <a:rPr lang="da-DK" dirty="0" err="1"/>
              <a:t>access</a:t>
            </a:r>
            <a:r>
              <a:rPr lang="da-DK" dirty="0"/>
              <a:t> tid på O(log N).</a:t>
            </a:r>
          </a:p>
          <a:p>
            <a:r>
              <a:rPr lang="da-DK" dirty="0"/>
              <a:t>En mulighed er det </a:t>
            </a:r>
            <a:r>
              <a:rPr lang="da-DK" b="1" dirty="0"/>
              <a:t>binære søgetræ</a:t>
            </a:r>
            <a:r>
              <a:rPr lang="da-DK" dirty="0"/>
              <a:t>.</a:t>
            </a:r>
          </a:p>
          <a:p>
            <a:r>
              <a:rPr lang="da-DK" dirty="0"/>
              <a:t>Collection klasserne </a:t>
            </a:r>
            <a:r>
              <a:rPr lang="da-DK" i="1" dirty="0"/>
              <a:t>set</a:t>
            </a:r>
            <a:r>
              <a:rPr lang="da-DK" dirty="0"/>
              <a:t> og </a:t>
            </a:r>
            <a:r>
              <a:rPr lang="da-DK" i="1" dirty="0" err="1"/>
              <a:t>map</a:t>
            </a:r>
            <a:r>
              <a:rPr lang="da-DK" dirty="0"/>
              <a:t> baserer sig på træer.</a:t>
            </a:r>
          </a:p>
        </p:txBody>
      </p:sp>
    </p:spTree>
    <p:extLst>
      <p:ext uri="{BB962C8B-B14F-4D97-AF65-F5344CB8AC3E}">
        <p14:creationId xmlns:p14="http://schemas.microsoft.com/office/powerpoint/2010/main" val="288647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44862-626C-4AF3-9D51-12E67153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da-DK" dirty="0"/>
              <a:t>Eksempel på et binært træ</a:t>
            </a:r>
          </a:p>
        </p:txBody>
      </p:sp>
      <p:pic>
        <p:nvPicPr>
          <p:cNvPr id="4" name="Picture 2" descr="C:\Dokumenter\Arbejde\E2011\ADA5\Figurer, kapitel 1-6\0321395670_pt1\ch06\ch06gif\fig06_02.gif">
            <a:extLst>
              <a:ext uri="{FF2B5EF4-FFF2-40B4-BE49-F238E27FC236}">
                <a16:creationId xmlns:a16="http://schemas.microsoft.com/office/drawing/2014/main" id="{11DDEDB3-2A9C-4768-AADB-4CDCA2B875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4912" y="1805781"/>
            <a:ext cx="6734175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4220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Begreber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Dybde (</a:t>
            </a:r>
            <a:r>
              <a:rPr lang="da-DK" dirty="0" err="1"/>
              <a:t>depth</a:t>
            </a:r>
            <a:r>
              <a:rPr lang="da-DK" dirty="0"/>
              <a:t>) – afstand fra node til rod (</a:t>
            </a:r>
            <a:r>
              <a:rPr lang="da-DK" dirty="0" err="1"/>
              <a:t>root</a:t>
            </a:r>
            <a:r>
              <a:rPr lang="da-DK" dirty="0"/>
              <a:t>).</a:t>
            </a:r>
          </a:p>
          <a:p>
            <a:r>
              <a:rPr lang="da-DK" dirty="0"/>
              <a:t>Højde (</a:t>
            </a:r>
            <a:r>
              <a:rPr lang="da-DK" dirty="0" err="1"/>
              <a:t>height</a:t>
            </a:r>
            <a:r>
              <a:rPr lang="da-DK" dirty="0"/>
              <a:t>) – længste distance fra node til blad (</a:t>
            </a:r>
            <a:r>
              <a:rPr lang="da-DK" dirty="0" err="1"/>
              <a:t>leaf</a:t>
            </a:r>
            <a:r>
              <a:rPr lang="da-DK" dirty="0"/>
              <a:t>).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7610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5F5AFD-6C52-4940-B5A3-10327B38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Binære træer kan være…..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0C685-87C7-4904-9D71-5B0D0E72C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Komplette</a:t>
            </a:r>
          </a:p>
          <a:p>
            <a:r>
              <a:rPr lang="da-DK" dirty="0"/>
              <a:t>Perfekte</a:t>
            </a:r>
          </a:p>
          <a:p>
            <a:r>
              <a:rPr lang="da-DK" dirty="0"/>
              <a:t>Balancerede</a:t>
            </a:r>
          </a:p>
        </p:txBody>
      </p:sp>
    </p:spTree>
    <p:extLst>
      <p:ext uri="{BB962C8B-B14F-4D97-AF65-F5344CB8AC3E}">
        <p14:creationId xmlns:p14="http://schemas.microsoft.com/office/powerpoint/2010/main" val="839817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980067-5A9A-93F4-AC2E-3E3CADCC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Komplet binært træ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D7946BC-EE79-8332-3758-AF2CF72C0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 algn="ctr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endParaRPr lang="da-DK" sz="2400" dirty="0"/>
          </a:p>
          <a:p>
            <a:pPr marL="0" indent="0" algn="ctr">
              <a:buNone/>
            </a:pPr>
            <a:r>
              <a:rPr lang="da-DK" sz="2400" dirty="0"/>
              <a:t>Alle niveauer er fyldt op fra venstre mod højre.</a:t>
            </a:r>
          </a:p>
          <a:p>
            <a:pPr marL="0" indent="0" algn="ctr">
              <a:buNone/>
            </a:pPr>
            <a:r>
              <a:rPr lang="da-DK" sz="2400" dirty="0"/>
              <a:t>Hvis node 6 fjernes, er træet ikke længere komplet.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D3A433FA-2756-396B-7766-D91753D331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417638"/>
            <a:ext cx="6696744" cy="36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86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E7058E-9BC5-0ED9-42D7-05535807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Perfekt binært træ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D11CDA-A6F5-8EE2-F737-5D9FBC1BC1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da-DK" dirty="0"/>
              </a:p>
              <a:p>
                <a:pPr marL="0" indent="0" algn="ctr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 algn="ctr">
                  <a:buNone/>
                </a:pPr>
                <a:r>
                  <a:rPr lang="da-DK" dirty="0"/>
                  <a:t>Alle niveauer er fyldt fra venstre til højre.</a:t>
                </a:r>
              </a:p>
              <a:p>
                <a:pPr marL="0" indent="0" algn="ctr">
                  <a:buNone/>
                </a:pPr>
                <a:r>
                  <a:rPr lang="da-DK" dirty="0"/>
                  <a:t>Antal noder 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r>
                  <a:rPr lang="da-DK" dirty="0"/>
                  <a:t> - 1</a:t>
                </a:r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D11CDA-A6F5-8EE2-F737-5D9FBC1BC1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lede 4">
            <a:extLst>
              <a:ext uri="{FF2B5EF4-FFF2-40B4-BE49-F238E27FC236}">
                <a16:creationId xmlns:a16="http://schemas.microsoft.com/office/drawing/2014/main" id="{08A5C999-9A33-B101-E8F3-501BF803C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933575"/>
            <a:ext cx="65532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5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285E1D-7536-46D5-2666-67A9A8E6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Balanceret binært træ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CD4714A-32F0-0B35-1508-F8F5F3CAC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Højdeforskellen mellem subtræer må ikke være større end 1 (en).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1A70B33C-94B7-199A-DC3F-31DA403D3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1663034"/>
            <a:ext cx="6277123" cy="309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21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TreeNode</a:t>
            </a:r>
            <a:r>
              <a:rPr lang="da-DK" dirty="0"/>
              <a:t> i et ikke-binært træ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	class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TreeNode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Object   element;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TreeNode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firstChild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TreeNode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nextSibling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endParaRPr lang="da-DK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230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pPr algn="l"/>
            <a:r>
              <a:rPr lang="da-DK" i="1" dirty="0"/>
              <a:t>n-</a:t>
            </a:r>
            <a:r>
              <a:rPr lang="da-DK" i="1" dirty="0" err="1"/>
              <a:t>ary</a:t>
            </a:r>
            <a:r>
              <a:rPr lang="da-DK" dirty="0"/>
              <a:t> </a:t>
            </a:r>
            <a:r>
              <a:rPr lang="da-DK" dirty="0" err="1"/>
              <a:t>trees</a:t>
            </a:r>
            <a:endParaRPr lang="da-DK" dirty="0"/>
          </a:p>
        </p:txBody>
      </p:sp>
      <p:pic>
        <p:nvPicPr>
          <p:cNvPr id="1026" name="Picture 2" descr="C:\Dokumenter\Arbejde\E2011\ADA5\Figurer, kapitel 1-6\0321395670_pt1\ch04\ch04gif\fig04_0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052736"/>
            <a:ext cx="8229600" cy="2564417"/>
          </a:xfrm>
          <a:prstGeom prst="rect">
            <a:avLst/>
          </a:prstGeom>
          <a:noFill/>
        </p:spPr>
      </p:pic>
      <p:pic>
        <p:nvPicPr>
          <p:cNvPr id="1027" name="Picture 3" descr="C:\Dokumenter\Arbejde\E2011\ADA5\Figurer, kapitel 1-6\0321395670_pt1\ch04\ch04gif\fig04_04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789040"/>
            <a:ext cx="9144000" cy="291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18147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45E62-FB30-D287-63A3-F5ED8D81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Hvad kan </a:t>
            </a:r>
            <a:r>
              <a:rPr lang="da-DK" i="1" dirty="0"/>
              <a:t>n-</a:t>
            </a:r>
            <a:r>
              <a:rPr lang="da-DK" i="1" dirty="0" err="1"/>
              <a:t>ary</a:t>
            </a:r>
            <a:r>
              <a:rPr lang="da-DK" i="1" dirty="0"/>
              <a:t> </a:t>
            </a:r>
            <a:r>
              <a:rPr lang="da-DK" dirty="0" err="1"/>
              <a:t>trees</a:t>
            </a:r>
            <a:r>
              <a:rPr lang="da-DK" dirty="0"/>
              <a:t> bruges til?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028FDA7-EFA2-A2E9-77DF-1185A5D9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7704" y="1628800"/>
            <a:ext cx="7056784" cy="4525963"/>
          </a:xfrm>
        </p:spPr>
        <p:txBody>
          <a:bodyPr/>
          <a:lstStyle/>
          <a:p>
            <a:r>
              <a:rPr lang="da-DK" dirty="0"/>
              <a:t>Filsystemer</a:t>
            </a:r>
          </a:p>
          <a:p>
            <a:r>
              <a:rPr lang="da-DK" dirty="0"/>
              <a:t>XML/HTML </a:t>
            </a:r>
            <a:r>
              <a:rPr lang="da-DK" dirty="0" err="1"/>
              <a:t>document</a:t>
            </a:r>
            <a:r>
              <a:rPr lang="da-DK" dirty="0"/>
              <a:t> </a:t>
            </a:r>
            <a:r>
              <a:rPr lang="da-DK" dirty="0" err="1"/>
              <a:t>trees</a:t>
            </a:r>
            <a:endParaRPr lang="da-DK" dirty="0"/>
          </a:p>
          <a:p>
            <a:r>
              <a:rPr lang="da-DK" dirty="0"/>
              <a:t>Compiler </a:t>
            </a:r>
            <a:r>
              <a:rPr lang="da-DK" dirty="0" err="1"/>
              <a:t>syntax</a:t>
            </a:r>
            <a:r>
              <a:rPr lang="da-DK" dirty="0"/>
              <a:t> </a:t>
            </a:r>
            <a:r>
              <a:rPr lang="da-DK" dirty="0" err="1"/>
              <a:t>trees</a:t>
            </a:r>
            <a:endParaRPr lang="da-DK" dirty="0"/>
          </a:p>
          <a:p>
            <a:r>
              <a:rPr lang="da-DK" dirty="0"/>
              <a:t>AI/Game </a:t>
            </a:r>
            <a:r>
              <a:rPr lang="da-DK" dirty="0" err="1"/>
              <a:t>trees</a:t>
            </a:r>
            <a:endParaRPr lang="da-DK" dirty="0"/>
          </a:p>
          <a:p>
            <a:r>
              <a:rPr lang="da-DK" dirty="0"/>
              <a:t>Indlejrede systemer (for at spare plads)</a:t>
            </a:r>
          </a:p>
        </p:txBody>
      </p:sp>
    </p:spTree>
    <p:extLst>
      <p:ext uri="{BB962C8B-B14F-4D97-AF65-F5344CB8AC3E}">
        <p14:creationId xmlns:p14="http://schemas.microsoft.com/office/powerpoint/2010/main" val="1229259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40B7FE-23A9-661B-9FEA-FA938D55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r>
              <a:rPr lang="da-DK" dirty="0"/>
              <a:t>Compiler </a:t>
            </a:r>
            <a:r>
              <a:rPr lang="da-DK" dirty="0" err="1"/>
              <a:t>syntax</a:t>
            </a:r>
            <a:r>
              <a:rPr lang="da-DK" dirty="0"/>
              <a:t> </a:t>
            </a:r>
            <a:r>
              <a:rPr lang="da-DK" dirty="0" err="1"/>
              <a:t>tree</a:t>
            </a:r>
            <a:endParaRPr lang="da-DK" dirty="0"/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E966F0A6-8936-CF61-493D-76ED77D76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6096" y="1600200"/>
            <a:ext cx="4011808" cy="4525963"/>
          </a:xfrm>
        </p:spPr>
      </p:pic>
    </p:spTree>
    <p:extLst>
      <p:ext uri="{BB962C8B-B14F-4D97-AF65-F5344CB8AC3E}">
        <p14:creationId xmlns:p14="http://schemas.microsoft.com/office/powerpoint/2010/main" val="2158513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dirty="0" err="1"/>
              <a:t>Tree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 class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BinaryNode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	 Object     element;      // The data in the node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left;         // Left child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right;        // Right child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da-DK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229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36E91-D32F-FAF8-9E2F-FCB0DDF0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Binære træer og binære søgetræer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262B52B-03BB-BCA7-23DE-823679A5A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Et binært træ er et træ, hvor hver node kan have 0, 1 eller 2 børn.</a:t>
            </a:r>
          </a:p>
          <a:p>
            <a:r>
              <a:rPr lang="da-DK" dirty="0"/>
              <a:t>Et binært søgetræ er et træ, hvor for enhver node, alle noder i det venstre </a:t>
            </a:r>
            <a:r>
              <a:rPr lang="da-DK" dirty="0" err="1"/>
              <a:t>subtræ</a:t>
            </a:r>
            <a:r>
              <a:rPr lang="da-DK" dirty="0"/>
              <a:t> er mindre end noden, og alle noder i det højre </a:t>
            </a:r>
            <a:r>
              <a:rPr lang="da-DK" dirty="0" err="1"/>
              <a:t>subtræ</a:t>
            </a:r>
            <a:r>
              <a:rPr lang="da-DK" dirty="0"/>
              <a:t> er større, dvs. </a:t>
            </a:r>
            <a:r>
              <a:rPr lang="da-DK" b="1" dirty="0"/>
              <a:t>ingen</a:t>
            </a:r>
            <a:r>
              <a:rPr lang="da-DK" dirty="0"/>
              <a:t> dubletter.</a:t>
            </a:r>
          </a:p>
        </p:txBody>
      </p:sp>
    </p:spTree>
    <p:extLst>
      <p:ext uri="{BB962C8B-B14F-4D97-AF65-F5344CB8AC3E}">
        <p14:creationId xmlns:p14="http://schemas.microsoft.com/office/powerpoint/2010/main" val="1966089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Binære søgetræer og binære træer</a:t>
            </a:r>
          </a:p>
        </p:txBody>
      </p:sp>
      <p:pic>
        <p:nvPicPr>
          <p:cNvPr id="5122" name="Picture 2" descr="C:\Dokumenter\Arbejde\E2011\ADA5\Figurer, kapitel 1-6\0321395670_pt1\ch04\ch04gif\fig04_15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95438"/>
            <a:ext cx="8229600" cy="313548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3019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Om kodeeksempler 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 skal ikke nødvendigvis kunne forklare alle kodeeksempler i </a:t>
            </a:r>
            <a:r>
              <a:rPr lang="da-DK" dirty="0" err="1"/>
              <a:t>pp</a:t>
            </a:r>
            <a:r>
              <a:rPr lang="da-DK" dirty="0"/>
              <a:t>-præsentationerne ned til mindste detalje.</a:t>
            </a:r>
          </a:p>
          <a:p>
            <a:pPr marL="0" indent="0">
              <a:buNone/>
            </a:pPr>
            <a:r>
              <a:rPr lang="da-DK" dirty="0"/>
              <a:t>Til eksamen vil I ikke blive bedt om at skrive klasser med sofistikerede </a:t>
            </a:r>
            <a:r>
              <a:rPr lang="da-DK" dirty="0" err="1"/>
              <a:t>constructors</a:t>
            </a:r>
            <a:r>
              <a:rPr lang="da-DK" dirty="0"/>
              <a:t> med anvendelse af dobbelte referencer, kompleks </a:t>
            </a:r>
            <a:r>
              <a:rPr lang="da-DK" dirty="0" err="1"/>
              <a:t>rekursion</a:t>
            </a:r>
            <a:r>
              <a:rPr lang="da-DK" dirty="0"/>
              <a:t> og andre vidtløftige fænomener.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68855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Binært søgetræ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547664" y="2185353"/>
            <a:ext cx="7067128" cy="47085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BinarySearchTree</a:t>
            </a:r>
            <a:r>
              <a:rPr lang="da-DK" sz="1400" dirty="0">
                <a:latin typeface="Courier" pitchFamily="49" charset="0"/>
              </a:rPr>
              <a:t> class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******************PUBLIC OPERATIONS*********************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void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insert</a:t>
            </a:r>
            <a:r>
              <a:rPr lang="da-DK" sz="1400" dirty="0">
                <a:latin typeface="Courier" pitchFamily="49" charset="0"/>
              </a:rPr>
              <a:t>( x )       --&gt; </a:t>
            </a:r>
            <a:r>
              <a:rPr lang="da-DK" sz="1400" dirty="0" err="1">
                <a:latin typeface="Courier" pitchFamily="49" charset="0"/>
              </a:rPr>
              <a:t>Insert</a:t>
            </a:r>
            <a:r>
              <a:rPr lang="da-DK" sz="1400" dirty="0">
                <a:latin typeface="Courier" pitchFamily="49" charset="0"/>
              </a:rPr>
              <a:t> x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void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remove</a:t>
            </a:r>
            <a:r>
              <a:rPr lang="da-DK" sz="1400" dirty="0">
                <a:latin typeface="Courier" pitchFamily="49" charset="0"/>
              </a:rPr>
              <a:t>( x )       --&gt; </a:t>
            </a:r>
            <a:r>
              <a:rPr lang="da-DK" sz="1400" dirty="0" err="1">
                <a:latin typeface="Courier" pitchFamily="49" charset="0"/>
              </a:rPr>
              <a:t>Remove</a:t>
            </a:r>
            <a:r>
              <a:rPr lang="da-DK" sz="1400" dirty="0">
                <a:latin typeface="Courier" pitchFamily="49" charset="0"/>
              </a:rPr>
              <a:t> x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boolean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contains</a:t>
            </a:r>
            <a:r>
              <a:rPr lang="da-DK" sz="1400" dirty="0">
                <a:latin typeface="Courier" pitchFamily="49" charset="0"/>
              </a:rPr>
              <a:t>( x )  --&gt; Return true </a:t>
            </a:r>
            <a:r>
              <a:rPr lang="da-DK" sz="1400" dirty="0" err="1">
                <a:latin typeface="Courier" pitchFamily="49" charset="0"/>
              </a:rPr>
              <a:t>if</a:t>
            </a:r>
            <a:r>
              <a:rPr lang="da-DK" sz="1400" dirty="0">
                <a:latin typeface="Courier" pitchFamily="49" charset="0"/>
              </a:rPr>
              <a:t> x is present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Comparable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findMin</a:t>
            </a:r>
            <a:r>
              <a:rPr lang="da-DK" sz="1400" dirty="0">
                <a:latin typeface="Courier" pitchFamily="49" charset="0"/>
              </a:rPr>
              <a:t>( )  --&gt; Return smallest item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Comparable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findMax</a:t>
            </a:r>
            <a:r>
              <a:rPr lang="da-DK" sz="1400" dirty="0">
                <a:latin typeface="Courier" pitchFamily="49" charset="0"/>
              </a:rPr>
              <a:t>( )  --&gt; Return </a:t>
            </a:r>
            <a:r>
              <a:rPr lang="da-DK" sz="1400" dirty="0" err="1">
                <a:latin typeface="Courier" pitchFamily="49" charset="0"/>
              </a:rPr>
              <a:t>largest</a:t>
            </a:r>
            <a:r>
              <a:rPr lang="da-DK" sz="1400" dirty="0">
                <a:latin typeface="Courier" pitchFamily="49" charset="0"/>
              </a:rPr>
              <a:t> item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boolean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isEmpty</a:t>
            </a:r>
            <a:r>
              <a:rPr lang="da-DK" sz="1400" dirty="0">
                <a:latin typeface="Courier" pitchFamily="49" charset="0"/>
              </a:rPr>
              <a:t>( )     --&gt; Return true </a:t>
            </a:r>
            <a:r>
              <a:rPr lang="da-DK" sz="1400" dirty="0" err="1">
                <a:latin typeface="Courier" pitchFamily="49" charset="0"/>
              </a:rPr>
              <a:t>if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empty</a:t>
            </a:r>
            <a:r>
              <a:rPr lang="da-DK" sz="1400" dirty="0">
                <a:latin typeface="Courier" pitchFamily="49" charset="0"/>
              </a:rPr>
              <a:t>; </a:t>
            </a:r>
            <a:r>
              <a:rPr lang="da-DK" sz="1400" dirty="0" err="1">
                <a:latin typeface="Courier" pitchFamily="49" charset="0"/>
              </a:rPr>
              <a:t>else</a:t>
            </a:r>
            <a:r>
              <a:rPr lang="da-DK" sz="1400" dirty="0">
                <a:latin typeface="Courier" pitchFamily="49" charset="0"/>
              </a:rPr>
              <a:t> false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void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makeEmpty</a:t>
            </a:r>
            <a:r>
              <a:rPr lang="da-DK" sz="1400" dirty="0">
                <a:latin typeface="Courier" pitchFamily="49" charset="0"/>
              </a:rPr>
              <a:t>( )      --&gt; </a:t>
            </a:r>
            <a:r>
              <a:rPr lang="da-DK" sz="1400" dirty="0" err="1">
                <a:latin typeface="Courier" pitchFamily="49" charset="0"/>
              </a:rPr>
              <a:t>Remove</a:t>
            </a:r>
            <a:r>
              <a:rPr lang="da-DK" sz="1400" dirty="0">
                <a:latin typeface="Courier" pitchFamily="49" charset="0"/>
              </a:rPr>
              <a:t> all items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// </a:t>
            </a:r>
            <a:r>
              <a:rPr lang="da-DK" sz="1400" dirty="0" err="1">
                <a:latin typeface="Courier" pitchFamily="49" charset="0"/>
              </a:rPr>
              <a:t>void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printTree</a:t>
            </a:r>
            <a:r>
              <a:rPr lang="da-DK" sz="1400" dirty="0">
                <a:latin typeface="Courier" pitchFamily="49" charset="0"/>
              </a:rPr>
              <a:t>( )      --&gt; Print </a:t>
            </a:r>
            <a:r>
              <a:rPr lang="da-DK" sz="1400" dirty="0" err="1">
                <a:latin typeface="Courier" pitchFamily="49" charset="0"/>
              </a:rPr>
              <a:t>tree</a:t>
            </a:r>
            <a:r>
              <a:rPr lang="da-DK" sz="1400" dirty="0">
                <a:latin typeface="Courier" pitchFamily="49" charset="0"/>
              </a:rPr>
              <a:t> in </a:t>
            </a:r>
            <a:r>
              <a:rPr lang="da-DK" sz="1400" dirty="0" err="1">
                <a:latin typeface="Courier" pitchFamily="49" charset="0"/>
              </a:rPr>
              <a:t>sorted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order</a:t>
            </a:r>
            <a:endParaRPr lang="da-DK" sz="1400" dirty="0">
              <a:latin typeface="Courier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352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Binært søgetræ - Node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private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class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BinaryNode</a:t>
            </a:r>
            <a:endParaRPr lang="da-DK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		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element;       // The data in the node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left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;   //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Left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child</a:t>
            </a:r>
            <a:endParaRPr lang="da-DK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right;  // Right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child</a:t>
            </a:r>
            <a:endParaRPr lang="da-DK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		//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Constructors</a:t>
            </a:r>
            <a:endParaRPr lang="da-DK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theElement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  {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this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theElement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null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null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); }</a:t>
            </a:r>
          </a:p>
          <a:p>
            <a:pPr>
              <a:buNone/>
            </a:pPr>
            <a:endParaRPr lang="da-DK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theElement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lt, 					         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rt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          { element  =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theElement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;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left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lt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; right = </a:t>
            </a:r>
            <a:r>
              <a:rPr lang="da-DK" sz="1600" dirty="0" err="1">
                <a:latin typeface="Courier New" pitchFamily="49" charset="0"/>
                <a:cs typeface="Courier New" pitchFamily="49" charset="0"/>
              </a:rPr>
              <a:t>rt</a:t>
            </a:r>
            <a:r>
              <a:rPr lang="da-DK" sz="1600" dirty="0">
                <a:latin typeface="Courier New" pitchFamily="49" charset="0"/>
                <a:cs typeface="Courier New" pitchFamily="49" charset="0"/>
              </a:rPr>
              <a:t>; }</a:t>
            </a:r>
          </a:p>
          <a:p>
            <a:pPr>
              <a:buNone/>
            </a:pPr>
            <a:endParaRPr lang="da-DK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a-DK" sz="16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508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contains</a:t>
            </a:r>
            <a:endParaRPr lang="da-DK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  /**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* Internal method to find an item in a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subtree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*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x is item to search for.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* @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t the node that roots the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subtree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* @return node containing the matched item.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private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contains( int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BinaryNode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t )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if( t == null )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false;</a:t>
            </a:r>
          </a:p>
          <a:p>
            <a:pPr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if( x &lt;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t.element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contains(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t.left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else 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	     if( x &gt;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t.element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contains( x,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t.right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);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else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        return true;    // Match</a:t>
            </a:r>
          </a:p>
          <a:p>
            <a:pPr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endParaRPr lang="da-DK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839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latin typeface="Courier New" panose="02070309020205020404" pitchFamily="49" charset="0"/>
                <a:cs typeface="Courier New" panose="02070309020205020404" pitchFamily="49" charset="0"/>
              </a:rPr>
              <a:t>findMin, findMax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BinaryNode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findMin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BinaryNode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t )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 t ==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t.left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t;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findMin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t.left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endParaRPr lang="da-D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BinaryNode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findMax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BinaryNode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t )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 t !=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t.right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t =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t.right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da-DK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t;</a:t>
            </a:r>
          </a:p>
          <a:p>
            <a:pPr marL="0" indent="0">
              <a:buNone/>
            </a:pP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783734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latin typeface="Courier" pitchFamily="49" charset="0"/>
              </a:rPr>
              <a:t>insert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private </a:t>
            </a:r>
            <a:r>
              <a:rPr lang="da-DK" sz="1800" dirty="0" err="1">
                <a:latin typeface="Courier" pitchFamily="49" charset="0"/>
              </a:rPr>
              <a:t>BinaryNode</a:t>
            </a:r>
            <a:r>
              <a:rPr lang="da-DK" sz="1800" dirty="0">
                <a:latin typeface="Courier" pitchFamily="49" charset="0"/>
              </a:rPr>
              <a:t> </a:t>
            </a:r>
            <a:r>
              <a:rPr lang="da-DK" sz="1800" dirty="0" err="1">
                <a:latin typeface="Courier" pitchFamily="49" charset="0"/>
              </a:rPr>
              <a:t>insert</a:t>
            </a:r>
            <a:r>
              <a:rPr lang="da-DK" sz="1800" dirty="0">
                <a:latin typeface="Courier" pitchFamily="49" charset="0"/>
              </a:rPr>
              <a:t>( </a:t>
            </a:r>
            <a:r>
              <a:rPr lang="da-DK" sz="1800" dirty="0" err="1">
                <a:latin typeface="Courier" pitchFamily="49" charset="0"/>
              </a:rPr>
              <a:t>int</a:t>
            </a:r>
            <a:r>
              <a:rPr lang="da-DK" sz="1800" dirty="0">
                <a:latin typeface="Courier" pitchFamily="49" charset="0"/>
              </a:rPr>
              <a:t> x, 						  </a:t>
            </a:r>
            <a:r>
              <a:rPr lang="da-DK" sz="1800" dirty="0" err="1">
                <a:latin typeface="Courier" pitchFamily="49" charset="0"/>
              </a:rPr>
              <a:t>BinaryNode</a:t>
            </a:r>
            <a:r>
              <a:rPr lang="da-DK" sz="1800" dirty="0">
                <a:latin typeface="Courier" pitchFamily="49" charset="0"/>
              </a:rPr>
              <a:t> t )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{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  <a:r>
              <a:rPr lang="da-DK" sz="1800" dirty="0" err="1">
                <a:latin typeface="Courier" pitchFamily="49" charset="0"/>
              </a:rPr>
              <a:t>if</a:t>
            </a:r>
            <a:r>
              <a:rPr lang="da-DK" sz="1800" dirty="0">
                <a:latin typeface="Courier" pitchFamily="49" charset="0"/>
              </a:rPr>
              <a:t>( t == </a:t>
            </a:r>
            <a:r>
              <a:rPr lang="da-DK" sz="1800" dirty="0" err="1">
                <a:latin typeface="Courier" pitchFamily="49" charset="0"/>
              </a:rPr>
              <a:t>null</a:t>
            </a:r>
            <a:r>
              <a:rPr lang="da-DK" sz="1800" dirty="0">
                <a:latin typeface="Courier" pitchFamily="49" charset="0"/>
              </a:rPr>
              <a:t> )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    return new </a:t>
            </a:r>
            <a:r>
              <a:rPr lang="da-DK" sz="1800" dirty="0" err="1">
                <a:latin typeface="Courier" pitchFamily="49" charset="0"/>
              </a:rPr>
              <a:t>BinaryNode</a:t>
            </a:r>
            <a:r>
              <a:rPr lang="da-DK" sz="1800" dirty="0">
                <a:latin typeface="Courier" pitchFamily="49" charset="0"/>
              </a:rPr>
              <a:t>( x, </a:t>
            </a:r>
            <a:r>
              <a:rPr lang="da-DK" sz="1800" dirty="0" err="1">
                <a:latin typeface="Courier" pitchFamily="49" charset="0"/>
              </a:rPr>
              <a:t>null</a:t>
            </a:r>
            <a:r>
              <a:rPr lang="da-DK" sz="1800" dirty="0">
                <a:latin typeface="Courier" pitchFamily="49" charset="0"/>
              </a:rPr>
              <a:t>, </a:t>
            </a:r>
            <a:r>
              <a:rPr lang="da-DK" sz="1800" dirty="0" err="1">
                <a:latin typeface="Courier" pitchFamily="49" charset="0"/>
              </a:rPr>
              <a:t>null</a:t>
            </a:r>
            <a:r>
              <a:rPr lang="da-DK" sz="18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	 </a:t>
            </a:r>
            <a:r>
              <a:rPr lang="da-DK" sz="1800" dirty="0" err="1">
                <a:latin typeface="Courier" pitchFamily="49" charset="0"/>
              </a:rPr>
              <a:t>if</a:t>
            </a:r>
            <a:r>
              <a:rPr lang="da-DK" sz="1800" dirty="0">
                <a:latin typeface="Courier" pitchFamily="49" charset="0"/>
              </a:rPr>
              <a:t>( x &lt; </a:t>
            </a:r>
            <a:r>
              <a:rPr lang="da-DK" sz="1800" dirty="0" err="1">
                <a:latin typeface="Courier" pitchFamily="49" charset="0"/>
              </a:rPr>
              <a:t>t.element</a:t>
            </a:r>
            <a:r>
              <a:rPr lang="da-DK" sz="1800" dirty="0">
                <a:latin typeface="Courier" pitchFamily="49" charset="0"/>
              </a:rPr>
              <a:t> )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    </a:t>
            </a:r>
            <a:r>
              <a:rPr lang="da-DK" sz="1800" dirty="0" err="1">
                <a:latin typeface="Courier" pitchFamily="49" charset="0"/>
              </a:rPr>
              <a:t>t.left</a:t>
            </a:r>
            <a:r>
              <a:rPr lang="da-DK" sz="1800" dirty="0">
                <a:latin typeface="Courier" pitchFamily="49" charset="0"/>
              </a:rPr>
              <a:t> = </a:t>
            </a:r>
            <a:r>
              <a:rPr lang="da-DK" sz="1800" dirty="0" err="1">
                <a:latin typeface="Courier" pitchFamily="49" charset="0"/>
              </a:rPr>
              <a:t>insert</a:t>
            </a:r>
            <a:r>
              <a:rPr lang="da-DK" sz="1800" dirty="0">
                <a:latin typeface="Courier" pitchFamily="49" charset="0"/>
              </a:rPr>
              <a:t>( x, </a:t>
            </a:r>
            <a:r>
              <a:rPr lang="da-DK" sz="1800" dirty="0" err="1">
                <a:latin typeface="Courier" pitchFamily="49" charset="0"/>
              </a:rPr>
              <a:t>t.left</a:t>
            </a:r>
            <a:r>
              <a:rPr lang="da-DK" sz="18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  <a:r>
              <a:rPr lang="da-DK" sz="1800" dirty="0" err="1">
                <a:latin typeface="Courier" pitchFamily="49" charset="0"/>
              </a:rPr>
              <a:t>else</a:t>
            </a:r>
            <a:r>
              <a:rPr lang="da-DK" sz="1800" dirty="0">
                <a:latin typeface="Courier" pitchFamily="49" charset="0"/>
              </a:rPr>
              <a:t> 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	 </a:t>
            </a:r>
            <a:r>
              <a:rPr lang="da-DK" sz="1800" dirty="0" err="1">
                <a:latin typeface="Courier" pitchFamily="49" charset="0"/>
              </a:rPr>
              <a:t>if</a:t>
            </a:r>
            <a:r>
              <a:rPr lang="da-DK" sz="1800" dirty="0">
                <a:latin typeface="Courier" pitchFamily="49" charset="0"/>
              </a:rPr>
              <a:t>( x &gt; 0 )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    </a:t>
            </a:r>
            <a:r>
              <a:rPr lang="da-DK" sz="1800" dirty="0" err="1">
                <a:latin typeface="Courier" pitchFamily="49" charset="0"/>
              </a:rPr>
              <a:t>t.right</a:t>
            </a:r>
            <a:r>
              <a:rPr lang="da-DK" sz="1800" dirty="0">
                <a:latin typeface="Courier" pitchFamily="49" charset="0"/>
              </a:rPr>
              <a:t> = </a:t>
            </a:r>
            <a:r>
              <a:rPr lang="da-DK" sz="1800" dirty="0" err="1">
                <a:latin typeface="Courier" pitchFamily="49" charset="0"/>
              </a:rPr>
              <a:t>insert</a:t>
            </a:r>
            <a:r>
              <a:rPr lang="da-DK" sz="1800" dirty="0">
                <a:latin typeface="Courier" pitchFamily="49" charset="0"/>
              </a:rPr>
              <a:t>( x, </a:t>
            </a:r>
            <a:r>
              <a:rPr lang="da-DK" sz="1800" dirty="0" err="1">
                <a:latin typeface="Courier" pitchFamily="49" charset="0"/>
              </a:rPr>
              <a:t>t.right</a:t>
            </a:r>
            <a:r>
              <a:rPr lang="da-DK" sz="18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</a:t>
            </a:r>
            <a:r>
              <a:rPr lang="da-DK" sz="1800" dirty="0" err="1">
                <a:latin typeface="Courier" pitchFamily="49" charset="0"/>
              </a:rPr>
              <a:t>else</a:t>
            </a:r>
            <a:endParaRPr lang="da-DK" sz="18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    ;  // </a:t>
            </a:r>
            <a:r>
              <a:rPr lang="da-DK" sz="1800" dirty="0" err="1">
                <a:latin typeface="Courier" pitchFamily="49" charset="0"/>
              </a:rPr>
              <a:t>Duplicate</a:t>
            </a:r>
            <a:r>
              <a:rPr lang="da-DK" sz="1800" dirty="0">
                <a:latin typeface="Courier" pitchFamily="49" charset="0"/>
              </a:rPr>
              <a:t>; do </a:t>
            </a:r>
            <a:r>
              <a:rPr lang="da-DK" sz="1800" dirty="0" err="1">
                <a:latin typeface="Courier" pitchFamily="49" charset="0"/>
              </a:rPr>
              <a:t>nothing</a:t>
            </a:r>
            <a:endParaRPr lang="da-DK" sz="18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        return t;</a:t>
            </a:r>
          </a:p>
          <a:p>
            <a:pPr marL="0" indent="0">
              <a:buNone/>
            </a:pPr>
            <a:r>
              <a:rPr lang="da-DK" sz="1800" dirty="0">
                <a:latin typeface="Courier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04326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latin typeface="Courier New" panose="02070309020205020404" pitchFamily="49" charset="0"/>
                <a:cs typeface="Courier New" panose="02070309020205020404" pitchFamily="49" charset="0"/>
              </a:rPr>
              <a:t>remove(4)</a:t>
            </a:r>
          </a:p>
        </p:txBody>
      </p:sp>
      <p:pic>
        <p:nvPicPr>
          <p:cNvPr id="1026" name="Picture 2" descr="C:\Users\Administrator\Documents\Arbejde\2013-2\ADA5\Figurer, kapitel 1-6\0321395670_pt1\ch04\ch04gif\fig04_23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00228"/>
            <a:ext cx="8229600" cy="3125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551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latin typeface="Courier New" panose="02070309020205020404" pitchFamily="49" charset="0"/>
                <a:cs typeface="Courier New" panose="02070309020205020404" pitchFamily="49" charset="0"/>
              </a:rPr>
              <a:t>remove(2)</a:t>
            </a:r>
          </a:p>
        </p:txBody>
      </p:sp>
      <p:pic>
        <p:nvPicPr>
          <p:cNvPr id="2050" name="Picture 2" descr="C:\Users\Administrator\Documents\Arbejde\2013-2\ADA5\Figurer, kapitel 1-6\0321395670_pt1\ch04\ch04gif\fig04_24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60254"/>
            <a:ext cx="8229600" cy="400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269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latin typeface="Courier" pitchFamily="49" charset="0"/>
              </a:rPr>
              <a:t>remove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private </a:t>
            </a:r>
            <a:r>
              <a:rPr lang="da-DK" sz="1400" dirty="0" err="1">
                <a:latin typeface="Courier" pitchFamily="49" charset="0"/>
              </a:rPr>
              <a:t>BinaryNode</a:t>
            </a:r>
            <a:r>
              <a:rPr lang="da-DK" sz="1400" dirty="0">
                <a:latin typeface="Courier" pitchFamily="49" charset="0"/>
              </a:rPr>
              <a:t>&lt;</a:t>
            </a:r>
            <a:r>
              <a:rPr lang="da-DK" sz="1400" dirty="0" err="1">
                <a:latin typeface="Courier" pitchFamily="49" charset="0"/>
              </a:rPr>
              <a:t>AnyType</a:t>
            </a:r>
            <a:r>
              <a:rPr lang="da-DK" sz="1400" dirty="0">
                <a:latin typeface="Courier" pitchFamily="49" charset="0"/>
              </a:rPr>
              <a:t>&gt; </a:t>
            </a:r>
            <a:r>
              <a:rPr lang="da-DK" sz="1400" dirty="0" err="1">
                <a:latin typeface="Courier" pitchFamily="49" charset="0"/>
              </a:rPr>
              <a:t>remove</a:t>
            </a:r>
            <a:r>
              <a:rPr lang="da-DK" sz="1400" dirty="0">
                <a:latin typeface="Courier" pitchFamily="49" charset="0"/>
              </a:rPr>
              <a:t>( </a:t>
            </a:r>
            <a:r>
              <a:rPr lang="da-DK" sz="1400" dirty="0" err="1">
                <a:latin typeface="Courier" pitchFamily="49" charset="0"/>
              </a:rPr>
              <a:t>AnyType</a:t>
            </a:r>
            <a:r>
              <a:rPr lang="da-DK" sz="1400" dirty="0">
                <a:latin typeface="Courier" pitchFamily="49" charset="0"/>
              </a:rPr>
              <a:t> x, </a:t>
            </a:r>
            <a:r>
              <a:rPr lang="da-DK" sz="1400" dirty="0" err="1">
                <a:latin typeface="Courier" pitchFamily="49" charset="0"/>
              </a:rPr>
              <a:t>BinaryNode</a:t>
            </a:r>
            <a:r>
              <a:rPr lang="da-DK" sz="1400" dirty="0">
                <a:latin typeface="Courier" pitchFamily="49" charset="0"/>
              </a:rPr>
              <a:t>&lt;</a:t>
            </a:r>
            <a:r>
              <a:rPr lang="da-DK" sz="1400" dirty="0" err="1">
                <a:latin typeface="Courier" pitchFamily="49" charset="0"/>
              </a:rPr>
              <a:t>AnyType</a:t>
            </a:r>
            <a:r>
              <a:rPr lang="da-DK" sz="1400" dirty="0">
                <a:latin typeface="Courier" pitchFamily="49" charset="0"/>
              </a:rPr>
              <a:t>&gt; t )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</a:t>
            </a:r>
            <a:r>
              <a:rPr lang="da-DK" sz="1400" dirty="0" err="1">
                <a:latin typeface="Courier" pitchFamily="49" charset="0"/>
              </a:rPr>
              <a:t>if</a:t>
            </a:r>
            <a:r>
              <a:rPr lang="da-DK" sz="1400" dirty="0">
                <a:latin typeface="Courier" pitchFamily="49" charset="0"/>
              </a:rPr>
              <a:t>( t == </a:t>
            </a:r>
            <a:r>
              <a:rPr lang="da-DK" sz="1400" dirty="0" err="1">
                <a:latin typeface="Courier" pitchFamily="49" charset="0"/>
              </a:rPr>
              <a:t>null</a:t>
            </a:r>
            <a:r>
              <a:rPr lang="da-DK" sz="1400" dirty="0">
                <a:latin typeface="Courier" pitchFamily="49" charset="0"/>
              </a:rPr>
              <a:t> )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    return t;   // Item not </a:t>
            </a:r>
            <a:r>
              <a:rPr lang="da-DK" sz="1400" dirty="0" err="1">
                <a:latin typeface="Courier" pitchFamily="49" charset="0"/>
              </a:rPr>
              <a:t>found</a:t>
            </a:r>
            <a:r>
              <a:rPr lang="da-DK" sz="1400" dirty="0">
                <a:latin typeface="Courier" pitchFamily="49" charset="0"/>
              </a:rPr>
              <a:t>; do </a:t>
            </a:r>
            <a:r>
              <a:rPr lang="da-DK" sz="1400" dirty="0" err="1">
                <a:latin typeface="Courier" pitchFamily="49" charset="0"/>
              </a:rPr>
              <a:t>nothing</a:t>
            </a:r>
            <a:endParaRPr lang="da-DK" sz="14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    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	</a:t>
            </a:r>
            <a:r>
              <a:rPr lang="da-DK" sz="1400" dirty="0" err="1">
                <a:latin typeface="Courier" pitchFamily="49" charset="0"/>
              </a:rPr>
              <a:t>if</a:t>
            </a:r>
            <a:r>
              <a:rPr lang="da-DK" sz="1400" dirty="0">
                <a:latin typeface="Courier" pitchFamily="49" charset="0"/>
              </a:rPr>
              <a:t>( x &lt; </a:t>
            </a:r>
            <a:r>
              <a:rPr lang="da-DK" sz="1400" dirty="0" err="1">
                <a:latin typeface="Courier" pitchFamily="49" charset="0"/>
              </a:rPr>
              <a:t>t.element</a:t>
            </a:r>
            <a:r>
              <a:rPr lang="da-DK" sz="1400" dirty="0">
                <a:latin typeface="Courier" pitchFamily="49" charset="0"/>
              </a:rPr>
              <a:t> )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    </a:t>
            </a:r>
            <a:r>
              <a:rPr lang="da-DK" sz="1400" dirty="0" err="1">
                <a:latin typeface="Courier" pitchFamily="49" charset="0"/>
              </a:rPr>
              <a:t>t.left</a:t>
            </a:r>
            <a:r>
              <a:rPr lang="da-DK" sz="1400" dirty="0">
                <a:latin typeface="Courier" pitchFamily="49" charset="0"/>
              </a:rPr>
              <a:t> = </a:t>
            </a:r>
            <a:r>
              <a:rPr lang="da-DK" sz="1400" dirty="0" err="1">
                <a:latin typeface="Courier" pitchFamily="49" charset="0"/>
              </a:rPr>
              <a:t>remove</a:t>
            </a:r>
            <a:r>
              <a:rPr lang="da-DK" sz="1400" dirty="0">
                <a:latin typeface="Courier" pitchFamily="49" charset="0"/>
              </a:rPr>
              <a:t>( x, </a:t>
            </a:r>
            <a:r>
              <a:rPr lang="da-DK" sz="1400" dirty="0" err="1">
                <a:latin typeface="Courier" pitchFamily="49" charset="0"/>
              </a:rPr>
              <a:t>t.left</a:t>
            </a:r>
            <a:r>
              <a:rPr lang="da-DK" sz="14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</a:t>
            </a:r>
            <a:r>
              <a:rPr lang="da-DK" sz="1400" dirty="0" err="1">
                <a:latin typeface="Courier" pitchFamily="49" charset="0"/>
              </a:rPr>
              <a:t>else</a:t>
            </a:r>
            <a:r>
              <a:rPr lang="da-DK" sz="1400" dirty="0">
                <a:latin typeface="Courier" pitchFamily="49" charset="0"/>
              </a:rPr>
              <a:t> 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</a:t>
            </a:r>
            <a:r>
              <a:rPr lang="da-DK" sz="1400" dirty="0" err="1">
                <a:latin typeface="Courier" pitchFamily="49" charset="0"/>
              </a:rPr>
              <a:t>if</a:t>
            </a:r>
            <a:r>
              <a:rPr lang="da-DK" sz="1400" dirty="0">
                <a:latin typeface="Courier" pitchFamily="49" charset="0"/>
              </a:rPr>
              <a:t>( x &gt; </a:t>
            </a:r>
            <a:r>
              <a:rPr lang="da-DK" sz="1400" dirty="0" err="1">
                <a:latin typeface="Courier" pitchFamily="49" charset="0"/>
              </a:rPr>
              <a:t>t.element</a:t>
            </a:r>
            <a:r>
              <a:rPr lang="da-DK" sz="1400" dirty="0">
                <a:latin typeface="Courier" pitchFamily="49" charset="0"/>
              </a:rPr>
              <a:t> )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    </a:t>
            </a:r>
            <a:r>
              <a:rPr lang="da-DK" sz="1400" dirty="0" err="1">
                <a:latin typeface="Courier" pitchFamily="49" charset="0"/>
              </a:rPr>
              <a:t>t.right</a:t>
            </a:r>
            <a:r>
              <a:rPr lang="da-DK" sz="1400" dirty="0">
                <a:latin typeface="Courier" pitchFamily="49" charset="0"/>
              </a:rPr>
              <a:t> = </a:t>
            </a:r>
            <a:r>
              <a:rPr lang="da-DK" sz="1400" dirty="0" err="1">
                <a:latin typeface="Courier" pitchFamily="49" charset="0"/>
              </a:rPr>
              <a:t>remove</a:t>
            </a:r>
            <a:r>
              <a:rPr lang="da-DK" sz="1400" dirty="0">
                <a:latin typeface="Courier" pitchFamily="49" charset="0"/>
              </a:rPr>
              <a:t>( x, </a:t>
            </a:r>
            <a:r>
              <a:rPr lang="da-DK" sz="1400" dirty="0" err="1">
                <a:latin typeface="Courier" pitchFamily="49" charset="0"/>
              </a:rPr>
              <a:t>t.right</a:t>
            </a:r>
            <a:r>
              <a:rPr lang="da-DK" sz="14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</a:t>
            </a:r>
            <a:r>
              <a:rPr lang="da-DK" sz="1400" dirty="0" err="1">
                <a:latin typeface="Courier" pitchFamily="49" charset="0"/>
              </a:rPr>
              <a:t>else</a:t>
            </a:r>
            <a:r>
              <a:rPr lang="da-DK" sz="1400" dirty="0">
                <a:latin typeface="Courier" pitchFamily="49" charset="0"/>
              </a:rPr>
              <a:t> 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</a:t>
            </a:r>
            <a:r>
              <a:rPr lang="da-DK" sz="1400" dirty="0" err="1">
                <a:latin typeface="Courier" pitchFamily="49" charset="0"/>
              </a:rPr>
              <a:t>if</a:t>
            </a:r>
            <a:r>
              <a:rPr lang="da-DK" sz="1400" dirty="0">
                <a:latin typeface="Courier" pitchFamily="49" charset="0"/>
              </a:rPr>
              <a:t>( </a:t>
            </a:r>
            <a:r>
              <a:rPr lang="da-DK" sz="1400" dirty="0" err="1">
                <a:latin typeface="Courier" pitchFamily="49" charset="0"/>
              </a:rPr>
              <a:t>t.left</a:t>
            </a:r>
            <a:r>
              <a:rPr lang="da-DK" sz="1400" dirty="0">
                <a:latin typeface="Courier" pitchFamily="49" charset="0"/>
              </a:rPr>
              <a:t> != </a:t>
            </a:r>
            <a:r>
              <a:rPr lang="da-DK" sz="1400" dirty="0" err="1">
                <a:latin typeface="Courier" pitchFamily="49" charset="0"/>
              </a:rPr>
              <a:t>null</a:t>
            </a:r>
            <a:r>
              <a:rPr lang="da-DK" sz="1400" dirty="0">
                <a:latin typeface="Courier" pitchFamily="49" charset="0"/>
              </a:rPr>
              <a:t> &amp;&amp; </a:t>
            </a:r>
            <a:r>
              <a:rPr lang="da-DK" sz="1400" dirty="0" err="1">
                <a:latin typeface="Courier" pitchFamily="49" charset="0"/>
              </a:rPr>
              <a:t>t.right</a:t>
            </a:r>
            <a:r>
              <a:rPr lang="da-DK" sz="1400" dirty="0">
                <a:latin typeface="Courier" pitchFamily="49" charset="0"/>
              </a:rPr>
              <a:t> != </a:t>
            </a:r>
            <a:r>
              <a:rPr lang="da-DK" sz="1400" dirty="0" err="1">
                <a:latin typeface="Courier" pitchFamily="49" charset="0"/>
              </a:rPr>
              <a:t>null</a:t>
            </a:r>
            <a:r>
              <a:rPr lang="da-DK" sz="1400" dirty="0">
                <a:latin typeface="Courier" pitchFamily="49" charset="0"/>
              </a:rPr>
              <a:t> ) // </a:t>
            </a:r>
            <a:r>
              <a:rPr lang="da-DK" sz="1400" dirty="0" err="1">
                <a:latin typeface="Courier" pitchFamily="49" charset="0"/>
              </a:rPr>
              <a:t>Two</a:t>
            </a:r>
            <a:r>
              <a:rPr lang="da-DK" sz="1400" dirty="0">
                <a:latin typeface="Courier" pitchFamily="49" charset="0"/>
              </a:rPr>
              <a:t> </a:t>
            </a:r>
            <a:r>
              <a:rPr lang="da-DK" sz="1400" dirty="0" err="1">
                <a:latin typeface="Courier" pitchFamily="49" charset="0"/>
              </a:rPr>
              <a:t>children</a:t>
            </a:r>
            <a:endParaRPr lang="da-DK" sz="14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    </a:t>
            </a:r>
            <a:r>
              <a:rPr lang="da-DK" sz="1400" dirty="0" err="1">
                <a:latin typeface="Courier" pitchFamily="49" charset="0"/>
              </a:rPr>
              <a:t>t.element</a:t>
            </a:r>
            <a:r>
              <a:rPr lang="da-DK" sz="1400" dirty="0">
                <a:latin typeface="Courier" pitchFamily="49" charset="0"/>
              </a:rPr>
              <a:t> = </a:t>
            </a:r>
            <a:r>
              <a:rPr lang="da-DK" sz="1400" dirty="0" err="1">
                <a:latin typeface="Courier" pitchFamily="49" charset="0"/>
              </a:rPr>
              <a:t>findMin</a:t>
            </a:r>
            <a:r>
              <a:rPr lang="da-DK" sz="1400" dirty="0">
                <a:latin typeface="Courier" pitchFamily="49" charset="0"/>
              </a:rPr>
              <a:t>( </a:t>
            </a:r>
            <a:r>
              <a:rPr lang="da-DK" sz="1400" dirty="0" err="1">
                <a:latin typeface="Courier" pitchFamily="49" charset="0"/>
              </a:rPr>
              <a:t>t.right</a:t>
            </a:r>
            <a:r>
              <a:rPr lang="da-DK" sz="1400" dirty="0">
                <a:latin typeface="Courier" pitchFamily="49" charset="0"/>
              </a:rPr>
              <a:t> ).element;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    </a:t>
            </a:r>
            <a:r>
              <a:rPr lang="da-DK" sz="1400" dirty="0" err="1">
                <a:latin typeface="Courier" pitchFamily="49" charset="0"/>
              </a:rPr>
              <a:t>t.right</a:t>
            </a:r>
            <a:r>
              <a:rPr lang="da-DK" sz="1400" dirty="0">
                <a:latin typeface="Courier" pitchFamily="49" charset="0"/>
              </a:rPr>
              <a:t> = </a:t>
            </a:r>
            <a:r>
              <a:rPr lang="da-DK" sz="1400" dirty="0" err="1">
                <a:latin typeface="Courier" pitchFamily="49" charset="0"/>
              </a:rPr>
              <a:t>remove</a:t>
            </a:r>
            <a:r>
              <a:rPr lang="da-DK" sz="1400" dirty="0">
                <a:latin typeface="Courier" pitchFamily="49" charset="0"/>
              </a:rPr>
              <a:t>( </a:t>
            </a:r>
            <a:r>
              <a:rPr lang="da-DK" sz="1400" dirty="0" err="1">
                <a:latin typeface="Courier" pitchFamily="49" charset="0"/>
              </a:rPr>
              <a:t>t.element</a:t>
            </a:r>
            <a:r>
              <a:rPr lang="da-DK" sz="1400" dirty="0">
                <a:latin typeface="Courier" pitchFamily="49" charset="0"/>
              </a:rPr>
              <a:t>, </a:t>
            </a:r>
            <a:r>
              <a:rPr lang="da-DK" sz="1400" dirty="0" err="1">
                <a:latin typeface="Courier" pitchFamily="49" charset="0"/>
              </a:rPr>
              <a:t>t.right</a:t>
            </a:r>
            <a:r>
              <a:rPr lang="da-DK" sz="1400" dirty="0">
                <a:latin typeface="Courier" pitchFamily="49" charset="0"/>
              </a:rPr>
              <a:t> );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</a:t>
            </a:r>
            <a:r>
              <a:rPr lang="da-DK" sz="1400" dirty="0" err="1">
                <a:latin typeface="Courier" pitchFamily="49" charset="0"/>
              </a:rPr>
              <a:t>else</a:t>
            </a:r>
            <a:endParaRPr lang="da-DK" sz="1400" dirty="0">
              <a:latin typeface="Courier" pitchFamily="49" charset="0"/>
            </a:endParaRP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    t = ( </a:t>
            </a:r>
            <a:r>
              <a:rPr lang="da-DK" sz="1400" dirty="0" err="1">
                <a:latin typeface="Courier" pitchFamily="49" charset="0"/>
              </a:rPr>
              <a:t>t.left</a:t>
            </a:r>
            <a:r>
              <a:rPr lang="da-DK" sz="1400" dirty="0">
                <a:latin typeface="Courier" pitchFamily="49" charset="0"/>
              </a:rPr>
              <a:t> != </a:t>
            </a:r>
            <a:r>
              <a:rPr lang="da-DK" sz="1400" dirty="0" err="1">
                <a:latin typeface="Courier" pitchFamily="49" charset="0"/>
              </a:rPr>
              <a:t>null</a:t>
            </a:r>
            <a:r>
              <a:rPr lang="da-DK" sz="1400" dirty="0">
                <a:latin typeface="Courier" pitchFamily="49" charset="0"/>
              </a:rPr>
              <a:t> ) ? </a:t>
            </a:r>
            <a:r>
              <a:rPr lang="da-DK" sz="1400" dirty="0" err="1">
                <a:latin typeface="Courier" pitchFamily="49" charset="0"/>
              </a:rPr>
              <a:t>t.left</a:t>
            </a:r>
            <a:r>
              <a:rPr lang="da-DK" sz="1400" dirty="0">
                <a:latin typeface="Courier" pitchFamily="49" charset="0"/>
              </a:rPr>
              <a:t> : </a:t>
            </a:r>
            <a:r>
              <a:rPr lang="da-DK" sz="1400" dirty="0" err="1">
                <a:latin typeface="Courier" pitchFamily="49" charset="0"/>
              </a:rPr>
              <a:t>t.right</a:t>
            </a:r>
            <a:r>
              <a:rPr lang="da-DK" sz="1400" dirty="0">
                <a:latin typeface="Courier" pitchFamily="49" charset="0"/>
              </a:rPr>
              <a:t>;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    return t;</a:t>
            </a:r>
          </a:p>
          <a:p>
            <a:pPr marL="0" indent="0">
              <a:buNone/>
            </a:pPr>
            <a:r>
              <a:rPr lang="da-DK" sz="1400" dirty="0">
                <a:latin typeface="Courier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503693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Binært søgetræ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Definition: </a:t>
            </a:r>
            <a:r>
              <a:rPr lang="da-DK" i="1" dirty="0"/>
              <a:t>balance </a:t>
            </a:r>
            <a:r>
              <a:rPr lang="da-DK" i="1" dirty="0" err="1"/>
              <a:t>condition</a:t>
            </a:r>
            <a:r>
              <a:rPr lang="da-DK" i="1" dirty="0"/>
              <a:t> </a:t>
            </a:r>
            <a:r>
              <a:rPr lang="da-DK" dirty="0"/>
              <a:t>– dybden af træet er O(log N).</a:t>
            </a:r>
          </a:p>
          <a:p>
            <a:r>
              <a:rPr lang="da-DK" dirty="0" err="1"/>
              <a:t>Søgetiden</a:t>
            </a:r>
            <a:r>
              <a:rPr lang="da-DK" dirty="0"/>
              <a:t> er så ligeledes O(log N).</a:t>
            </a:r>
          </a:p>
          <a:p>
            <a:r>
              <a:rPr lang="da-DK" dirty="0"/>
              <a:t>Det holder bare ikke, hvis træerne bliver højre- eller venstretunge på grund af gentagne indsættelser og sletninger.</a:t>
            </a:r>
          </a:p>
          <a:p>
            <a:pPr>
              <a:buNone/>
            </a:pPr>
            <a:endParaRPr lang="da-D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C957-A5B4-8C2C-DEBB-63329A998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path length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7A097-F9C8-0718-18F2-1DC583EA0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Weiss:</a:t>
            </a:r>
          </a:p>
          <a:p>
            <a:pPr marL="0" indent="0">
              <a:buNone/>
            </a:pPr>
            <a:r>
              <a:rPr lang="da-DK" dirty="0"/>
              <a:t>”The sum of all the </a:t>
            </a:r>
            <a:r>
              <a:rPr lang="da-DK" dirty="0" err="1"/>
              <a:t>depths</a:t>
            </a:r>
            <a:r>
              <a:rPr lang="da-DK" dirty="0"/>
              <a:t> of all nodes in a </a:t>
            </a:r>
            <a:r>
              <a:rPr lang="da-DK" dirty="0" err="1"/>
              <a:t>tree</a:t>
            </a:r>
            <a:r>
              <a:rPr lang="da-DK" dirty="0"/>
              <a:t> is </a:t>
            </a:r>
            <a:r>
              <a:rPr lang="da-DK" dirty="0" err="1"/>
              <a:t>known</a:t>
            </a:r>
            <a:r>
              <a:rPr lang="da-DK" dirty="0"/>
              <a:t> as the </a:t>
            </a:r>
            <a:r>
              <a:rPr lang="da-DK" dirty="0" err="1"/>
              <a:t>internal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.”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Andre mener, at bladene </a:t>
            </a:r>
            <a:r>
              <a:rPr lang="da-DK" b="1" dirty="0"/>
              <a:t>ikke</a:t>
            </a:r>
            <a:r>
              <a:rPr lang="da-DK" dirty="0"/>
              <a:t> skal tælles med, og det er derfor, det hedder </a:t>
            </a:r>
            <a:r>
              <a:rPr lang="da-DK" i="1" dirty="0" err="1"/>
              <a:t>internal</a:t>
            </a:r>
            <a:r>
              <a:rPr lang="da-DK" i="1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56941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25A14-E2FC-219E-DC58-B251E93D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9636-6157-2A1B-EB25-13E84F959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/>
          <a:lstStyle/>
          <a:p>
            <a:pPr marL="0" indent="0">
              <a:buNone/>
            </a:pP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Path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Length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(IPL)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can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sometimes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refer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to the sum of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depths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of all nodes in a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tree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including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both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and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leaves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depending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on the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context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. This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broader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definition is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useful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when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talking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about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the general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structure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and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efficiency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of operations on a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binary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tree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including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searches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which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involve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both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and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leaves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.</a:t>
            </a:r>
            <a:b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</a:br>
            <a:b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</a:b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However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in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other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contexts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IPL is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sometimes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specifically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defined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as the sum of the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depths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of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only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excluding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leaves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,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especially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when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we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focus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on the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structural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properties of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internal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 nodes </a:t>
            </a:r>
            <a:r>
              <a:rPr lang="da-DK" sz="2400" dirty="0" err="1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alone</a:t>
            </a:r>
            <a:r>
              <a:rPr lang="da-DK" sz="2400" dirty="0">
                <a:effectLst/>
                <a:latin typeface="Aptos" panose="020B0004020202020204" pitchFamily="34" charset="0"/>
                <a:ea typeface="Calibri" panose="020F0502020204030204" pitchFamily="34" charset="0"/>
                <a:cs typeface="Aptos" panose="020B0004020202020204" pitchFamily="34" charset="0"/>
              </a:rPr>
              <a:t>.</a:t>
            </a:r>
          </a:p>
          <a:p>
            <a:pPr marL="0" indent="0" algn="ctr">
              <a:buNone/>
            </a:pPr>
            <a:r>
              <a:rPr lang="da-DK" sz="3600" b="1" dirty="0"/>
              <a:t>Vi går med Weiss og tæller bladene med!</a:t>
            </a:r>
          </a:p>
        </p:txBody>
      </p:sp>
    </p:spTree>
    <p:extLst>
      <p:ext uri="{BB962C8B-B14F-4D97-AF65-F5344CB8AC3E}">
        <p14:creationId xmlns:p14="http://schemas.microsoft.com/office/powerpoint/2010/main" val="23799554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44862-626C-4AF3-9D51-12E67153F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274638"/>
            <a:ext cx="8964488" cy="1210146"/>
          </a:xfrm>
        </p:spPr>
        <p:txBody>
          <a:bodyPr>
            <a:normAutofit fontScale="90000"/>
          </a:bodyPr>
          <a:lstStyle/>
          <a:p>
            <a:r>
              <a:rPr lang="da-DK" dirty="0"/>
              <a:t>Binært træ med </a:t>
            </a:r>
            <a:r>
              <a:rPr lang="da-DK" dirty="0" err="1"/>
              <a:t>internal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 </a:t>
            </a:r>
            <a:r>
              <a:rPr lang="da-DK"/>
              <a:t>= 19</a:t>
            </a:r>
            <a:br>
              <a:rPr lang="da-DK"/>
            </a:br>
            <a:r>
              <a:rPr lang="da-DK"/>
              <a:t>2*1 (B,C)+4*2(D,E,F,G)+3*3(H,I,J) </a:t>
            </a:r>
            <a:endParaRPr lang="da-DK" dirty="0"/>
          </a:p>
        </p:txBody>
      </p:sp>
      <p:pic>
        <p:nvPicPr>
          <p:cNvPr id="4" name="Picture 2" descr="C:\Dokumenter\Arbejde\E2011\ADA5\Figurer, kapitel 1-6\0321395670_pt1\ch06\ch06gif\fig06_02.gif">
            <a:extLst>
              <a:ext uri="{FF2B5EF4-FFF2-40B4-BE49-F238E27FC236}">
                <a16:creationId xmlns:a16="http://schemas.microsoft.com/office/drawing/2014/main" id="{11DDEDB3-2A9C-4768-AADB-4CDCA2B875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4912" y="1805781"/>
            <a:ext cx="6734175" cy="4114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3435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Average 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a-DK" dirty="0"/>
                  <a:t>Summen af dybderne af samtlige noder kaldes træets </a:t>
                </a:r>
                <a:r>
                  <a:rPr lang="da-DK" b="1" dirty="0" err="1"/>
                  <a:t>internal</a:t>
                </a:r>
                <a:r>
                  <a:rPr lang="da-DK" b="1" dirty="0"/>
                  <a:t> </a:t>
                </a:r>
                <a:r>
                  <a:rPr lang="da-DK" b="1" dirty="0" err="1"/>
                  <a:t>path</a:t>
                </a:r>
                <a:r>
                  <a:rPr lang="da-DK" b="1" dirty="0"/>
                  <a:t> </a:t>
                </a:r>
                <a:r>
                  <a:rPr lang="da-DK" b="1" dirty="0" err="1"/>
                  <a:t>length</a:t>
                </a:r>
                <a:r>
                  <a:rPr lang="da-DK" dirty="0"/>
                  <a:t> og kan beskrives på følgende måde:</a:t>
                </a:r>
              </a:p>
              <a:p>
                <a:pPr marL="0" indent="0" algn="ctr">
                  <a:buNone/>
                </a:pPr>
                <a:r>
                  <a:rPr lang="da-DK" dirty="0"/>
                  <a:t>D(N) = D(i) + D(N – i – 1) + N – 1</a:t>
                </a:r>
              </a:p>
              <a:p>
                <a:pPr marL="0" indent="0">
                  <a:buNone/>
                </a:pPr>
                <a:r>
                  <a:rPr lang="da-DK" dirty="0"/>
                  <a:t>Hvor de to første elementer på højresiden er venstre og højre </a:t>
                </a:r>
                <a:r>
                  <a:rPr lang="da-DK" dirty="0" err="1"/>
                  <a:t>subtræ</a:t>
                </a:r>
                <a:r>
                  <a:rPr lang="da-DK" dirty="0"/>
                  <a:t> set fra roden.</a:t>
                </a:r>
              </a:p>
              <a:p>
                <a:pPr marL="0" indent="0">
                  <a:buNone/>
                </a:pPr>
                <a:r>
                  <a:rPr lang="da-DK" dirty="0"/>
                  <a:t>Gennemsnitsværdien af D(N) kan beskrives som en </a:t>
                </a:r>
                <a:r>
                  <a:rPr lang="da-DK" i="1" dirty="0" err="1"/>
                  <a:t>rekurrens</a:t>
                </a:r>
                <a:r>
                  <a:rPr lang="da-DK" i="1" dirty="0"/>
                  <a:t>, </a:t>
                </a:r>
                <a:r>
                  <a:rPr lang="da-DK" dirty="0"/>
                  <a:t>på denne måde: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/>
                        </a:rPr>
                        <m:t>𝐷</m:t>
                      </m:r>
                      <m:r>
                        <a:rPr lang="da-DK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da-DK">
                          <a:latin typeface="Cambria Math"/>
                        </a:rPr>
                        <m:t>N</m:t>
                      </m:r>
                      <m:r>
                        <a:rPr lang="da-DK">
                          <a:latin typeface="Cambria Math"/>
                        </a:rPr>
                        <m:t>)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𝑗</m:t>
                          </m:r>
                          <m:r>
                            <a:rPr lang="da-DK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da-DK" i="1">
                              <a:latin typeface="Cambria Math"/>
                            </a:rPr>
                            <m:t>𝐷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d>
                            <m:dPr>
                              <m:begChr m:val="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da-DK" i="1">
                              <a:latin typeface="Cambria Math"/>
                            </a:rPr>
                            <m:t>+</m:t>
                          </m:r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 algn="ctr">
                  <a:buNone/>
                </a:pPr>
                <a:endParaRPr lang="da-DK" i="1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07" t="-215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621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Average 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600200"/>
                <a:ext cx="8640960" cy="498316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a-DK" dirty="0"/>
                  <a:t>Det kan (som bekendt) bevises, at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/>
                        </a:rPr>
                        <m:t>𝐷</m:t>
                      </m:r>
                      <m:r>
                        <a:rPr lang="da-DK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da-DK">
                          <a:latin typeface="Cambria Math"/>
                        </a:rPr>
                        <m:t>N</m:t>
                      </m:r>
                      <m:r>
                        <a:rPr lang="da-DK">
                          <a:latin typeface="Cambria Math"/>
                        </a:rPr>
                        <m:t>)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𝑗</m:t>
                          </m:r>
                          <m:r>
                            <a:rPr lang="da-DK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da-DK" i="1">
                              <a:latin typeface="Cambria Math"/>
                            </a:rPr>
                            <m:t>𝐷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d>
                            <m:dPr>
                              <m:begChr m:val="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da-DK" i="1">
                              <a:latin typeface="Cambria Math"/>
                            </a:rPr>
                            <m:t>+</m:t>
                          </m:r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er O(N log N), hvilket betyder at den </a:t>
                </a:r>
                <a:r>
                  <a:rPr lang="da-DK" b="1" dirty="0"/>
                  <a:t>gennemsnitlige</a:t>
                </a:r>
                <a:r>
                  <a:rPr lang="da-DK" dirty="0"/>
                  <a:t> dybde for alle noder i et træ er O(log N).</a:t>
                </a:r>
              </a:p>
              <a:p>
                <a:pPr marL="0" indent="0">
                  <a:buNone/>
                </a:pPr>
                <a:r>
                  <a:rPr lang="da-DK" dirty="0"/>
                  <a:t>Det giver mening under antagelse af, at alle træer er lige sandsynlige og dermed, at alle indsættelses-sekvenser er lige sandsynlige.</a:t>
                </a:r>
              </a:p>
              <a:p>
                <a:pPr marL="0" indent="0">
                  <a:buNone/>
                </a:pPr>
                <a:r>
                  <a:rPr lang="da-DK" dirty="0"/>
                  <a:t>Husk at i det perfekte træ er den </a:t>
                </a:r>
                <a:r>
                  <a:rPr lang="da-DK" b="1" dirty="0"/>
                  <a:t>maksimale </a:t>
                </a:r>
                <a:r>
                  <a:rPr lang="da-DK" dirty="0"/>
                  <a:t>dybde O(log N).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600200"/>
                <a:ext cx="8640960" cy="4983162"/>
              </a:xfrm>
              <a:blipFill>
                <a:blip r:embed="rId2"/>
                <a:stretch>
                  <a:fillRect l="-1340" t="-1958" r="-20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154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Et temmelig ubalanceret træ</a:t>
            </a:r>
          </a:p>
        </p:txBody>
      </p:sp>
      <p:pic>
        <p:nvPicPr>
          <p:cNvPr id="1026" name="Picture 2" descr="C:\Dokumenter\Arbejde\E2011\ADA5\Figurer, kapitel 1-6\0321395670_pt1\ch04\ch04gif\fig04_2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509" y="1600200"/>
            <a:ext cx="7448981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12968" cy="1143000"/>
          </a:xfrm>
        </p:spPr>
        <p:txBody>
          <a:bodyPr>
            <a:normAutofit fontScale="90000"/>
          </a:bodyPr>
          <a:lstStyle/>
          <a:p>
            <a:r>
              <a:rPr lang="da-DK" dirty="0"/>
              <a:t>Tilfældigt generet træ – med 500 noder – gennemsnitsdybden er 9,98 (log 500 ~ 9)</a:t>
            </a:r>
          </a:p>
        </p:txBody>
      </p:sp>
      <p:pic>
        <p:nvPicPr>
          <p:cNvPr id="1026" name="Picture 2" descr="C:\Users\Administrator\Documents\Arbejde\E2011\ADA5\Figurer, kapitel 1-6\0321395670_pt1\ch04\ch04gif\fig04_26.gif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146" y="1600200"/>
            <a:ext cx="6459707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4575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Problemerne med average case og anden analyse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Er massive. Overvej følgende:</a:t>
            </a:r>
          </a:p>
          <a:p>
            <a:r>
              <a:rPr lang="da-DK" dirty="0"/>
              <a:t>Er alle træer lige sandsynlige?</a:t>
            </a:r>
          </a:p>
          <a:p>
            <a:r>
              <a:rPr lang="da-DK" dirty="0"/>
              <a:t>Hvad hvis input er mere eller mindre sorteret?</a:t>
            </a:r>
          </a:p>
          <a:p>
            <a:r>
              <a:rPr lang="da-DK" dirty="0"/>
              <a:t>Hvad betyder </a:t>
            </a:r>
            <a:r>
              <a:rPr lang="da-DK" i="1" dirty="0"/>
              <a:t>average </a:t>
            </a:r>
            <a:r>
              <a:rPr lang="da-DK" dirty="0"/>
              <a:t>egentlig?</a:t>
            </a:r>
          </a:p>
          <a:p>
            <a:r>
              <a:rPr lang="da-DK" dirty="0"/>
              <a:t>Antallet af muligheder er overvældende stort.</a:t>
            </a:r>
          </a:p>
        </p:txBody>
      </p:sp>
    </p:spTree>
    <p:extLst>
      <p:ext uri="{BB962C8B-B14F-4D97-AF65-F5344CB8AC3E}">
        <p14:creationId xmlns:p14="http://schemas.microsoft.com/office/powerpoint/2010/main" val="36004517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Konklusion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Alting bliver meget nemmere, hvis træet er </a:t>
            </a:r>
            <a:r>
              <a:rPr lang="da-DK" i="1" dirty="0">
                <a:sym typeface="Wingdings" pitchFamily="2" charset="2"/>
              </a:rPr>
              <a:t>balanceret</a:t>
            </a:r>
            <a:r>
              <a:rPr lang="da-DK" dirty="0">
                <a:sym typeface="Wingdings" pitchFamily="2" charset="2"/>
              </a:rPr>
              <a:t>, hvilket betyder, at</a:t>
            </a:r>
          </a:p>
          <a:p>
            <a:r>
              <a:rPr lang="da-DK" dirty="0">
                <a:sym typeface="Wingdings" pitchFamily="2" charset="2"/>
              </a:rPr>
              <a:t>Dybden er altid O(log N)</a:t>
            </a:r>
          </a:p>
          <a:p>
            <a:r>
              <a:rPr lang="da-DK" dirty="0">
                <a:sym typeface="Wingdings" pitchFamily="2" charset="2"/>
              </a:rPr>
              <a:t>Eller med andre ord: for hver node er højdeforskellen på dets subtræer aldrig større end 1.</a:t>
            </a:r>
          </a:p>
          <a:p>
            <a:r>
              <a:rPr lang="da-DK" dirty="0">
                <a:sym typeface="Wingdings" pitchFamily="2" charset="2"/>
              </a:rPr>
              <a:t>En løsning er det såkaldte AVL-træ.</a:t>
            </a:r>
          </a:p>
          <a:p>
            <a:r>
              <a:rPr lang="da-DK" dirty="0">
                <a:sym typeface="Wingdings" pitchFamily="2" charset="2"/>
              </a:rPr>
              <a:t>Mere herom næste gang.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342315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Øvelser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Skriv metoder til </a:t>
            </a:r>
            <a:r>
              <a:rPr lang="da-DK" dirty="0" err="1"/>
              <a:t>pre-order</a:t>
            </a:r>
            <a:r>
              <a:rPr lang="da-DK" dirty="0"/>
              <a:t>, in-</a:t>
            </a:r>
            <a:r>
              <a:rPr lang="da-DK" dirty="0" err="1"/>
              <a:t>order</a:t>
            </a:r>
            <a:r>
              <a:rPr lang="da-DK" dirty="0"/>
              <a:t>, </a:t>
            </a:r>
            <a:r>
              <a:rPr lang="da-DK" dirty="0" err="1"/>
              <a:t>post-order</a:t>
            </a:r>
            <a:r>
              <a:rPr lang="da-DK" dirty="0"/>
              <a:t> og </a:t>
            </a:r>
            <a:r>
              <a:rPr lang="da-DK" dirty="0" err="1"/>
              <a:t>level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traversering af binære (søge) træer.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4.31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Skriv en metode, som kan beregne </a:t>
            </a:r>
            <a:r>
              <a:rPr lang="da-DK" dirty="0" err="1"/>
              <a:t>internal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</a:t>
            </a:r>
            <a:r>
              <a:rPr lang="da-DK" dirty="0" err="1"/>
              <a:t>length</a:t>
            </a:r>
            <a:r>
              <a:rPr lang="da-DK" dirty="0"/>
              <a:t> af et binært træ.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Skriv en metode, som kan skabe et perfekt binært træ med højden h (&gt;0).</a:t>
            </a:r>
          </a:p>
        </p:txBody>
      </p:sp>
    </p:spTree>
    <p:extLst>
      <p:ext uri="{BB962C8B-B14F-4D97-AF65-F5344CB8AC3E}">
        <p14:creationId xmlns:p14="http://schemas.microsoft.com/office/powerpoint/2010/main" val="3394214383"/>
      </p:ext>
    </p:extLst>
  </p:cSld>
  <p:clrMapOvr>
    <a:masterClrMapping/>
  </p:clrMapOvr>
</p:sld>
</file>

<file path=ppt/theme/theme1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15498</TotalTime>
  <Words>1652</Words>
  <Application>Microsoft Office PowerPoint</Application>
  <PresentationFormat>Skærmshow (4:3)</PresentationFormat>
  <Paragraphs>230</Paragraphs>
  <Slides>37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Cambria Math</vt:lpstr>
      <vt:lpstr>Courier</vt:lpstr>
      <vt:lpstr>Courier New</vt:lpstr>
      <vt:lpstr>Wingdings</vt:lpstr>
      <vt:lpstr>Kontortema</vt:lpstr>
      <vt:lpstr>Algoritmer &amp; Datastrukturer  7. november 2025</vt:lpstr>
      <vt:lpstr>Om træer</vt:lpstr>
      <vt:lpstr>5 ordens B-træ</vt:lpstr>
      <vt:lpstr>Introduktion</vt:lpstr>
      <vt:lpstr>Eksempel på et binært træ</vt:lpstr>
      <vt:lpstr>Begreber</vt:lpstr>
      <vt:lpstr>Binære træer kan være…..</vt:lpstr>
      <vt:lpstr>Komplet binært træ</vt:lpstr>
      <vt:lpstr>Perfekt binært træ</vt:lpstr>
      <vt:lpstr>Balanceret binært træ</vt:lpstr>
      <vt:lpstr>TreeNode i et ikke-binært træ</vt:lpstr>
      <vt:lpstr>n-ary trees</vt:lpstr>
      <vt:lpstr>Hvad kan n-ary trees bruges til?</vt:lpstr>
      <vt:lpstr>Compiler syntax tree</vt:lpstr>
      <vt:lpstr>Binary Tree</vt:lpstr>
      <vt:lpstr>Binære træer og binære søgetræer</vt:lpstr>
      <vt:lpstr>Binære søgetræer og binære træer</vt:lpstr>
      <vt:lpstr>Om kodeeksempler …</vt:lpstr>
      <vt:lpstr>Binært søgetræ</vt:lpstr>
      <vt:lpstr>Binært søgetræ - Node</vt:lpstr>
      <vt:lpstr>contains</vt:lpstr>
      <vt:lpstr>findMin, findMax</vt:lpstr>
      <vt:lpstr>insert</vt:lpstr>
      <vt:lpstr>remove(4)</vt:lpstr>
      <vt:lpstr>remove(2)</vt:lpstr>
      <vt:lpstr>remove</vt:lpstr>
      <vt:lpstr>Binært søgetræ</vt:lpstr>
      <vt:lpstr>Internal path length</vt:lpstr>
      <vt:lpstr>ChatGPT</vt:lpstr>
      <vt:lpstr>Binært træ med internal path length = 19 2*1 (B,C)+4*2(D,E,F,G)+3*3(H,I,J) </vt:lpstr>
      <vt:lpstr>Average case Analysis</vt:lpstr>
      <vt:lpstr>Average case analysis</vt:lpstr>
      <vt:lpstr>Et temmelig ubalanceret træ</vt:lpstr>
      <vt:lpstr>Tilfældigt generet træ – med 500 noder – gennemsnitsdybden er 9,98 (log 500 ~ 9)</vt:lpstr>
      <vt:lpstr>Problemerne med average case og anden analyse</vt:lpstr>
      <vt:lpstr>Konklusion</vt:lpstr>
      <vt:lpstr>Øvelser</vt:lpstr>
    </vt:vector>
  </TitlesOfParts>
  <Company>Syddansk Unversitet - University of Southern Denmark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Mere om træer</dc:title>
  <dc:creator>Ole Dolriis</dc:creator>
  <cp:lastModifiedBy>Ole Dolriis</cp:lastModifiedBy>
  <cp:revision>146</cp:revision>
  <cp:lastPrinted>2012-10-10T10:01:54Z</cp:lastPrinted>
  <dcterms:created xsi:type="dcterms:W3CDTF">2011-10-03T09:48:18Z</dcterms:created>
  <dcterms:modified xsi:type="dcterms:W3CDTF">2025-11-07T10:09:27Z</dcterms:modified>
</cp:coreProperties>
</file>