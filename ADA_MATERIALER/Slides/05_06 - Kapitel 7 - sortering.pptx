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4" r:id="rId3"/>
    <p:sldId id="257" r:id="rId4"/>
    <p:sldId id="258" r:id="rId5"/>
    <p:sldId id="259" r:id="rId6"/>
    <p:sldId id="260" r:id="rId7"/>
    <p:sldId id="261" r:id="rId8"/>
    <p:sldId id="262" r:id="rId9"/>
    <p:sldId id="265" r:id="rId10"/>
    <p:sldId id="266" r:id="rId11"/>
    <p:sldId id="267" r:id="rId12"/>
    <p:sldId id="285" r:id="rId13"/>
    <p:sldId id="277" r:id="rId14"/>
    <p:sldId id="286" r:id="rId15"/>
    <p:sldId id="287" r:id="rId16"/>
    <p:sldId id="279" r:id="rId17"/>
    <p:sldId id="281" r:id="rId18"/>
    <p:sldId id="282" r:id="rId19"/>
    <p:sldId id="275" r:id="rId20"/>
    <p:sldId id="276" r:id="rId21"/>
    <p:sldId id="283" r:id="rId22"/>
    <p:sldId id="297" r:id="rId23"/>
    <p:sldId id="289" r:id="rId24"/>
    <p:sldId id="290" r:id="rId25"/>
    <p:sldId id="291" r:id="rId26"/>
    <p:sldId id="292" r:id="rId27"/>
    <p:sldId id="293" r:id="rId28"/>
    <p:sldId id="299" r:id="rId29"/>
    <p:sldId id="295" r:id="rId30"/>
    <p:sldId id="294" r:id="rId31"/>
    <p:sldId id="288" r:id="rId32"/>
    <p:sldId id="298" r:id="rId33"/>
    <p:sldId id="263" r:id="rId34"/>
    <p:sldId id="296" r:id="rId35"/>
  </p:sldIdLst>
  <p:sldSz cx="9144000" cy="6858000" type="screen4x3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807" autoAdjust="0"/>
    <p:restoredTop sz="94622" autoAdjust="0"/>
  </p:normalViewPr>
  <p:slideViewPr>
    <p:cSldViewPr>
      <p:cViewPr varScale="1">
        <p:scale>
          <a:sx n="70" d="100"/>
          <a:sy n="70" d="100"/>
        </p:scale>
        <p:origin x="864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012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dolriis@gmail.com" userId="bdd2773b697dc658" providerId="LiveId" clId="{9250C38E-5496-4A8C-85F0-E72FCF46D8C2}"/>
    <pc:docChg chg="modSld">
      <pc:chgData name="odolriis@gmail.com" userId="bdd2773b697dc658" providerId="LiveId" clId="{9250C38E-5496-4A8C-85F0-E72FCF46D8C2}" dt="2024-09-27T14:11:10.473" v="18" actId="20577"/>
      <pc:docMkLst>
        <pc:docMk/>
      </pc:docMkLst>
      <pc:sldChg chg="modSp mod">
        <pc:chgData name="odolriis@gmail.com" userId="bdd2773b697dc658" providerId="LiveId" clId="{9250C38E-5496-4A8C-85F0-E72FCF46D8C2}" dt="2024-09-27T14:11:10.473" v="18" actId="20577"/>
        <pc:sldMkLst>
          <pc:docMk/>
          <pc:sldMk cId="2133145466" sldId="276"/>
        </pc:sldMkLst>
        <pc:spChg chg="mod">
          <ac:chgData name="odolriis@gmail.com" userId="bdd2773b697dc658" providerId="LiveId" clId="{9250C38E-5496-4A8C-85F0-E72FCF46D8C2}" dt="2024-09-27T14:11:10.473" v="18" actId="20577"/>
          <ac:spMkLst>
            <pc:docMk/>
            <pc:sldMk cId="2133145466" sldId="276"/>
            <ac:spMk id="2" creationId="{00000000-0000-0000-0000-000000000000}"/>
          </ac:spMkLst>
        </pc:spChg>
      </pc:sldChg>
      <pc:sldChg chg="modSp mod">
        <pc:chgData name="odolriis@gmail.com" userId="bdd2773b697dc658" providerId="LiveId" clId="{9250C38E-5496-4A8C-85F0-E72FCF46D8C2}" dt="2024-09-27T13:57:25.463" v="1" actId="20577"/>
        <pc:sldMkLst>
          <pc:docMk/>
          <pc:sldMk cId="394568562" sldId="277"/>
        </pc:sldMkLst>
        <pc:spChg chg="mod">
          <ac:chgData name="odolriis@gmail.com" userId="bdd2773b697dc658" providerId="LiveId" clId="{9250C38E-5496-4A8C-85F0-E72FCF46D8C2}" dt="2024-09-27T13:57:25.463" v="1" actId="20577"/>
          <ac:spMkLst>
            <pc:docMk/>
            <pc:sldMk cId="394568562" sldId="277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060E5-6562-4280-8AB2-8BB661986CEC}" type="datetimeFigureOut">
              <a:rPr lang="da-DK" smtClean="0"/>
              <a:pPr/>
              <a:t>24-10-2025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D9E95-EB27-4E4A-8A4C-864CD1AC9B6E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060E5-6562-4280-8AB2-8BB661986CEC}" type="datetimeFigureOut">
              <a:rPr lang="da-DK" smtClean="0"/>
              <a:pPr/>
              <a:t>24-10-2025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D9E95-EB27-4E4A-8A4C-864CD1AC9B6E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typografi i masteren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060E5-6562-4280-8AB2-8BB661986CEC}" type="datetimeFigureOut">
              <a:rPr lang="da-DK" smtClean="0"/>
              <a:pPr/>
              <a:t>24-10-2025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D9E95-EB27-4E4A-8A4C-864CD1AC9B6E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060E5-6562-4280-8AB2-8BB661986CEC}" type="datetimeFigureOut">
              <a:rPr lang="da-DK" smtClean="0"/>
              <a:pPr/>
              <a:t>24-10-2025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D9E95-EB27-4E4A-8A4C-864CD1AC9B6E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typografi i masteren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typografi i masteren</a:t>
            </a:r>
          </a:p>
        </p:txBody>
      </p:sp>
      <p:sp>
        <p:nvSpPr>
          <p:cNvPr id="6" name="Pladsholder til indhol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060E5-6562-4280-8AB2-8BB661986CEC}" type="datetimeFigureOut">
              <a:rPr lang="da-DK" smtClean="0"/>
              <a:pPr/>
              <a:t>24-10-2025</a:t>
            </a:fld>
            <a:endParaRPr lang="da-DK"/>
          </a:p>
        </p:txBody>
      </p:sp>
      <p:sp>
        <p:nvSpPr>
          <p:cNvPr id="8" name="Pladsholder til sidefod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dias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D9E95-EB27-4E4A-8A4C-864CD1AC9B6E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060E5-6562-4280-8AB2-8BB661986CEC}" type="datetimeFigureOut">
              <a:rPr lang="da-DK" smtClean="0"/>
              <a:pPr/>
              <a:t>24-10-2025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D9E95-EB27-4E4A-8A4C-864CD1AC9B6E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060E5-6562-4280-8AB2-8BB661986CEC}" type="datetimeFigureOut">
              <a:rPr lang="da-DK" smtClean="0"/>
              <a:pPr/>
              <a:t>24-10-2025</a:t>
            </a:fld>
            <a:endParaRPr lang="da-DK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D9E95-EB27-4E4A-8A4C-864CD1AC9B6E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typografi i masteren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060E5-6562-4280-8AB2-8BB661986CEC}" type="datetimeFigureOut">
              <a:rPr lang="da-DK" smtClean="0"/>
              <a:pPr/>
              <a:t>24-10-2025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D9E95-EB27-4E4A-8A4C-864CD1AC9B6E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typografi i masteren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060E5-6562-4280-8AB2-8BB661986CEC}" type="datetimeFigureOut">
              <a:rPr lang="da-DK" smtClean="0"/>
              <a:pPr/>
              <a:t>24-10-2025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D9E95-EB27-4E4A-8A4C-864CD1AC9B6E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060E5-6562-4280-8AB2-8BB661986CEC}" type="datetimeFigureOut">
              <a:rPr lang="da-DK" smtClean="0"/>
              <a:pPr/>
              <a:t>24-10-2025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D9E95-EB27-4E4A-8A4C-864CD1AC9B6E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060E5-6562-4280-8AB2-8BB661986CEC}" type="datetimeFigureOut">
              <a:rPr lang="da-DK" smtClean="0"/>
              <a:pPr/>
              <a:t>24-10-2025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D9E95-EB27-4E4A-8A4C-864CD1AC9B6E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6060E5-6562-4280-8AB2-8BB661986CEC}" type="datetimeFigureOut">
              <a:rPr lang="da-DK" smtClean="0"/>
              <a:pPr/>
              <a:t>24-10-2025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ED9E95-EB27-4E4A-8A4C-864CD1AC9B6E}" type="slidenum">
              <a:rPr lang="da-DK" smtClean="0"/>
              <a:pPr/>
              <a:t>‹nr.›</a:t>
            </a:fld>
            <a:endParaRPr lang="da-DK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://en.wikipedia.org/wiki/Sorting_algorithm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ywWBy6J5gz8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ADA 3. og 24. oktober 2025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dirty="0"/>
              <a:t>Sortering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1CC3CF-DD6D-413C-AB13-CB02312CC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Introducerende antagelse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B458D4F-4A9E-4B04-AE80-41D7F1F17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Sortering i det virkelig liv finder sted på alle mulige forskellige datatyper.</a:t>
            </a:r>
          </a:p>
          <a:p>
            <a:pPr marL="0" indent="0">
              <a:buNone/>
            </a:pPr>
            <a:r>
              <a:rPr lang="da-DK" dirty="0"/>
              <a:t>For at undgå begrebsforvirring arbejder vi udelukkende med sortering af heltal (</a:t>
            </a:r>
            <a:r>
              <a:rPr lang="da-DK" dirty="0" err="1"/>
              <a:t>integers</a:t>
            </a:r>
            <a:r>
              <a:rPr lang="da-DK" dirty="0"/>
              <a:t>), under den antagelse, at alle de beskrevne principper kan anvendes for alle andre datatyper.</a:t>
            </a:r>
          </a:p>
        </p:txBody>
      </p:sp>
    </p:spTree>
    <p:extLst>
      <p:ext uri="{BB962C8B-B14F-4D97-AF65-F5344CB8AC3E}">
        <p14:creationId xmlns:p14="http://schemas.microsoft.com/office/powerpoint/2010/main" val="322205629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Inversion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107504" y="1600200"/>
            <a:ext cx="8928992" cy="4525963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da-DK" dirty="0"/>
              <a:t>	Lad os betragte denne liste af heltal: </a:t>
            </a:r>
          </a:p>
          <a:p>
            <a:pPr algn="ctr">
              <a:buNone/>
            </a:pPr>
            <a:r>
              <a:rPr lang="da-DK" dirty="0"/>
              <a:t>34, 8, 64, 51, 32, 21</a:t>
            </a:r>
          </a:p>
          <a:p>
            <a:pPr>
              <a:buNone/>
            </a:pPr>
            <a:r>
              <a:rPr lang="da-DK" dirty="0"/>
              <a:t>	Tallene er helt klar usorterede, så lad os prøve at se, om vi kan finde et mål for, hvor usorterede de er.</a:t>
            </a:r>
          </a:p>
          <a:p>
            <a:pPr>
              <a:buNone/>
            </a:pPr>
            <a:r>
              <a:rPr lang="da-DK" dirty="0"/>
              <a:t>	Til at hjælpe os definerer vi et begreb kaldet </a:t>
            </a:r>
            <a:r>
              <a:rPr lang="da-DK" i="1" dirty="0"/>
              <a:t>inversion</a:t>
            </a:r>
            <a:r>
              <a:rPr lang="da-DK" dirty="0"/>
              <a:t>. En inversion er et ordnet </a:t>
            </a:r>
            <a:r>
              <a:rPr lang="da-DK" dirty="0" err="1"/>
              <a:t>talpar</a:t>
            </a:r>
            <a:r>
              <a:rPr lang="da-DK" dirty="0"/>
              <a:t> (</a:t>
            </a:r>
            <a:r>
              <a:rPr lang="da-DK" dirty="0" err="1"/>
              <a:t>i,j</a:t>
            </a:r>
            <a:r>
              <a:rPr lang="da-DK" dirty="0"/>
              <a:t>), hvorom det gælder, at i &lt; j, men a[i] &gt; a[j].</a:t>
            </a:r>
          </a:p>
          <a:p>
            <a:pPr>
              <a:buNone/>
            </a:pPr>
            <a:r>
              <a:rPr lang="da-DK" dirty="0"/>
              <a:t>	I vores eksempel forekommer der følgende inversions:</a:t>
            </a:r>
          </a:p>
          <a:p>
            <a:pPr>
              <a:buNone/>
            </a:pPr>
            <a:r>
              <a:rPr lang="da-DK" dirty="0"/>
              <a:t> </a:t>
            </a:r>
          </a:p>
          <a:p>
            <a:pPr>
              <a:buNone/>
            </a:pPr>
            <a:r>
              <a:rPr lang="da-DK" sz="2800" dirty="0"/>
              <a:t>(34,8) (34,32) (34,21) (64,51) (64,32) (64,21) (51,32) (51,21) (32,21)</a:t>
            </a:r>
          </a:p>
          <a:p>
            <a:endParaRPr lang="da-DK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Sortering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Jo flere inversions listen indeholder, desto mere usorteret er den. </a:t>
            </a:r>
          </a:p>
          <a:p>
            <a:r>
              <a:rPr lang="da-DK" dirty="0"/>
              <a:t>Sorteringsdisciplinen går ud på at reducere antallet af inversions i en liste til nul.</a:t>
            </a:r>
          </a:p>
          <a:p>
            <a:endParaRPr lang="da-DK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Mere om inversions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a-DK" dirty="0"/>
              <a:t>Hvad er antallet af inversions i denne liste: 78,63,61,45,25,11?    </a:t>
            </a:r>
          </a:p>
          <a:p>
            <a:r>
              <a:rPr lang="da-DK" dirty="0"/>
              <a:t>Det gennemsnitlige antal inversions i en liste bestående af  N forskellige heltal er N(N-1)/4.</a:t>
            </a:r>
          </a:p>
          <a:p>
            <a:r>
              <a:rPr lang="da-DK" dirty="0"/>
              <a:t>Hvis én operation kan eliminere én inversion, så må den slags sortering have kvadratisk tidskompleksitet O(N</a:t>
            </a:r>
            <a:r>
              <a:rPr lang="da-DK" baseline="30000" dirty="0"/>
              <a:t>2</a:t>
            </a:r>
            <a:r>
              <a:rPr lang="da-DK" dirty="0"/>
              <a:t>).</a:t>
            </a:r>
          </a:p>
          <a:p>
            <a:r>
              <a:rPr lang="da-DK" dirty="0"/>
              <a:t>Hvis mere end én inversion kan elimineres af én operation, kan vi opnå bedre resultater end kvadratisk tidskompleksitet.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O(N</a:t>
            </a:r>
            <a:r>
              <a:rPr lang="da-DK" baseline="30000" dirty="0"/>
              <a:t>2</a:t>
            </a:r>
            <a:r>
              <a:rPr lang="da-DK" dirty="0"/>
              <a:t>)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457200" y="2276872"/>
            <a:ext cx="8229600" cy="3849291"/>
          </a:xfrm>
        </p:spPr>
        <p:txBody>
          <a:bodyPr/>
          <a:lstStyle/>
          <a:p>
            <a:pPr algn="ctr">
              <a:buNone/>
            </a:pPr>
            <a:r>
              <a:rPr lang="da-DK" sz="4000" err="1"/>
              <a:t>Insertionsort</a:t>
            </a:r>
            <a:endParaRPr lang="da-DK" sz="4000"/>
          </a:p>
          <a:p>
            <a:pPr algn="ctr">
              <a:buNone/>
            </a:pPr>
            <a:r>
              <a:rPr lang="da-DK" sz="4000" err="1"/>
              <a:t>Selectionsort</a:t>
            </a:r>
            <a:endParaRPr lang="da-DK" sz="4000"/>
          </a:p>
          <a:p>
            <a:pPr algn="ctr">
              <a:buNone/>
            </a:pPr>
            <a:r>
              <a:rPr lang="da-DK" sz="4000" err="1"/>
              <a:t>Bubblesort</a:t>
            </a:r>
            <a:endParaRPr lang="da-DK" sz="4000"/>
          </a:p>
          <a:p>
            <a:pPr algn="ctr">
              <a:buNone/>
            </a:pPr>
            <a:endParaRPr lang="da-DK" sz="400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err="1"/>
              <a:t>Bubblesort</a:t>
            </a:r>
            <a:endParaRPr lang="da-DK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1400" b="1" dirty="0"/>
              <a:t>1 	public void </a:t>
            </a:r>
            <a:r>
              <a:rPr lang="en-US" sz="1400" b="1" dirty="0" err="1"/>
              <a:t>bubbleSort</a:t>
            </a:r>
            <a:r>
              <a:rPr lang="en-US" sz="1400" b="1" dirty="0"/>
              <a:t>(int array[]) // Java</a:t>
            </a:r>
            <a:endParaRPr lang="da-DK" sz="1400" dirty="0"/>
          </a:p>
          <a:p>
            <a:pPr>
              <a:buNone/>
            </a:pPr>
            <a:r>
              <a:rPr lang="en-US" sz="1400" b="1" dirty="0"/>
              <a:t>  2	{</a:t>
            </a:r>
            <a:endParaRPr lang="da-DK" sz="1400" dirty="0"/>
          </a:p>
          <a:p>
            <a:pPr>
              <a:buNone/>
            </a:pPr>
            <a:r>
              <a:rPr lang="en-US" sz="1400" b="1" dirty="0"/>
              <a:t>  3		for (int </a:t>
            </a:r>
            <a:r>
              <a:rPr lang="en-US" sz="1400" b="1" dirty="0" err="1"/>
              <a:t>i</a:t>
            </a:r>
            <a:r>
              <a:rPr lang="en-US" sz="1400" b="1" dirty="0"/>
              <a:t> = 0; </a:t>
            </a:r>
            <a:r>
              <a:rPr lang="en-US" sz="1400" b="1" dirty="0" err="1"/>
              <a:t>i</a:t>
            </a:r>
            <a:r>
              <a:rPr lang="en-US" sz="1400" b="1" dirty="0"/>
              <a:t> &lt; </a:t>
            </a:r>
            <a:r>
              <a:rPr lang="en-US" sz="1400" b="1" dirty="0" err="1"/>
              <a:t>array.length</a:t>
            </a:r>
            <a:r>
              <a:rPr lang="en-US" sz="1400" b="1" dirty="0"/>
              <a:t> - 1; </a:t>
            </a:r>
            <a:r>
              <a:rPr lang="en-US" sz="1400" b="1" dirty="0" err="1"/>
              <a:t>i</a:t>
            </a:r>
            <a:r>
              <a:rPr lang="en-US" sz="1400" b="1" dirty="0"/>
              <a:t>++)</a:t>
            </a:r>
            <a:endParaRPr lang="da-DK" sz="1400" dirty="0"/>
          </a:p>
          <a:p>
            <a:pPr>
              <a:buNone/>
            </a:pPr>
            <a:r>
              <a:rPr lang="en-US" sz="1400" b="1" dirty="0"/>
              <a:t>  4		{</a:t>
            </a:r>
            <a:endParaRPr lang="da-DK" sz="1400" dirty="0"/>
          </a:p>
          <a:p>
            <a:pPr>
              <a:buNone/>
            </a:pPr>
            <a:r>
              <a:rPr lang="en-US" sz="1400" b="1" dirty="0"/>
              <a:t>  5	    		</a:t>
            </a:r>
            <a:r>
              <a:rPr lang="en-US" sz="1400" b="1" dirty="0" err="1"/>
              <a:t>boolean</a:t>
            </a:r>
            <a:r>
              <a:rPr lang="en-US" sz="1400" b="1" dirty="0"/>
              <a:t> swapped = false;</a:t>
            </a:r>
            <a:endParaRPr lang="da-DK" sz="1400" dirty="0"/>
          </a:p>
          <a:p>
            <a:pPr>
              <a:buNone/>
            </a:pPr>
            <a:r>
              <a:rPr lang="en-US" sz="1400" b="1" dirty="0"/>
              <a:t>  6	    		for (int j = 0; j &lt; </a:t>
            </a:r>
            <a:r>
              <a:rPr lang="en-US" sz="1400" b="1" dirty="0" err="1"/>
              <a:t>array.length</a:t>
            </a:r>
            <a:r>
              <a:rPr lang="en-US" sz="1400" b="1" dirty="0"/>
              <a:t> – </a:t>
            </a:r>
            <a:r>
              <a:rPr lang="en-US" sz="1400" b="1" dirty="0" err="1"/>
              <a:t>i</a:t>
            </a:r>
            <a:r>
              <a:rPr lang="en-US" sz="1400" b="1" dirty="0"/>
              <a:t> - 1; </a:t>
            </a:r>
            <a:r>
              <a:rPr lang="en-US" sz="1400" b="1" dirty="0" err="1"/>
              <a:t>j++</a:t>
            </a:r>
            <a:r>
              <a:rPr lang="en-US" sz="1400" b="1" dirty="0"/>
              <a:t>)</a:t>
            </a:r>
            <a:endParaRPr lang="da-DK" sz="1400" dirty="0"/>
          </a:p>
          <a:p>
            <a:pPr>
              <a:buNone/>
            </a:pPr>
            <a:r>
              <a:rPr lang="en-US" sz="1400" b="1" dirty="0"/>
              <a:t>  7        		{</a:t>
            </a:r>
            <a:endParaRPr lang="da-DK" sz="1400" dirty="0"/>
          </a:p>
          <a:p>
            <a:pPr>
              <a:buNone/>
            </a:pPr>
            <a:r>
              <a:rPr lang="en-US" sz="1400" b="1" dirty="0"/>
              <a:t>  8				if (array[j] &gt; array[j+1])</a:t>
            </a:r>
            <a:endParaRPr lang="da-DK" sz="1400" dirty="0"/>
          </a:p>
          <a:p>
            <a:pPr>
              <a:buNone/>
            </a:pPr>
            <a:r>
              <a:rPr lang="en-US" sz="1400" b="1" dirty="0"/>
              <a:t>  9            			{</a:t>
            </a:r>
            <a:endParaRPr lang="da-DK" sz="1400" dirty="0"/>
          </a:p>
          <a:p>
            <a:pPr>
              <a:buNone/>
            </a:pPr>
            <a:r>
              <a:rPr lang="en-US" sz="1400" b="1" dirty="0"/>
              <a:t> 10		    			swap(array,j,j+1);</a:t>
            </a:r>
            <a:endParaRPr lang="da-DK" sz="1400" dirty="0"/>
          </a:p>
          <a:p>
            <a:pPr>
              <a:buNone/>
            </a:pPr>
            <a:r>
              <a:rPr lang="en-US" sz="1400" b="1" dirty="0"/>
              <a:t> 11		    			swapped = true;</a:t>
            </a:r>
            <a:endParaRPr lang="da-DK" sz="1400" dirty="0"/>
          </a:p>
          <a:p>
            <a:pPr>
              <a:buNone/>
            </a:pPr>
            <a:r>
              <a:rPr lang="en-US" sz="1400" b="1" dirty="0"/>
              <a:t> 12				}</a:t>
            </a:r>
            <a:endParaRPr lang="da-DK" sz="1400" dirty="0"/>
          </a:p>
          <a:p>
            <a:pPr>
              <a:buNone/>
            </a:pPr>
            <a:r>
              <a:rPr lang="en-US" sz="1400" b="1" dirty="0"/>
              <a:t> 13           		}	</a:t>
            </a:r>
            <a:endParaRPr lang="da-DK" sz="1400" dirty="0"/>
          </a:p>
          <a:p>
            <a:pPr>
              <a:buNone/>
            </a:pPr>
            <a:r>
              <a:rPr lang="en-US" sz="1400" b="1" dirty="0"/>
              <a:t> 14	    		if (!swapped)</a:t>
            </a:r>
            <a:endParaRPr lang="da-DK" sz="1400" dirty="0"/>
          </a:p>
          <a:p>
            <a:pPr>
              <a:buNone/>
            </a:pPr>
            <a:r>
              <a:rPr lang="en-US" sz="1400" b="1" dirty="0"/>
              <a:t> 15				return;</a:t>
            </a:r>
            <a:endParaRPr lang="da-DK" sz="1400" dirty="0"/>
          </a:p>
          <a:p>
            <a:pPr>
              <a:buNone/>
            </a:pPr>
            <a:r>
              <a:rPr lang="en-US" sz="1400" b="1" dirty="0"/>
              <a:t> 16		}</a:t>
            </a:r>
            <a:endParaRPr lang="da-DK" sz="1400" dirty="0"/>
          </a:p>
          <a:p>
            <a:pPr>
              <a:buNone/>
            </a:pPr>
            <a:r>
              <a:rPr lang="en-US" sz="1400" b="1" dirty="0"/>
              <a:t> 17  }</a:t>
            </a:r>
            <a:endParaRPr lang="da-DK" sz="1400" dirty="0"/>
          </a:p>
          <a:p>
            <a:pPr>
              <a:buNone/>
            </a:pPr>
            <a:endParaRPr lang="da-DK" sz="140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O(N </a:t>
            </a:r>
            <a:r>
              <a:rPr lang="da-DK" dirty="0" err="1"/>
              <a:t>logN</a:t>
            </a:r>
            <a:r>
              <a:rPr lang="da-DK" dirty="0"/>
              <a:t>)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da-DK" sz="4000"/>
              <a:t>Mergesort</a:t>
            </a:r>
          </a:p>
          <a:p>
            <a:pPr algn="ctr">
              <a:buNone/>
            </a:pPr>
            <a:r>
              <a:rPr lang="da-DK" sz="4000"/>
              <a:t>Heapsort</a:t>
            </a:r>
          </a:p>
          <a:p>
            <a:pPr algn="ctr">
              <a:buNone/>
            </a:pPr>
            <a:r>
              <a:rPr lang="da-DK" sz="4000"/>
              <a:t>Quicksort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Mergesort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	private static &lt;AnyType extends Comparable&lt;? super AnyType&gt;&gt;</a:t>
            </a:r>
          </a:p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    void mergeSort( AnyType [ ] a, AnyType [ ] tmpArray, int left, int right )</a:t>
            </a:r>
          </a:p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        if( left &lt; right )</a:t>
            </a:r>
          </a:p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        {</a:t>
            </a:r>
          </a:p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            int center = ( left + right ) / 2;</a:t>
            </a:r>
          </a:p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            mergeSort( a, tmpArray, left, center );</a:t>
            </a:r>
          </a:p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            mergeSort( a, tmpArray, center + 1, right );</a:t>
            </a:r>
          </a:p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            merge( a, tmpArray, left, center + 1, right );</a:t>
            </a:r>
          </a:p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        }</a:t>
            </a:r>
          </a:p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    </a:t>
            </a:r>
          </a:p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    /**</a:t>
            </a:r>
          </a:p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     * Mergesort algorithm.</a:t>
            </a:r>
          </a:p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     * @param a an array of Comparable items.</a:t>
            </a:r>
          </a:p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     */</a:t>
            </a:r>
          </a:p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    public static &lt;AnyType extends Comparable&lt;? super AnyType&gt;&gt;</a:t>
            </a:r>
          </a:p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    void mergeSort( AnyType [ ] a )</a:t>
            </a:r>
          </a:p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        AnyType [ ] tmpArray = (AnyType[]) new Comparable[ a.length ];</a:t>
            </a:r>
          </a:p>
          <a:p>
            <a:pPr>
              <a:buNone/>
            </a:pPr>
            <a:endParaRPr lang="da-DK" sz="240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        mergeSort( a, tmpArray, 0, a.length - 1 );</a:t>
            </a:r>
          </a:p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58013602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Merge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>
              <a:buNone/>
            </a:pPr>
            <a:r>
              <a:rPr lang="da-DK" dirty="0">
                <a:latin typeface="Courier New" pitchFamily="49" charset="0"/>
                <a:cs typeface="Courier New" pitchFamily="49" charset="0"/>
              </a:rPr>
              <a:t>	 // 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Precondition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: no 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duplicates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	 </a:t>
            </a:r>
          </a:p>
          <a:p>
            <a:pPr>
              <a:buNone/>
            </a:pPr>
            <a:r>
              <a:rPr lang="da-DK" dirty="0">
                <a:latin typeface="Courier New" pitchFamily="49" charset="0"/>
                <a:cs typeface="Courier New" pitchFamily="49" charset="0"/>
              </a:rPr>
              <a:t>	 public 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static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[] 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merge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[] a, 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[] b)  //Java</a:t>
            </a:r>
          </a:p>
          <a:p>
            <a:pPr>
              <a:buNone/>
            </a:pPr>
            <a:r>
              <a:rPr lang="da-DK" dirty="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pPr>
              <a:buNone/>
            </a:pPr>
            <a:r>
              <a:rPr lang="da-DK">
                <a:latin typeface="Courier New" pitchFamily="49" charset="0"/>
                <a:cs typeface="Courier New" pitchFamily="49" charset="0"/>
              </a:rPr>
              <a:t>        int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 [] m = new 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[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a.length+b.length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];</a:t>
            </a:r>
          </a:p>
          <a:p>
            <a:pPr>
              <a:buNone/>
            </a:pPr>
            <a:r>
              <a:rPr lang="da-DK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pointerA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 = 0; 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pointerB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 = 0; 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pointerM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 = 0;</a:t>
            </a:r>
          </a:p>
          <a:p>
            <a:pPr>
              <a:buNone/>
            </a:pPr>
            <a:r>
              <a:rPr lang="da-DK" dirty="0">
                <a:latin typeface="Courier New" pitchFamily="49" charset="0"/>
                <a:cs typeface="Courier New" pitchFamily="49" charset="0"/>
              </a:rPr>
              <a:t>        </a:t>
            </a:r>
          </a:p>
          <a:p>
            <a:pPr>
              <a:buNone/>
            </a:pPr>
            <a:r>
              <a:rPr lang="da-DK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while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pointerA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 &lt; a. 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length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 &amp;&amp; 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pointerB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 &lt; 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b.length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da-DK" dirty="0"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 (a[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pointerA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] &lt; b[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pointerB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])</a:t>
            </a:r>
          </a:p>
          <a:p>
            <a:pPr>
              <a:buNone/>
            </a:pPr>
            <a:r>
              <a:rPr lang="da-DK" dirty="0">
                <a:latin typeface="Courier New" pitchFamily="49" charset="0"/>
                <a:cs typeface="Courier New" pitchFamily="49" charset="0"/>
              </a:rPr>
              <a:t>                m[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pointerM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++] = a[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pointerA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++];</a:t>
            </a:r>
          </a:p>
          <a:p>
            <a:pPr>
              <a:buNone/>
            </a:pPr>
            <a:r>
              <a:rPr lang="da-DK" dirty="0"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else</a:t>
            </a:r>
            <a:endParaRPr lang="da-DK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da-DK" dirty="0">
                <a:latin typeface="Courier New" pitchFamily="49" charset="0"/>
                <a:cs typeface="Courier New" pitchFamily="49" charset="0"/>
              </a:rPr>
              <a:t>                m[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pointerM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++] = b[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pointerB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++];</a:t>
            </a:r>
          </a:p>
          <a:p>
            <a:pPr>
              <a:buNone/>
            </a:pPr>
            <a:endParaRPr lang="da-DK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da-DK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while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pointerA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 &lt; 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a.length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da-DK" dirty="0">
                <a:latin typeface="Courier New" pitchFamily="49" charset="0"/>
                <a:cs typeface="Courier New" pitchFamily="49" charset="0"/>
              </a:rPr>
              <a:t>            m[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pointerM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++] = a[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pointerA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++];</a:t>
            </a:r>
          </a:p>
          <a:p>
            <a:pPr>
              <a:buNone/>
            </a:pPr>
            <a:endParaRPr lang="da-DK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da-DK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while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pointerB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 &lt; 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b.length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da-DK" dirty="0">
                <a:latin typeface="Courier New" pitchFamily="49" charset="0"/>
                <a:cs typeface="Courier New" pitchFamily="49" charset="0"/>
              </a:rPr>
              <a:t>            m[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pointerM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++] = b[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pointerB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++];</a:t>
            </a:r>
          </a:p>
          <a:p>
            <a:pPr>
              <a:buNone/>
            </a:pPr>
            <a:r>
              <a:rPr lang="da-DK" dirty="0">
                <a:latin typeface="Courier New" pitchFamily="49" charset="0"/>
                <a:cs typeface="Courier New" pitchFamily="49" charset="0"/>
              </a:rPr>
              <a:t>            </a:t>
            </a:r>
          </a:p>
          <a:p>
            <a:pPr>
              <a:buNone/>
            </a:pPr>
            <a:r>
              <a:rPr lang="da-DK" dirty="0">
                <a:latin typeface="Courier New" pitchFamily="49" charset="0"/>
                <a:cs typeface="Courier New" pitchFamily="49" charset="0"/>
              </a:rPr>
              <a:t>        return m;</a:t>
            </a:r>
          </a:p>
          <a:p>
            <a:pPr>
              <a:buNone/>
            </a:pPr>
            <a:r>
              <a:rPr lang="da-DK" dirty="0">
                <a:latin typeface="Courier New" pitchFamily="49" charset="0"/>
                <a:cs typeface="Courier New" pitchFamily="49" charset="0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2493202317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Heapsort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251520" y="1600200"/>
            <a:ext cx="90010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Pladsproblemet kan løses ved at genbruge tabellen fra enden af.</a:t>
            </a:r>
          </a:p>
          <a:p>
            <a:pPr marL="0" indent="0">
              <a:buNone/>
            </a:pPr>
            <a:r>
              <a:rPr lang="da-DK" dirty="0"/>
              <a:t>Analysen er besværlig; men performance er relativ konstant.</a:t>
            </a:r>
          </a:p>
          <a:p>
            <a:pPr marL="0" indent="0">
              <a:buNone/>
            </a:pPr>
            <a:r>
              <a:rPr lang="da-DK" dirty="0"/>
              <a:t>Det gennemsnitlige antal sammenligninger er (muligvis </a:t>
            </a:r>
            <a:r>
              <a:rPr lang="da-DK" dirty="0">
                <a:sym typeface="Wingdings" panose="05000000000000000000" pitchFamily="2" charset="2"/>
              </a:rPr>
              <a:t>)</a:t>
            </a:r>
            <a:r>
              <a:rPr lang="da-DK" dirty="0"/>
              <a:t>:</a:t>
            </a:r>
          </a:p>
          <a:p>
            <a:pPr marL="0" indent="0" algn="ctr">
              <a:buNone/>
            </a:pPr>
            <a:r>
              <a:rPr lang="da-DK" dirty="0"/>
              <a:t>2N log N - O(N log </a:t>
            </a:r>
            <a:r>
              <a:rPr lang="da-DK" dirty="0" err="1"/>
              <a:t>log</a:t>
            </a:r>
            <a:r>
              <a:rPr lang="da-DK" dirty="0"/>
              <a:t> N)</a:t>
            </a:r>
          </a:p>
        </p:txBody>
      </p:sp>
    </p:spTree>
    <p:extLst>
      <p:ext uri="{BB962C8B-B14F-4D97-AF65-F5344CB8AC3E}">
        <p14:creationId xmlns:p14="http://schemas.microsoft.com/office/powerpoint/2010/main" val="1708974858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0E7B7-CD27-55A9-55E6-5C85A247A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Mergesort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CB877-CA0E-8D1F-1F49-97F38B77A2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Er den </a:t>
            </a:r>
            <a:r>
              <a:rPr lang="en-US" dirty="0" err="1"/>
              <a:t>sortering</a:t>
            </a:r>
            <a:r>
              <a:rPr lang="en-US" dirty="0"/>
              <a:t> med de </a:t>
            </a:r>
            <a:r>
              <a:rPr lang="en-US" dirty="0" err="1"/>
              <a:t>færreste</a:t>
            </a:r>
            <a:r>
              <a:rPr lang="en-US" dirty="0"/>
              <a:t> </a:t>
            </a:r>
            <a:r>
              <a:rPr lang="en-US" dirty="0" err="1"/>
              <a:t>sammenligninger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anvendes</a:t>
            </a:r>
            <a:r>
              <a:rPr lang="en-US" dirty="0"/>
              <a:t> af Javas </a:t>
            </a:r>
            <a:r>
              <a:rPr lang="en-US" dirty="0" err="1"/>
              <a:t>standardbibliotek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C++ </a:t>
            </a:r>
            <a:r>
              <a:rPr lang="en-US" dirty="0" err="1"/>
              <a:t>bruger</a:t>
            </a:r>
            <a:r>
              <a:rPr lang="en-US" dirty="0"/>
              <a:t> </a:t>
            </a:r>
            <a:r>
              <a:rPr lang="en-US" dirty="0" err="1"/>
              <a:t>QuickSort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Analyse</a:t>
            </a:r>
            <a:r>
              <a:rPr lang="en-US" dirty="0"/>
              <a:t>: best case, average case, worst case.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954934227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Shellsort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Shellsort</a:t>
            </a:r>
            <a:r>
              <a:rPr lang="en-US" dirty="0"/>
              <a:t> er </a:t>
            </a:r>
            <a:r>
              <a:rPr lang="en-US" dirty="0" err="1"/>
              <a:t>en</a:t>
            </a:r>
            <a:r>
              <a:rPr lang="en-US" dirty="0"/>
              <a:t> ‘multi-pass’ </a:t>
            </a:r>
            <a:r>
              <a:rPr lang="en-US" dirty="0" err="1"/>
              <a:t>algoritme</a:t>
            </a:r>
            <a:r>
              <a:rPr lang="en-US" dirty="0"/>
              <a:t>. </a:t>
            </a:r>
            <a:r>
              <a:rPr lang="en-US" dirty="0" err="1"/>
              <a:t>Hvert</a:t>
            </a:r>
            <a:r>
              <a:rPr lang="en-US" dirty="0"/>
              <a:t> pass er </a:t>
            </a:r>
            <a:r>
              <a:rPr lang="en-US" dirty="0" err="1"/>
              <a:t>en</a:t>
            </a:r>
            <a:r>
              <a:rPr lang="en-US" dirty="0"/>
              <a:t> insertion sort af </a:t>
            </a:r>
            <a:r>
              <a:rPr lang="en-US" dirty="0" err="1"/>
              <a:t>sekvenser</a:t>
            </a:r>
            <a:r>
              <a:rPr lang="en-US" dirty="0"/>
              <a:t> </a:t>
            </a:r>
            <a:r>
              <a:rPr lang="en-US" dirty="0" err="1"/>
              <a:t>bestående</a:t>
            </a:r>
            <a:r>
              <a:rPr lang="en-US" dirty="0"/>
              <a:t> af </a:t>
            </a:r>
            <a:r>
              <a:rPr lang="en-US" dirty="0" err="1"/>
              <a:t>hvert</a:t>
            </a:r>
            <a:r>
              <a:rPr lang="en-US" dirty="0"/>
              <a:t> </a:t>
            </a:r>
            <a:r>
              <a:rPr lang="en-US" i="1" dirty="0"/>
              <a:t>h.</a:t>
            </a:r>
            <a:r>
              <a:rPr lang="en-US" dirty="0"/>
              <a:t> element for et for et fast (fixed) </a:t>
            </a:r>
            <a:r>
              <a:rPr lang="en-US" dirty="0" err="1"/>
              <a:t>mellemrum</a:t>
            </a:r>
            <a:r>
              <a:rPr lang="en-US" dirty="0"/>
              <a:t> </a:t>
            </a:r>
            <a:r>
              <a:rPr lang="en-US" i="1" dirty="0"/>
              <a:t>h</a:t>
            </a:r>
            <a:r>
              <a:rPr lang="en-US" dirty="0"/>
              <a:t> (</a:t>
            </a:r>
            <a:r>
              <a:rPr lang="en-US" dirty="0" err="1"/>
              <a:t>også</a:t>
            </a:r>
            <a:r>
              <a:rPr lang="en-US" dirty="0"/>
              <a:t> </a:t>
            </a:r>
            <a:r>
              <a:rPr lang="en-US" dirty="0" err="1"/>
              <a:t>kaldt</a:t>
            </a:r>
            <a:r>
              <a:rPr lang="en-US" dirty="0"/>
              <a:t> </a:t>
            </a:r>
            <a:r>
              <a:rPr lang="en-US" dirty="0" err="1"/>
              <a:t>inkrementet</a:t>
            </a:r>
            <a:r>
              <a:rPr lang="en-US" dirty="0"/>
              <a:t>). Dette </a:t>
            </a:r>
            <a:r>
              <a:rPr lang="en-US" dirty="0" err="1"/>
              <a:t>kaldes</a:t>
            </a:r>
            <a:r>
              <a:rPr lang="en-US" dirty="0"/>
              <a:t> </a:t>
            </a:r>
            <a:r>
              <a:rPr lang="en-US" i="1" dirty="0"/>
              <a:t>h</a:t>
            </a:r>
            <a:r>
              <a:rPr lang="en-US" dirty="0"/>
              <a:t>-</a:t>
            </a:r>
            <a:r>
              <a:rPr lang="en-US" dirty="0" err="1"/>
              <a:t>sortering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Analysen</a:t>
            </a:r>
            <a:r>
              <a:rPr lang="en-US" dirty="0"/>
              <a:t> er </a:t>
            </a:r>
            <a:r>
              <a:rPr lang="en-US" dirty="0" err="1"/>
              <a:t>besværlig</a:t>
            </a:r>
            <a:r>
              <a:rPr lang="en-US" dirty="0"/>
              <a:t>. </a:t>
            </a:r>
            <a:r>
              <a:rPr lang="en-US" dirty="0" err="1"/>
              <a:t>Simuleringer</a:t>
            </a:r>
            <a:r>
              <a:rPr lang="en-US" dirty="0"/>
              <a:t> </a:t>
            </a:r>
            <a:r>
              <a:rPr lang="en-US" dirty="0" err="1"/>
              <a:t>antyder</a:t>
            </a:r>
            <a:r>
              <a:rPr lang="en-US" dirty="0"/>
              <a:t> best-case på O(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en-US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5/4</a:t>
            </a:r>
            <a:r>
              <a:rPr lang="en-US" dirty="0"/>
              <a:t>); men det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ikke</a:t>
            </a:r>
            <a:r>
              <a:rPr lang="en-US" dirty="0"/>
              <a:t> </a:t>
            </a:r>
            <a:r>
              <a:rPr lang="en-US" dirty="0" err="1"/>
              <a:t>bevises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Worst case er O(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en-US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/>
              <a:t>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94568562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EC210-2C14-AEBC-63FD-5F547E4BB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Shellsort</a:t>
            </a:r>
            <a:r>
              <a:rPr lang="en-US" dirty="0"/>
              <a:t> - </a:t>
            </a:r>
            <a:r>
              <a:rPr lang="en-US" dirty="0" err="1"/>
              <a:t>eksempel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8258A-2239-1CCD-212A-3220FBD1B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Orig.</a:t>
            </a:r>
          </a:p>
          <a:p>
            <a:pPr marL="0" indent="0">
              <a:buNone/>
            </a:pPr>
            <a:r>
              <a:rPr lang="en-US" dirty="0"/>
              <a:t>5</a:t>
            </a:r>
          </a:p>
          <a:p>
            <a:pPr marL="0" indent="0">
              <a:buNone/>
            </a:pPr>
            <a:r>
              <a:rPr lang="en-US" dirty="0"/>
              <a:t>3</a:t>
            </a:r>
          </a:p>
          <a:p>
            <a:pPr marL="0" indent="0">
              <a:buNone/>
            </a:pPr>
            <a:r>
              <a:rPr lang="en-US" dirty="0"/>
              <a:t>1</a:t>
            </a:r>
          </a:p>
          <a:p>
            <a:pPr marL="0" indent="0">
              <a:buNone/>
            </a:pPr>
            <a:r>
              <a:rPr lang="da-DK" dirty="0"/>
              <a:t>	</a:t>
            </a:r>
            <a:r>
              <a:rPr lang="da-DK" sz="2000" dirty="0"/>
              <a:t>   0       1         2        3        4        5        6       7      8       9      10      11     12  </a:t>
            </a:r>
          </a:p>
          <a:p>
            <a:pPr marL="0" indent="0">
              <a:buNone/>
            </a:pPr>
            <a:r>
              <a:rPr lang="da-DK" sz="2000" dirty="0"/>
              <a:t> 0,  5, 10		 1, 6, 11		 2, 7, 12		 3, 8		 4, 9</a:t>
            </a:r>
          </a:p>
          <a:p>
            <a:pPr marL="0" indent="0">
              <a:buNone/>
            </a:pPr>
            <a:r>
              <a:rPr lang="da-DK" sz="2000" dirty="0"/>
              <a:t>81,35,41		94,17,75		11,95,15		96,28		12,58</a:t>
            </a:r>
            <a:endParaRPr lang="da-DK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8FABCE6-5CA2-9F17-D9E2-098689FD45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229469"/>
              </p:ext>
            </p:extLst>
          </p:nvPr>
        </p:nvGraphicFramePr>
        <p:xfrm>
          <a:off x="1523995" y="1723496"/>
          <a:ext cx="7162805" cy="216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985">
                  <a:extLst>
                    <a:ext uri="{9D8B030D-6E8A-4147-A177-3AD203B41FA5}">
                      <a16:colId xmlns:a16="http://schemas.microsoft.com/office/drawing/2014/main" val="3525891990"/>
                    </a:ext>
                  </a:extLst>
                </a:gridCol>
                <a:gridCol w="550985">
                  <a:extLst>
                    <a:ext uri="{9D8B030D-6E8A-4147-A177-3AD203B41FA5}">
                      <a16:colId xmlns:a16="http://schemas.microsoft.com/office/drawing/2014/main" val="2306281983"/>
                    </a:ext>
                  </a:extLst>
                </a:gridCol>
                <a:gridCol w="550985">
                  <a:extLst>
                    <a:ext uri="{9D8B030D-6E8A-4147-A177-3AD203B41FA5}">
                      <a16:colId xmlns:a16="http://schemas.microsoft.com/office/drawing/2014/main" val="442337043"/>
                    </a:ext>
                  </a:extLst>
                </a:gridCol>
                <a:gridCol w="550985">
                  <a:extLst>
                    <a:ext uri="{9D8B030D-6E8A-4147-A177-3AD203B41FA5}">
                      <a16:colId xmlns:a16="http://schemas.microsoft.com/office/drawing/2014/main" val="1003624377"/>
                    </a:ext>
                  </a:extLst>
                </a:gridCol>
                <a:gridCol w="550985">
                  <a:extLst>
                    <a:ext uri="{9D8B030D-6E8A-4147-A177-3AD203B41FA5}">
                      <a16:colId xmlns:a16="http://schemas.microsoft.com/office/drawing/2014/main" val="2352795776"/>
                    </a:ext>
                  </a:extLst>
                </a:gridCol>
                <a:gridCol w="550985">
                  <a:extLst>
                    <a:ext uri="{9D8B030D-6E8A-4147-A177-3AD203B41FA5}">
                      <a16:colId xmlns:a16="http://schemas.microsoft.com/office/drawing/2014/main" val="2203544621"/>
                    </a:ext>
                  </a:extLst>
                </a:gridCol>
                <a:gridCol w="550985">
                  <a:extLst>
                    <a:ext uri="{9D8B030D-6E8A-4147-A177-3AD203B41FA5}">
                      <a16:colId xmlns:a16="http://schemas.microsoft.com/office/drawing/2014/main" val="1709094268"/>
                    </a:ext>
                  </a:extLst>
                </a:gridCol>
                <a:gridCol w="550985">
                  <a:extLst>
                    <a:ext uri="{9D8B030D-6E8A-4147-A177-3AD203B41FA5}">
                      <a16:colId xmlns:a16="http://schemas.microsoft.com/office/drawing/2014/main" val="3008132962"/>
                    </a:ext>
                  </a:extLst>
                </a:gridCol>
                <a:gridCol w="550985">
                  <a:extLst>
                    <a:ext uri="{9D8B030D-6E8A-4147-A177-3AD203B41FA5}">
                      <a16:colId xmlns:a16="http://schemas.microsoft.com/office/drawing/2014/main" val="3418735029"/>
                    </a:ext>
                  </a:extLst>
                </a:gridCol>
                <a:gridCol w="550985">
                  <a:extLst>
                    <a:ext uri="{9D8B030D-6E8A-4147-A177-3AD203B41FA5}">
                      <a16:colId xmlns:a16="http://schemas.microsoft.com/office/drawing/2014/main" val="4025096391"/>
                    </a:ext>
                  </a:extLst>
                </a:gridCol>
                <a:gridCol w="550985">
                  <a:extLst>
                    <a:ext uri="{9D8B030D-6E8A-4147-A177-3AD203B41FA5}">
                      <a16:colId xmlns:a16="http://schemas.microsoft.com/office/drawing/2014/main" val="3312952235"/>
                    </a:ext>
                  </a:extLst>
                </a:gridCol>
                <a:gridCol w="550985">
                  <a:extLst>
                    <a:ext uri="{9D8B030D-6E8A-4147-A177-3AD203B41FA5}">
                      <a16:colId xmlns:a16="http://schemas.microsoft.com/office/drawing/2014/main" val="3024571011"/>
                    </a:ext>
                  </a:extLst>
                </a:gridCol>
                <a:gridCol w="550985">
                  <a:extLst>
                    <a:ext uri="{9D8B030D-6E8A-4147-A177-3AD203B41FA5}">
                      <a16:colId xmlns:a16="http://schemas.microsoft.com/office/drawing/2014/main" val="3190652636"/>
                    </a:ext>
                  </a:extLst>
                </a:gridCol>
              </a:tblGrid>
              <a:tr h="540060">
                <a:tc>
                  <a:txBody>
                    <a:bodyPr/>
                    <a:lstStyle/>
                    <a:p>
                      <a:r>
                        <a:rPr lang="en-US" dirty="0"/>
                        <a:t>81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94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96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28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58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41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0990950"/>
                  </a:ext>
                </a:extLst>
              </a:tr>
              <a:tr h="540060">
                <a:tc>
                  <a:txBody>
                    <a:bodyPr/>
                    <a:lstStyle/>
                    <a:p>
                      <a:r>
                        <a:rPr lang="en-US" dirty="0"/>
                        <a:t>35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28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41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96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58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81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94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246781"/>
                  </a:ext>
                </a:extLst>
              </a:tr>
              <a:tr h="540060">
                <a:tc>
                  <a:txBody>
                    <a:bodyPr/>
                    <a:lstStyle/>
                    <a:p>
                      <a:r>
                        <a:rPr lang="en-US" dirty="0"/>
                        <a:t>28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41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58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94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81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96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216012"/>
                  </a:ext>
                </a:extLst>
              </a:tr>
              <a:tr h="540060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28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41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58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81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94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96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22865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0768584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16E9-9984-D2D8-B486-8E7DF45C6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Shellsort</a:t>
            </a:r>
            <a:r>
              <a:rPr lang="en-US" dirty="0"/>
              <a:t> - </a:t>
            </a:r>
            <a:r>
              <a:rPr lang="en-US" dirty="0" err="1"/>
              <a:t>eksperimenter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A7DAA-73F1-EDA3-A3AF-87AAF5ECF5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N = 1024</a:t>
            </a:r>
          </a:p>
          <a:p>
            <a:pPr marL="0" indent="0">
              <a:buNone/>
            </a:pPr>
            <a:endParaRPr lang="en-US" dirty="0"/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/>
              <a:t>	</a:t>
            </a:r>
            <a:r>
              <a:rPr lang="en-US" sz="2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Shellsort</a:t>
            </a: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 58.893	N</a:t>
            </a:r>
            <a:r>
              <a:rPr lang="en-US" sz="2800" kern="1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1,58</a:t>
            </a:r>
            <a:endParaRPr lang="da-DK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2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Bubblesort</a:t>
            </a: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261.563	N</a:t>
            </a:r>
            <a:r>
              <a:rPr lang="en-US" sz="2800" kern="1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/4</a:t>
            </a:r>
            <a:endParaRPr lang="da-DK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1024</a:t>
            </a:r>
            <a:r>
              <a:rPr lang="en-US" sz="2800" kern="1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          1.048.56</a:t>
            </a:r>
            <a:endParaRPr lang="da-DK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13463570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Shellsort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Som </a:t>
            </a:r>
            <a:r>
              <a:rPr lang="en-US" dirty="0" err="1"/>
              <a:t>eksemplet</a:t>
            </a:r>
            <a:r>
              <a:rPr lang="en-US" dirty="0"/>
              <a:t> </a:t>
            </a:r>
            <a:r>
              <a:rPr lang="en-US" dirty="0" err="1"/>
              <a:t>illustrerer</a:t>
            </a:r>
            <a:r>
              <a:rPr lang="en-US" dirty="0"/>
              <a:t>, er de subarrays,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Shellsort</a:t>
            </a:r>
            <a:r>
              <a:rPr lang="en-US" dirty="0"/>
              <a:t> </a:t>
            </a:r>
            <a:r>
              <a:rPr lang="en-US" dirty="0" err="1"/>
              <a:t>opererer</a:t>
            </a:r>
            <a:r>
              <a:rPr lang="en-US" dirty="0"/>
              <a:t> på </a:t>
            </a:r>
            <a:r>
              <a:rPr lang="en-US" dirty="0" err="1"/>
              <a:t>små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at </a:t>
            </a:r>
            <a:r>
              <a:rPr lang="en-US" dirty="0" err="1"/>
              <a:t>starte</a:t>
            </a:r>
            <a:r>
              <a:rPr lang="en-US" dirty="0"/>
              <a:t> med; </a:t>
            </a:r>
            <a:r>
              <a:rPr lang="en-US" dirty="0" err="1"/>
              <a:t>senere</a:t>
            </a:r>
            <a:r>
              <a:rPr lang="en-US" dirty="0"/>
              <a:t> </a:t>
            </a:r>
            <a:r>
              <a:rPr lang="en-US" dirty="0" err="1"/>
              <a:t>bliver</a:t>
            </a:r>
            <a:r>
              <a:rPr lang="en-US" dirty="0"/>
              <a:t> de </a:t>
            </a:r>
            <a:r>
              <a:rPr lang="en-US" dirty="0" err="1"/>
              <a:t>større</a:t>
            </a:r>
            <a:r>
              <a:rPr lang="en-US" dirty="0"/>
              <a:t>, men </a:t>
            </a:r>
            <a:r>
              <a:rPr lang="en-US" dirty="0" err="1"/>
              <a:t>næsten</a:t>
            </a:r>
            <a:r>
              <a:rPr lang="en-US" dirty="0"/>
              <a:t> </a:t>
            </a:r>
            <a:r>
              <a:rPr lang="en-US" dirty="0" err="1"/>
              <a:t>sorterede</a:t>
            </a:r>
            <a:r>
              <a:rPr lang="en-US" dirty="0"/>
              <a:t>. I </a:t>
            </a:r>
            <a:r>
              <a:rPr lang="en-US" dirty="0" err="1"/>
              <a:t>begge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</a:t>
            </a:r>
            <a:r>
              <a:rPr lang="en-US" dirty="0" err="1"/>
              <a:t>fælde</a:t>
            </a:r>
            <a:r>
              <a:rPr lang="en-US" dirty="0"/>
              <a:t> er insertion sort </a:t>
            </a:r>
            <a:r>
              <a:rPr lang="en-US" dirty="0" err="1"/>
              <a:t>effektiv</a:t>
            </a:r>
            <a:r>
              <a:rPr lang="en-US" dirty="0"/>
              <a:t>.</a:t>
            </a:r>
          </a:p>
          <a:p>
            <a:r>
              <a:rPr lang="en-US" dirty="0" err="1"/>
              <a:t>Shellsort</a:t>
            </a:r>
            <a:r>
              <a:rPr lang="en-US" dirty="0"/>
              <a:t> is </a:t>
            </a:r>
            <a:r>
              <a:rPr lang="en-US" dirty="0" err="1">
                <a:hlinkClick r:id="rId2" action="ppaction://hlinkfile" tooltip="Sorting algorithm"/>
              </a:rPr>
              <a:t>ustabil</a:t>
            </a:r>
            <a:r>
              <a:rPr lang="en-US" dirty="0"/>
              <a:t>: det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forekomme</a:t>
            </a:r>
            <a:r>
              <a:rPr lang="en-US" dirty="0"/>
              <a:t>, at den </a:t>
            </a:r>
            <a:r>
              <a:rPr lang="en-US" dirty="0" err="1"/>
              <a:t>ændrer</a:t>
            </a:r>
            <a:r>
              <a:rPr lang="en-US" dirty="0"/>
              <a:t> </a:t>
            </a:r>
            <a:r>
              <a:rPr lang="en-US" dirty="0" err="1"/>
              <a:t>rækkefølgen</a:t>
            </a:r>
            <a:r>
              <a:rPr lang="en-US" dirty="0"/>
              <a:t> af </a:t>
            </a:r>
            <a:r>
              <a:rPr lang="en-US" dirty="0" err="1"/>
              <a:t>elementer</a:t>
            </a:r>
            <a:r>
              <a:rPr lang="en-US" dirty="0"/>
              <a:t> med </a:t>
            </a:r>
            <a:r>
              <a:rPr lang="en-US" dirty="0" err="1"/>
              <a:t>samme</a:t>
            </a:r>
            <a:r>
              <a:rPr lang="en-US" dirty="0"/>
              <a:t> </a:t>
            </a:r>
            <a:r>
              <a:rPr lang="en-US" dirty="0" err="1"/>
              <a:t>værdi</a:t>
            </a:r>
            <a:r>
              <a:rPr lang="en-US" dirty="0"/>
              <a:t>. </a:t>
            </a:r>
          </a:p>
          <a:p>
            <a:r>
              <a:rPr lang="en-US" dirty="0"/>
              <a:t>Den </a:t>
            </a:r>
            <a:r>
              <a:rPr lang="en-US" dirty="0" err="1"/>
              <a:t>har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‘</a:t>
            </a:r>
            <a:r>
              <a:rPr lang="en-US" dirty="0" err="1"/>
              <a:t>naturlig</a:t>
            </a:r>
            <a:r>
              <a:rPr lang="en-US" dirty="0"/>
              <a:t>’ </a:t>
            </a:r>
            <a:r>
              <a:rPr lang="en-US" dirty="0" err="1"/>
              <a:t>adfærd</a:t>
            </a:r>
            <a:r>
              <a:rPr lang="en-US" dirty="0"/>
              <a:t> (</a:t>
            </a:r>
            <a:r>
              <a:rPr lang="en-US" dirty="0" err="1"/>
              <a:t>lige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bubblesort</a:t>
            </a:r>
            <a:r>
              <a:rPr lang="en-US" dirty="0"/>
              <a:t>), </a:t>
            </a:r>
            <a:r>
              <a:rPr lang="en-US" dirty="0" err="1"/>
              <a:t>eftersom</a:t>
            </a:r>
            <a:r>
              <a:rPr lang="en-US" dirty="0"/>
              <a:t> den </a:t>
            </a:r>
            <a:r>
              <a:rPr lang="en-US" dirty="0" err="1"/>
              <a:t>afvikles</a:t>
            </a:r>
            <a:r>
              <a:rPr lang="en-US" dirty="0"/>
              <a:t> </a:t>
            </a:r>
            <a:r>
              <a:rPr lang="en-US" dirty="0" err="1"/>
              <a:t>hurtigere</a:t>
            </a:r>
            <a:r>
              <a:rPr lang="en-US" dirty="0"/>
              <a:t>, </a:t>
            </a:r>
            <a:r>
              <a:rPr lang="en-US" dirty="0" err="1"/>
              <a:t>hvis</a:t>
            </a:r>
            <a:r>
              <a:rPr lang="en-US" dirty="0"/>
              <a:t> </a:t>
            </a:r>
            <a:r>
              <a:rPr lang="en-US" dirty="0" err="1"/>
              <a:t>tabellen</a:t>
            </a:r>
            <a:r>
              <a:rPr lang="en-US" dirty="0"/>
              <a:t> er </a:t>
            </a:r>
            <a:r>
              <a:rPr lang="en-US" dirty="0" err="1"/>
              <a:t>relativt</a:t>
            </a:r>
            <a:r>
              <a:rPr lang="en-US" dirty="0"/>
              <a:t> </a:t>
            </a:r>
            <a:r>
              <a:rPr lang="en-US" dirty="0" err="1"/>
              <a:t>sorteret</a:t>
            </a:r>
            <a:r>
              <a:rPr lang="en-US" dirty="0"/>
              <a:t> (</a:t>
            </a:r>
            <a:r>
              <a:rPr lang="en-US" dirty="0" err="1"/>
              <a:t>få</a:t>
            </a:r>
            <a:r>
              <a:rPr lang="en-US" dirty="0"/>
              <a:t> inversions).</a:t>
            </a:r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680793826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>
                <a:latin typeface="Times New Roman" pitchFamily="18" charset="0"/>
                <a:cs typeface="Times New Roman" pitchFamily="18" charset="0"/>
              </a:rPr>
              <a:t>bucketSort</a:t>
            </a:r>
            <a:r>
              <a:rPr lang="da-DK" dirty="0">
                <a:latin typeface="Times New Roman" pitchFamily="18" charset="0"/>
                <a:cs typeface="Times New Roman" pitchFamily="18" charset="0"/>
              </a:rPr>
              <a:t>()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a-DK" dirty="0"/>
              <a:t>Under særlige omstændigheder kan vi gøre det bedre end O(N log N).</a:t>
            </a:r>
          </a:p>
          <a:p>
            <a:r>
              <a:rPr lang="da-DK" dirty="0"/>
              <a:t>Hvis vi skal sortere positive heltal med en maksimumsværdi M, kan vi løse problemet ved først at lave et array med plads til M elementer. </a:t>
            </a:r>
          </a:p>
          <a:p>
            <a:r>
              <a:rPr lang="da-DK" dirty="0"/>
              <a:t>Tallene læses fra ende til anden, og når værdien X læses, så </a:t>
            </a:r>
            <a:r>
              <a:rPr lang="da-DK" dirty="0" err="1"/>
              <a:t>inkrementeres</a:t>
            </a:r>
            <a:r>
              <a:rPr lang="da-DK" dirty="0"/>
              <a:t> M[X] med en.</a:t>
            </a:r>
          </a:p>
          <a:p>
            <a:r>
              <a:rPr lang="da-DK" dirty="0"/>
              <a:t>Når alle tal er læst, kan det sorterede array etableres i overensstemmelse med antallet af forekomster i indekserne. </a:t>
            </a:r>
          </a:p>
          <a:p>
            <a:r>
              <a:rPr lang="da-DK" dirty="0" err="1"/>
              <a:t>Tidskomplekstet</a:t>
            </a:r>
            <a:r>
              <a:rPr lang="da-DK" dirty="0"/>
              <a:t> O(M+N) -&gt; O(N).</a:t>
            </a:r>
          </a:p>
        </p:txBody>
      </p:sp>
    </p:spTree>
    <p:extLst>
      <p:ext uri="{BB962C8B-B14F-4D97-AF65-F5344CB8AC3E}">
        <p14:creationId xmlns:p14="http://schemas.microsoft.com/office/powerpoint/2010/main" val="186706538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Sortering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Den nedre grænse for sortering, hvis der kun anvendes sammenligninger, er: Ω(N log N).</a:t>
            </a:r>
          </a:p>
          <a:p>
            <a:r>
              <a:rPr lang="da-DK" dirty="0"/>
              <a:t>Det kan vises ved at tilføje alle sammenligninger til et binært træ (sektion 7.8).</a:t>
            </a:r>
          </a:p>
          <a:p>
            <a:r>
              <a:rPr lang="da-DK" dirty="0"/>
              <a:t>Der er forskel på </a:t>
            </a:r>
            <a:r>
              <a:rPr lang="da-DK" i="1" dirty="0" err="1"/>
              <a:t>lower</a:t>
            </a:r>
            <a:r>
              <a:rPr lang="da-DK" i="1" dirty="0"/>
              <a:t> </a:t>
            </a:r>
            <a:r>
              <a:rPr lang="da-DK" i="1" dirty="0" err="1"/>
              <a:t>bound</a:t>
            </a:r>
            <a:r>
              <a:rPr lang="da-DK" i="1" dirty="0"/>
              <a:t> </a:t>
            </a:r>
            <a:r>
              <a:rPr lang="da-DK" dirty="0"/>
              <a:t>and </a:t>
            </a:r>
            <a:r>
              <a:rPr lang="da-DK" i="1" dirty="0" err="1"/>
              <a:t>best</a:t>
            </a:r>
            <a:r>
              <a:rPr lang="da-DK" i="1" dirty="0"/>
              <a:t> case</a:t>
            </a:r>
            <a:r>
              <a:rPr lang="da-DK" dirty="0"/>
              <a:t>.</a:t>
            </a:r>
          </a:p>
          <a:p>
            <a:endParaRPr lang="da-DK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16872280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Konklusion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a-DK" dirty="0"/>
              <a:t>Inversions</a:t>
            </a:r>
          </a:p>
          <a:p>
            <a:r>
              <a:rPr lang="da-DK" dirty="0"/>
              <a:t>O(N</a:t>
            </a:r>
            <a:r>
              <a:rPr lang="da-DK" baseline="30000" dirty="0"/>
              <a:t>2</a:t>
            </a:r>
            <a:r>
              <a:rPr lang="da-DK" dirty="0"/>
              <a:t>) – </a:t>
            </a:r>
            <a:r>
              <a:rPr lang="da-DK" dirty="0" err="1"/>
              <a:t>bubble</a:t>
            </a:r>
            <a:r>
              <a:rPr lang="da-DK" dirty="0"/>
              <a:t>, </a:t>
            </a:r>
            <a:r>
              <a:rPr lang="da-DK" dirty="0" err="1"/>
              <a:t>insertion</a:t>
            </a:r>
            <a:r>
              <a:rPr lang="da-DK" dirty="0"/>
              <a:t>, </a:t>
            </a:r>
            <a:r>
              <a:rPr lang="da-DK" dirty="0" err="1"/>
              <a:t>selection</a:t>
            </a:r>
            <a:endParaRPr lang="da-DK" dirty="0"/>
          </a:p>
          <a:p>
            <a:r>
              <a:rPr lang="da-DK" dirty="0"/>
              <a:t>O(N log N) – </a:t>
            </a:r>
            <a:r>
              <a:rPr lang="da-DK" dirty="0" err="1"/>
              <a:t>heap</a:t>
            </a:r>
            <a:r>
              <a:rPr lang="da-DK" dirty="0"/>
              <a:t>, </a:t>
            </a:r>
            <a:r>
              <a:rPr lang="da-DK" dirty="0" err="1"/>
              <a:t>quick</a:t>
            </a:r>
            <a:r>
              <a:rPr lang="da-DK" dirty="0"/>
              <a:t>, </a:t>
            </a:r>
            <a:r>
              <a:rPr lang="da-DK" dirty="0" err="1"/>
              <a:t>merge</a:t>
            </a:r>
            <a:endParaRPr lang="da-DK" dirty="0"/>
          </a:p>
          <a:p>
            <a:r>
              <a:rPr lang="da-DK" dirty="0"/>
              <a:t>O(N) - </a:t>
            </a:r>
            <a:r>
              <a:rPr lang="da-DK"/>
              <a:t>bucket</a:t>
            </a:r>
            <a:endParaRPr lang="da-DK" dirty="0"/>
          </a:p>
          <a:p>
            <a:r>
              <a:rPr lang="da-DK" dirty="0"/>
              <a:t>Vælg den mest hensigtsmæssige på baggrund af det talmateriale, der skal sorteres.</a:t>
            </a:r>
          </a:p>
          <a:p>
            <a:r>
              <a:rPr lang="da-DK" dirty="0"/>
              <a:t>Problemet er næppe vigtigt, hvis der er færre end 100.000 ikke alt for store objekter, og sorteringen derfor kan udføres i </a:t>
            </a:r>
            <a:r>
              <a:rPr lang="da-DK" dirty="0" err="1"/>
              <a:t>memory</a:t>
            </a:r>
            <a:r>
              <a:rPr lang="da-DK" dirty="0"/>
              <a:t>.</a:t>
            </a: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1696364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Animated</a:t>
            </a:r>
            <a:r>
              <a:rPr lang="da-DK" dirty="0"/>
              <a:t> </a:t>
            </a:r>
            <a:r>
              <a:rPr lang="da-DK" dirty="0" err="1"/>
              <a:t>Hungarian</a:t>
            </a:r>
            <a:r>
              <a:rPr lang="da-DK" dirty="0"/>
              <a:t> </a:t>
            </a:r>
            <a:r>
              <a:rPr lang="da-DK" dirty="0" err="1"/>
              <a:t>QuickSort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>
                <a:hlinkClick r:id="rId2"/>
              </a:rPr>
              <a:t>https://www.youtube.com/watch?v=ywWBy6J5gz8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133145466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E69182-3F1C-4838-9723-163CE14E0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Exercises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2DD2434-76A7-4F8E-907A-500537C585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AutoNum type="arabicPeriod"/>
            </a:pPr>
            <a:r>
              <a:rPr lang="da-DK" dirty="0"/>
              <a:t>En tabel indeholder N sorterede heltal. Opgaven går ud på at afgøre om tabellen indeholder to tal, hvis sum er lig med parameteren X. Metoden skal skrives i to udgaver: én med kvadratisk tidskompleksitet og en med lineær.</a:t>
            </a:r>
          </a:p>
          <a:p>
            <a:pPr marL="514350" indent="-514350">
              <a:buAutoNum type="arabicPeriod"/>
            </a:pPr>
            <a:r>
              <a:rPr lang="da-DK" dirty="0"/>
              <a:t>Ordene </a:t>
            </a:r>
            <a:r>
              <a:rPr lang="da-DK" i="1" dirty="0" err="1"/>
              <a:t>stale</a:t>
            </a:r>
            <a:r>
              <a:rPr lang="da-DK" i="1" dirty="0"/>
              <a:t> og</a:t>
            </a:r>
            <a:r>
              <a:rPr lang="da-DK" dirty="0"/>
              <a:t> </a:t>
            </a:r>
            <a:r>
              <a:rPr lang="da-DK" i="1" dirty="0" err="1"/>
              <a:t>least</a:t>
            </a:r>
            <a:r>
              <a:rPr lang="da-DK" dirty="0"/>
              <a:t> er anagrammer, dvs. de indeholder nøjagtig de samme karakterer. Skriv en metode, som kan afgøre, om to ord (</a:t>
            </a:r>
            <a:r>
              <a:rPr lang="da-DK" dirty="0" err="1"/>
              <a:t>strings</a:t>
            </a:r>
            <a:r>
              <a:rPr lang="da-DK" dirty="0"/>
              <a:t>) er anagrammer.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Øvelser fra lærebogen med </a:t>
            </a:r>
            <a:r>
              <a:rPr lang="da-DK"/>
              <a:t>stigende sværhedsgrad.</a:t>
            </a:r>
            <a:endParaRPr lang="da-DK" dirty="0"/>
          </a:p>
          <a:p>
            <a:pPr marL="0" indent="0" algn="ctr">
              <a:buNone/>
            </a:pPr>
            <a:r>
              <a:rPr lang="da-DK" dirty="0"/>
              <a:t>7.44 </a:t>
            </a:r>
          </a:p>
          <a:p>
            <a:pPr marL="0" indent="0" algn="ctr">
              <a:buNone/>
            </a:pPr>
            <a:r>
              <a:rPr lang="da-DK" dirty="0"/>
              <a:t>7.38</a:t>
            </a:r>
          </a:p>
          <a:p>
            <a:pPr marL="0" indent="0" algn="ctr">
              <a:buNone/>
            </a:pPr>
            <a:r>
              <a:rPr lang="da-DK" dirty="0"/>
              <a:t>  7.43*</a:t>
            </a:r>
          </a:p>
          <a:p>
            <a:pPr marL="0" indent="0" algn="ctr">
              <a:buNone/>
            </a:pPr>
            <a:r>
              <a:rPr lang="da-DK" dirty="0"/>
              <a:t>  7.40*</a:t>
            </a:r>
          </a:p>
        </p:txBody>
      </p:sp>
    </p:spTree>
    <p:extLst>
      <p:ext uri="{BB962C8B-B14F-4D97-AF65-F5344CB8AC3E}">
        <p14:creationId xmlns:p14="http://schemas.microsoft.com/office/powerpoint/2010/main" val="160716498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A419C-30AF-37B6-7C39-250A0F998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3C60A7-6C5B-4031-20C1-3695E9EE5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Mergesort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66A4578-7099-0104-5804-F2C772890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	private static &lt;AnyType extends Comparable&lt;? super AnyType&gt;&gt;</a:t>
            </a:r>
          </a:p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    void mergeSort( AnyType [ ] a, AnyType [ ] tmpArray, int left, int right )</a:t>
            </a:r>
          </a:p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        if( left &lt; right )</a:t>
            </a:r>
          </a:p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        {</a:t>
            </a:r>
          </a:p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            int center = ( left + right ) / 2;</a:t>
            </a:r>
          </a:p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            mergeSort( a, tmpArray, left, center );</a:t>
            </a:r>
          </a:p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            mergeSort( a, tmpArray, center + 1, right );</a:t>
            </a:r>
          </a:p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            merge( a, tmpArray, left, center + 1, right );</a:t>
            </a:r>
          </a:p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        }</a:t>
            </a:r>
          </a:p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    </a:t>
            </a:r>
          </a:p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    /**</a:t>
            </a:r>
          </a:p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     * Mergesort algorithm.</a:t>
            </a:r>
          </a:p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     * @param a an array of Comparable items.</a:t>
            </a:r>
          </a:p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     */</a:t>
            </a:r>
          </a:p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    public static &lt;AnyType extends Comparable&lt;? super AnyType&gt;&gt;</a:t>
            </a:r>
          </a:p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    void mergeSort( AnyType [ ] a )</a:t>
            </a:r>
          </a:p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        AnyType [ ] tmpArray = (AnyType[]) new Comparable[ a.length ];</a:t>
            </a:r>
          </a:p>
          <a:p>
            <a:pPr>
              <a:buNone/>
            </a:pPr>
            <a:endParaRPr lang="da-DK" sz="240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        mergeSort( a, tmpArray, 0, a.length - 1 );</a:t>
            </a:r>
          </a:p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2565688809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Hvad er rekurrens?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dirty="0"/>
          </a:p>
          <a:p>
            <a:r>
              <a:rPr dirty="0"/>
              <a:t>En </a:t>
            </a:r>
            <a:r>
              <a:rPr dirty="0" err="1"/>
              <a:t>rekurrens</a:t>
            </a:r>
            <a:r>
              <a:rPr dirty="0"/>
              <a:t> (recurrence) er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ligning</a:t>
            </a:r>
            <a:r>
              <a:rPr dirty="0"/>
              <a:t>, der </a:t>
            </a:r>
            <a:r>
              <a:rPr dirty="0" err="1"/>
              <a:t>beskriver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funktion</a:t>
            </a:r>
            <a:r>
              <a:rPr dirty="0"/>
              <a:t> </a:t>
            </a:r>
            <a:r>
              <a:rPr dirty="0" err="1"/>
              <a:t>ud</a:t>
            </a:r>
            <a:r>
              <a:rPr dirty="0"/>
              <a:t> </a:t>
            </a:r>
            <a:r>
              <a:rPr dirty="0" err="1"/>
              <a:t>fra</a:t>
            </a:r>
            <a:r>
              <a:rPr dirty="0"/>
              <a:t> dens </a:t>
            </a:r>
            <a:r>
              <a:rPr dirty="0" err="1"/>
              <a:t>værdi</a:t>
            </a:r>
            <a:r>
              <a:rPr dirty="0"/>
              <a:t> på </a:t>
            </a:r>
            <a:r>
              <a:rPr dirty="0" err="1"/>
              <a:t>mindre</a:t>
            </a:r>
            <a:r>
              <a:rPr dirty="0"/>
              <a:t> input.</a:t>
            </a:r>
            <a:endParaRPr lang="da-DK" dirty="0"/>
          </a:p>
          <a:p>
            <a:r>
              <a:rPr lang="da-DK" dirty="0"/>
              <a:t>Eksempel: T(N) = 2T(N/2)+N </a:t>
            </a:r>
            <a:endParaRPr dirty="0"/>
          </a:p>
          <a:p>
            <a:r>
              <a:rPr dirty="0"/>
              <a:t>Bruges </a:t>
            </a:r>
            <a:r>
              <a:rPr dirty="0" err="1"/>
              <a:t>især</a:t>
            </a:r>
            <a:r>
              <a:rPr dirty="0"/>
              <a:t> </a:t>
            </a:r>
            <a:r>
              <a:rPr dirty="0" err="1"/>
              <a:t>til</a:t>
            </a:r>
            <a:r>
              <a:rPr dirty="0"/>
              <a:t> at </a:t>
            </a:r>
            <a:r>
              <a:rPr dirty="0" err="1"/>
              <a:t>analysere</a:t>
            </a:r>
            <a:r>
              <a:rPr dirty="0"/>
              <a:t> </a:t>
            </a:r>
            <a:r>
              <a:rPr dirty="0" err="1"/>
              <a:t>rekursive</a:t>
            </a:r>
            <a:r>
              <a:rPr dirty="0"/>
              <a:t> </a:t>
            </a:r>
            <a:r>
              <a:rPr dirty="0" err="1"/>
              <a:t>algoritmer</a:t>
            </a:r>
            <a:r>
              <a:rPr dirty="0"/>
              <a:t>.</a:t>
            </a:r>
          </a:p>
          <a:p>
            <a:r>
              <a:rPr dirty="0"/>
              <a:t>Viser, </a:t>
            </a:r>
            <a:r>
              <a:rPr dirty="0" err="1"/>
              <a:t>hvordan</a:t>
            </a:r>
            <a:r>
              <a:rPr dirty="0"/>
              <a:t> </a:t>
            </a:r>
            <a:r>
              <a:rPr dirty="0" err="1"/>
              <a:t>problemet</a:t>
            </a:r>
            <a:r>
              <a:rPr dirty="0"/>
              <a:t> </a:t>
            </a:r>
            <a:r>
              <a:rPr dirty="0" err="1"/>
              <a:t>nedbrydes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delproblemer</a:t>
            </a:r>
            <a:r>
              <a:rPr dirty="0"/>
              <a:t>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Eksempel på rekurrens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Eksempel </a:t>
            </a:r>
            <a:r>
              <a:rPr dirty="0" err="1"/>
              <a:t>fra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algoritme</a:t>
            </a:r>
            <a:r>
              <a:rPr dirty="0"/>
              <a:t>, der </a:t>
            </a:r>
            <a:r>
              <a:rPr dirty="0" err="1"/>
              <a:t>opdeler</a:t>
            </a:r>
            <a:r>
              <a:rPr dirty="0"/>
              <a:t> </a:t>
            </a:r>
            <a:r>
              <a:rPr dirty="0" err="1"/>
              <a:t>problemet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to </a:t>
            </a:r>
            <a:r>
              <a:rPr dirty="0" err="1"/>
              <a:t>halvdele</a:t>
            </a:r>
            <a:r>
              <a:rPr dirty="0"/>
              <a:t> </a:t>
            </a:r>
            <a:r>
              <a:rPr dirty="0" err="1"/>
              <a:t>og</a:t>
            </a:r>
            <a:r>
              <a:rPr dirty="0"/>
              <a:t> </a:t>
            </a:r>
            <a:r>
              <a:rPr dirty="0" err="1"/>
              <a:t>samler</a:t>
            </a:r>
            <a:r>
              <a:rPr dirty="0"/>
              <a:t> </a:t>
            </a:r>
            <a:r>
              <a:rPr dirty="0" err="1"/>
              <a:t>resultaterne</a:t>
            </a:r>
            <a:r>
              <a:rPr dirty="0"/>
              <a:t> på </a:t>
            </a:r>
            <a:r>
              <a:rPr dirty="0" err="1"/>
              <a:t>lineær</a:t>
            </a:r>
            <a:r>
              <a:rPr dirty="0"/>
              <a:t> </a:t>
            </a:r>
            <a:r>
              <a:rPr dirty="0" err="1"/>
              <a:t>tid</a:t>
            </a:r>
            <a:r>
              <a:rPr dirty="0"/>
              <a:t>:</a:t>
            </a:r>
          </a:p>
          <a:p>
            <a:r>
              <a:rPr dirty="0"/>
              <a:t>T(</a:t>
            </a:r>
            <a:r>
              <a:rPr lang="da-DK" dirty="0"/>
              <a:t>N</a:t>
            </a:r>
            <a:r>
              <a:rPr dirty="0"/>
              <a:t>) = 2T(</a:t>
            </a:r>
            <a:r>
              <a:rPr lang="da-DK" dirty="0"/>
              <a:t>N</a:t>
            </a:r>
            <a:r>
              <a:rPr dirty="0"/>
              <a:t>/2) + </a:t>
            </a:r>
            <a:r>
              <a:rPr lang="da-DK" dirty="0"/>
              <a:t>N</a:t>
            </a:r>
            <a:endParaRPr dirty="0"/>
          </a:p>
          <a:p>
            <a:r>
              <a:rPr dirty="0"/>
              <a:t>To </a:t>
            </a:r>
            <a:r>
              <a:rPr dirty="0" err="1"/>
              <a:t>rekursive</a:t>
            </a:r>
            <a:r>
              <a:rPr dirty="0"/>
              <a:t> </a:t>
            </a:r>
            <a:r>
              <a:rPr dirty="0" err="1"/>
              <a:t>kald</a:t>
            </a:r>
            <a:r>
              <a:rPr dirty="0"/>
              <a:t> på </a:t>
            </a:r>
            <a:r>
              <a:rPr dirty="0" err="1"/>
              <a:t>størrelse</a:t>
            </a:r>
            <a:r>
              <a:rPr dirty="0"/>
              <a:t> </a:t>
            </a:r>
            <a:r>
              <a:rPr lang="da-DK" dirty="0"/>
              <a:t>N</a:t>
            </a:r>
            <a:r>
              <a:rPr dirty="0"/>
              <a:t>/2</a:t>
            </a:r>
          </a:p>
          <a:p>
            <a:r>
              <a:rPr dirty="0"/>
              <a:t>Plus </a:t>
            </a:r>
            <a:r>
              <a:rPr dirty="0" err="1"/>
              <a:t>lineært</a:t>
            </a:r>
            <a:r>
              <a:rPr dirty="0"/>
              <a:t> </a:t>
            </a:r>
            <a:r>
              <a:rPr dirty="0" err="1"/>
              <a:t>arbejde</a:t>
            </a:r>
            <a:r>
              <a:rPr dirty="0"/>
              <a:t> for at </a:t>
            </a:r>
            <a:r>
              <a:rPr dirty="0" err="1"/>
              <a:t>kombinere</a:t>
            </a:r>
            <a:r>
              <a:rPr dirty="0"/>
              <a:t> </a:t>
            </a:r>
            <a:r>
              <a:rPr dirty="0" err="1"/>
              <a:t>resultaterne</a:t>
            </a:r>
            <a:r>
              <a:rPr dirty="0"/>
              <a:t>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Hvorfor er rekurrenser vigtige?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dirty="0"/>
          </a:p>
          <a:p>
            <a:r>
              <a:rPr dirty="0"/>
              <a:t>Bruges </a:t>
            </a:r>
            <a:r>
              <a:rPr dirty="0" err="1"/>
              <a:t>til</a:t>
            </a:r>
            <a:r>
              <a:rPr dirty="0"/>
              <a:t> at </a:t>
            </a:r>
            <a:r>
              <a:rPr dirty="0" err="1"/>
              <a:t>forudsige</a:t>
            </a:r>
            <a:r>
              <a:rPr dirty="0"/>
              <a:t> </a:t>
            </a:r>
            <a:r>
              <a:rPr dirty="0" err="1"/>
              <a:t>køretiden</a:t>
            </a:r>
            <a:r>
              <a:rPr dirty="0"/>
              <a:t> for </a:t>
            </a:r>
            <a:r>
              <a:rPr dirty="0" err="1"/>
              <a:t>rekursive</a:t>
            </a:r>
            <a:r>
              <a:rPr dirty="0"/>
              <a:t> </a:t>
            </a:r>
            <a:r>
              <a:rPr dirty="0" err="1"/>
              <a:t>algoritmer</a:t>
            </a:r>
            <a:r>
              <a:rPr dirty="0"/>
              <a:t>.</a:t>
            </a:r>
          </a:p>
          <a:p>
            <a:r>
              <a:rPr dirty="0" err="1"/>
              <a:t>Hjælper</a:t>
            </a:r>
            <a:r>
              <a:rPr dirty="0"/>
              <a:t> med at </a:t>
            </a:r>
            <a:r>
              <a:rPr dirty="0" err="1"/>
              <a:t>forstå</a:t>
            </a:r>
            <a:r>
              <a:rPr dirty="0"/>
              <a:t> </a:t>
            </a:r>
            <a:r>
              <a:rPr dirty="0" err="1"/>
              <a:t>væksten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beregningstid</a:t>
            </a:r>
            <a:r>
              <a:rPr dirty="0"/>
              <a:t>, </a:t>
            </a:r>
            <a:r>
              <a:rPr dirty="0" err="1"/>
              <a:t>når</a:t>
            </a:r>
            <a:r>
              <a:rPr dirty="0"/>
              <a:t> input </a:t>
            </a:r>
            <a:r>
              <a:rPr dirty="0" err="1"/>
              <a:t>vokser</a:t>
            </a:r>
            <a:r>
              <a:rPr dirty="0"/>
              <a:t>.</a:t>
            </a:r>
          </a:p>
          <a:p>
            <a:r>
              <a:rPr dirty="0" err="1"/>
              <a:t>Typiske</a:t>
            </a:r>
            <a:r>
              <a:rPr dirty="0"/>
              <a:t> </a:t>
            </a:r>
            <a:r>
              <a:rPr dirty="0" err="1"/>
              <a:t>anvendelser</a:t>
            </a:r>
            <a:r>
              <a:rPr dirty="0"/>
              <a:t>:</a:t>
            </a:r>
          </a:p>
          <a:p>
            <a:r>
              <a:rPr dirty="0"/>
              <a:t>Merge Sort: T(</a:t>
            </a:r>
            <a:r>
              <a:rPr lang="da-DK" dirty="0"/>
              <a:t>N</a:t>
            </a:r>
            <a:r>
              <a:rPr dirty="0"/>
              <a:t>) = 2T(</a:t>
            </a:r>
            <a:r>
              <a:rPr lang="da-DK" dirty="0"/>
              <a:t>N</a:t>
            </a:r>
            <a:r>
              <a:rPr dirty="0"/>
              <a:t>/2) + O(</a:t>
            </a:r>
            <a:r>
              <a:rPr lang="da-DK" dirty="0"/>
              <a:t>N</a:t>
            </a:r>
            <a:r>
              <a:rPr dirty="0"/>
              <a:t>)</a:t>
            </a:r>
          </a:p>
          <a:p>
            <a:r>
              <a:rPr dirty="0" err="1"/>
              <a:t>Binær</a:t>
            </a:r>
            <a:r>
              <a:rPr dirty="0"/>
              <a:t> </a:t>
            </a:r>
            <a:r>
              <a:rPr dirty="0" err="1"/>
              <a:t>søgning</a:t>
            </a:r>
            <a:r>
              <a:rPr dirty="0"/>
              <a:t>: T(</a:t>
            </a:r>
            <a:r>
              <a:rPr lang="da-DK" dirty="0"/>
              <a:t>N</a:t>
            </a:r>
            <a:r>
              <a:rPr dirty="0"/>
              <a:t>) = T(</a:t>
            </a:r>
            <a:r>
              <a:rPr lang="da-DK" dirty="0"/>
              <a:t>N</a:t>
            </a:r>
            <a:r>
              <a:rPr dirty="0"/>
              <a:t>/2) + O(1)</a:t>
            </a:r>
          </a:p>
          <a:p>
            <a:r>
              <a:rPr dirty="0"/>
              <a:t>Tower of Hanoi: T(</a:t>
            </a:r>
            <a:r>
              <a:rPr lang="da-DK" dirty="0"/>
              <a:t>N</a:t>
            </a:r>
            <a:r>
              <a:rPr dirty="0"/>
              <a:t>) = 2T(</a:t>
            </a:r>
            <a:r>
              <a:rPr lang="da-DK" dirty="0"/>
              <a:t>N</a:t>
            </a:r>
            <a:r>
              <a:rPr dirty="0"/>
              <a:t>-1) + O(1)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Metoder til at løse rekurrenser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1. </a:t>
            </a:r>
            <a:r>
              <a:rPr dirty="0" err="1"/>
              <a:t>Substitutionsmetoden</a:t>
            </a:r>
            <a:r>
              <a:rPr dirty="0"/>
              <a:t> – </a:t>
            </a:r>
            <a:r>
              <a:rPr dirty="0" err="1"/>
              <a:t>gæt</a:t>
            </a:r>
            <a:r>
              <a:rPr dirty="0"/>
              <a:t> </a:t>
            </a:r>
            <a:r>
              <a:rPr dirty="0" err="1"/>
              <a:t>løsningen</a:t>
            </a:r>
            <a:r>
              <a:rPr dirty="0"/>
              <a:t> </a:t>
            </a:r>
            <a:r>
              <a:rPr dirty="0" err="1"/>
              <a:t>og</a:t>
            </a:r>
            <a:r>
              <a:rPr dirty="0"/>
              <a:t> </a:t>
            </a:r>
            <a:r>
              <a:rPr dirty="0" err="1"/>
              <a:t>bevis</a:t>
            </a:r>
            <a:r>
              <a:rPr dirty="0"/>
              <a:t> den med </a:t>
            </a:r>
            <a:r>
              <a:rPr dirty="0" err="1"/>
              <a:t>induktion</a:t>
            </a:r>
            <a:r>
              <a:rPr dirty="0"/>
              <a:t>.</a:t>
            </a:r>
          </a:p>
          <a:p>
            <a:r>
              <a:rPr dirty="0"/>
              <a:t>2. </a:t>
            </a:r>
            <a:r>
              <a:rPr lang="da-DK" dirty="0"/>
              <a:t>*</a:t>
            </a:r>
            <a:r>
              <a:rPr dirty="0" err="1"/>
              <a:t>Rekursionstræ-metoden</a:t>
            </a:r>
            <a:r>
              <a:rPr dirty="0"/>
              <a:t> – </a:t>
            </a:r>
            <a:r>
              <a:rPr dirty="0" err="1"/>
              <a:t>visualisér</a:t>
            </a:r>
            <a:r>
              <a:rPr dirty="0"/>
              <a:t> </a:t>
            </a:r>
            <a:r>
              <a:rPr dirty="0" err="1"/>
              <a:t>arbejdet</a:t>
            </a:r>
            <a:r>
              <a:rPr dirty="0"/>
              <a:t> på </a:t>
            </a:r>
            <a:r>
              <a:rPr dirty="0" err="1"/>
              <a:t>hvert</a:t>
            </a:r>
            <a:r>
              <a:rPr dirty="0"/>
              <a:t> </a:t>
            </a:r>
            <a:r>
              <a:rPr dirty="0" err="1"/>
              <a:t>niveau</a:t>
            </a:r>
            <a:r>
              <a:rPr dirty="0"/>
              <a:t> </a:t>
            </a:r>
            <a:r>
              <a:rPr dirty="0" err="1"/>
              <a:t>og</a:t>
            </a:r>
            <a:r>
              <a:rPr dirty="0"/>
              <a:t> summer det.</a:t>
            </a:r>
          </a:p>
          <a:p>
            <a:r>
              <a:rPr dirty="0"/>
              <a:t>3. Master-</a:t>
            </a:r>
            <a:r>
              <a:rPr dirty="0" err="1"/>
              <a:t>teoremet</a:t>
            </a:r>
            <a:r>
              <a:rPr dirty="0"/>
              <a:t> – </a:t>
            </a:r>
            <a:r>
              <a:rPr dirty="0" err="1"/>
              <a:t>direkte</a:t>
            </a:r>
            <a:r>
              <a:rPr dirty="0"/>
              <a:t> </a:t>
            </a:r>
            <a:r>
              <a:rPr dirty="0" err="1"/>
              <a:t>formel</a:t>
            </a:r>
            <a:r>
              <a:rPr dirty="0"/>
              <a:t> </a:t>
            </a:r>
            <a:r>
              <a:rPr dirty="0" err="1"/>
              <a:t>til</a:t>
            </a:r>
            <a:r>
              <a:rPr dirty="0"/>
              <a:t> mange divide and conquer-</a:t>
            </a:r>
            <a:r>
              <a:rPr dirty="0" err="1"/>
              <a:t>algoritmer</a:t>
            </a:r>
            <a:r>
              <a:rPr dirty="0"/>
              <a:t>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Intuitionen bag rekurrens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En </a:t>
            </a:r>
            <a:r>
              <a:rPr dirty="0" err="1"/>
              <a:t>rekurrens</a:t>
            </a:r>
            <a:r>
              <a:rPr dirty="0"/>
              <a:t> </a:t>
            </a:r>
            <a:r>
              <a:rPr dirty="0" err="1"/>
              <a:t>beskriver</a:t>
            </a:r>
            <a:r>
              <a:rPr dirty="0"/>
              <a:t> </a:t>
            </a:r>
            <a:r>
              <a:rPr dirty="0" err="1"/>
              <a:t>selv-lighed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beregningen</a:t>
            </a:r>
            <a:r>
              <a:rPr dirty="0"/>
              <a:t>.</a:t>
            </a:r>
          </a:p>
          <a:p>
            <a:r>
              <a:rPr dirty="0" err="1"/>
              <a:t>Hvert</a:t>
            </a:r>
            <a:r>
              <a:rPr dirty="0"/>
              <a:t> </a:t>
            </a:r>
            <a:r>
              <a:rPr dirty="0" err="1"/>
              <a:t>kald</a:t>
            </a:r>
            <a:r>
              <a:rPr dirty="0"/>
              <a:t> </a:t>
            </a:r>
            <a:r>
              <a:rPr dirty="0" err="1"/>
              <a:t>deler</a:t>
            </a:r>
            <a:r>
              <a:rPr dirty="0"/>
              <a:t> </a:t>
            </a:r>
            <a:r>
              <a:rPr dirty="0" err="1"/>
              <a:t>problemet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mindre</a:t>
            </a:r>
            <a:r>
              <a:rPr dirty="0"/>
              <a:t> </a:t>
            </a:r>
            <a:r>
              <a:rPr dirty="0" err="1"/>
              <a:t>versioner</a:t>
            </a:r>
            <a:r>
              <a:rPr dirty="0"/>
              <a:t> af sig </a:t>
            </a:r>
            <a:r>
              <a:rPr dirty="0" err="1"/>
              <a:t>selv</a:t>
            </a:r>
            <a:r>
              <a:rPr dirty="0"/>
              <a:t>.</a:t>
            </a:r>
          </a:p>
          <a:p>
            <a:r>
              <a:rPr dirty="0" err="1"/>
              <a:t>Når</a:t>
            </a:r>
            <a:r>
              <a:rPr dirty="0"/>
              <a:t> basis-</a:t>
            </a:r>
            <a:r>
              <a:rPr dirty="0" err="1"/>
              <a:t>tilfældet</a:t>
            </a:r>
            <a:r>
              <a:rPr dirty="0"/>
              <a:t> </a:t>
            </a:r>
            <a:r>
              <a:rPr dirty="0" err="1"/>
              <a:t>nås</a:t>
            </a:r>
            <a:r>
              <a:rPr dirty="0"/>
              <a:t>, stopper </a:t>
            </a:r>
            <a:r>
              <a:rPr dirty="0" err="1"/>
              <a:t>rekursionen</a:t>
            </a:r>
            <a:r>
              <a:rPr dirty="0"/>
              <a:t>.</a:t>
            </a:r>
          </a:p>
          <a:p>
            <a:r>
              <a:rPr dirty="0" err="1"/>
              <a:t>Summen</a:t>
            </a:r>
            <a:r>
              <a:rPr dirty="0"/>
              <a:t> af </a:t>
            </a:r>
            <a:r>
              <a:rPr dirty="0" err="1"/>
              <a:t>arbejdet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alle </a:t>
            </a:r>
            <a:r>
              <a:rPr dirty="0" err="1"/>
              <a:t>niveauer</a:t>
            </a:r>
            <a:r>
              <a:rPr dirty="0"/>
              <a:t> giver den </a:t>
            </a:r>
            <a:r>
              <a:rPr dirty="0" err="1"/>
              <a:t>samlede</a:t>
            </a:r>
            <a:r>
              <a:rPr dirty="0"/>
              <a:t> </a:t>
            </a:r>
            <a:r>
              <a:rPr dirty="0" err="1"/>
              <a:t>kompleksitet</a:t>
            </a:r>
            <a:r>
              <a:rPr dirty="0"/>
              <a:t>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BF254-AF29-B703-F1EB-37CC0846C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56A24A-630E-530F-5EB3-0B238C08B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Teleskop-kikkert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8B17A7B-BFE4-9CA6-D78C-EDB9787BD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600200"/>
            <a:ext cx="8784976" cy="4525963"/>
          </a:xfrm>
        </p:spPr>
        <p:txBody>
          <a:bodyPr/>
          <a:lstStyle/>
          <a:p>
            <a:pPr marL="0" indent="0" algn="ctr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 algn="ctr">
              <a:buNone/>
            </a:pPr>
            <a:r>
              <a:rPr lang="da-DK" dirty="0"/>
              <a:t>Vi kan trække den ud og vi kan folde den sammen.</a:t>
            </a:r>
          </a:p>
        </p:txBody>
      </p:sp>
      <p:pic>
        <p:nvPicPr>
          <p:cNvPr id="5" name="Billede 4" descr="Et billede, der indeholder cylinder, teleskop, guld&#10;&#10;AI-genereret indhold kan være ukorrekt.">
            <a:extLst>
              <a:ext uri="{FF2B5EF4-FFF2-40B4-BE49-F238E27FC236}">
                <a16:creationId xmlns:a16="http://schemas.microsoft.com/office/drawing/2014/main" id="{CFC26A44-2F58-567F-D0BA-53D0219551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6037" y="2852737"/>
            <a:ext cx="3971925" cy="115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007938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54AFC7-87A9-1C82-88AC-B520E21FA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Telescoping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E5DCB93-FEBB-2D6F-7235-E8FAC7F40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På dansk </a:t>
            </a:r>
            <a:r>
              <a:rPr lang="da-DK" i="1" dirty="0" err="1"/>
              <a:t>teleskopering</a:t>
            </a:r>
            <a:r>
              <a:rPr lang="da-DK" i="1" dirty="0"/>
              <a:t> </a:t>
            </a:r>
            <a:r>
              <a:rPr lang="da-DK" dirty="0"/>
              <a:t>😉</a:t>
            </a:r>
          </a:p>
          <a:p>
            <a:r>
              <a:rPr lang="da-DK" dirty="0"/>
              <a:t>“En </a:t>
            </a:r>
            <a:r>
              <a:rPr lang="da-DK" dirty="0" err="1"/>
              <a:t>teleskoperende</a:t>
            </a:r>
            <a:r>
              <a:rPr lang="da-DK" dirty="0"/>
              <a:t> sum er en sum, hvor de fleste led går ud med hinanden.”</a:t>
            </a:r>
          </a:p>
          <a:p>
            <a:r>
              <a:rPr lang="da-DK" dirty="0"/>
              <a:t>Eller: “at forkorte en sum ved, at led går ud med hinanden”</a:t>
            </a:r>
          </a:p>
        </p:txBody>
      </p:sp>
    </p:spTree>
    <p:extLst>
      <p:ext uri="{BB962C8B-B14F-4D97-AF65-F5344CB8AC3E}">
        <p14:creationId xmlns:p14="http://schemas.microsoft.com/office/powerpoint/2010/main" val="29697496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67EA21-E0F2-0480-78A6-5D0AC0E55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Telescoping</a:t>
            </a:r>
            <a:r>
              <a:rPr lang="da-DK" dirty="0"/>
              <a:t> som bevismetode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2BB7D21-50EE-8140-F002-DBFEB9687A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da-DK" dirty="0"/>
              <a:t>Først opstiller vi </a:t>
            </a:r>
            <a:r>
              <a:rPr lang="da-DK" dirty="0" err="1"/>
              <a:t>rekurrens</a:t>
            </a:r>
            <a:r>
              <a:rPr lang="da-DK" dirty="0"/>
              <a:t>-ligningen.</a:t>
            </a:r>
          </a:p>
          <a:p>
            <a:r>
              <a:rPr lang="da-DK" dirty="0"/>
              <a:t>Fx: 	T(N) = 2T(N/2) + N 	(</a:t>
            </a:r>
            <a:r>
              <a:rPr lang="da-DK" dirty="0" err="1"/>
              <a:t>merge</a:t>
            </a:r>
            <a:r>
              <a:rPr lang="da-DK" dirty="0"/>
              <a:t>-sort)</a:t>
            </a:r>
          </a:p>
          <a:p>
            <a:r>
              <a:rPr lang="da-DK" dirty="0"/>
              <a:t>Herefter opstiller vi en ny ligning, hvor N erstattes med N/2.</a:t>
            </a:r>
          </a:p>
          <a:p>
            <a:r>
              <a:rPr lang="da-DK" dirty="0"/>
              <a:t>Hvis vi allerførst dividerer med N på begge sider, når vi frem til ligninger, hvor første udtryk </a:t>
            </a:r>
            <a:r>
              <a:rPr lang="da-DK"/>
              <a:t>på højresiden </a:t>
            </a:r>
            <a:r>
              <a:rPr lang="da-DK" dirty="0"/>
              <a:t>er lig venstresiden i næste ligning.</a:t>
            </a:r>
          </a:p>
          <a:p>
            <a:r>
              <a:rPr lang="da-DK" dirty="0"/>
              <a:t>Når vi kommer til bunds, dvs. til base-case, lægger vi alle venstresider og alle højresider sammen.</a:t>
            </a:r>
          </a:p>
          <a:p>
            <a:r>
              <a:rPr lang="da-DK" dirty="0"/>
              <a:t>Herefter går ovennævnte udtryk ud med hinanden.</a:t>
            </a:r>
          </a:p>
          <a:p>
            <a:r>
              <a:rPr lang="da-DK" dirty="0"/>
              <a:t>Til sidst har vi derfor kun venstresiden af første ligning tilbage, og den er lig med højresiden af sidste lignings første udtryk plus summen af højresidernes sidste udtryk.</a:t>
            </a:r>
          </a:p>
          <a:p>
            <a:r>
              <a:rPr lang="da-DK" dirty="0"/>
              <a:t>Tidskompleksiteten kan nu beregnes ved at gange igennem med N.</a:t>
            </a:r>
          </a:p>
        </p:txBody>
      </p:sp>
    </p:spTree>
    <p:extLst>
      <p:ext uri="{BB962C8B-B14F-4D97-AF65-F5344CB8AC3E}">
        <p14:creationId xmlns:p14="http://schemas.microsoft.com/office/powerpoint/2010/main" val="5048889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1E57DA-AC1D-7178-79FD-7C0AF0FFA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Analyse af </a:t>
            </a:r>
            <a:r>
              <a:rPr lang="da-DK" dirty="0" err="1"/>
              <a:t>MergeSort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218F249-1983-EF2E-C8C6-9B5DAA751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da-DK" dirty="0"/>
              <a:t>T(N) 			= 2T(N/2) + T</a:t>
            </a:r>
          </a:p>
          <a:p>
            <a:pPr marL="0" indent="0">
              <a:buNone/>
            </a:pPr>
            <a:r>
              <a:rPr lang="da-DK" dirty="0"/>
              <a:t>T(N)/N		= T(N/2)/(N/2) + 1</a:t>
            </a:r>
          </a:p>
          <a:p>
            <a:pPr marL="0" indent="0">
              <a:buNone/>
            </a:pPr>
            <a:r>
              <a:rPr lang="da-DK" dirty="0"/>
              <a:t>T(N/2)/(N/2)	= T(N/4)/(N/4) + 1</a:t>
            </a:r>
          </a:p>
          <a:p>
            <a:pPr marL="0" indent="0">
              <a:buNone/>
            </a:pPr>
            <a:r>
              <a:rPr lang="da-DK" dirty="0"/>
              <a:t>T(N/4)/(N/4)	= T(N/8)/(N/8) + 1</a:t>
            </a:r>
          </a:p>
          <a:p>
            <a:pPr marL="0" indent="0">
              <a:buNone/>
            </a:pPr>
            <a:r>
              <a:rPr lang="da-DK" dirty="0"/>
              <a:t>….. fortsæt til base-case.</a:t>
            </a:r>
          </a:p>
          <a:p>
            <a:pPr marL="0" indent="0">
              <a:buNone/>
            </a:pPr>
            <a:r>
              <a:rPr lang="da-DK" dirty="0"/>
              <a:t>T(2)/2		= T(1)/1 + 1</a:t>
            </a:r>
          </a:p>
          <a:p>
            <a:pPr marL="0" indent="0">
              <a:buNone/>
            </a:pPr>
            <a:r>
              <a:rPr lang="da-DK" dirty="0"/>
              <a:t>..... læg højre- og venstresider sammen og reducér.</a:t>
            </a:r>
          </a:p>
          <a:p>
            <a:pPr marL="0" indent="0">
              <a:buNone/>
            </a:pPr>
            <a:r>
              <a:rPr lang="da-DK" dirty="0"/>
              <a:t>T(N)/N		= T(1)/1 + log N</a:t>
            </a:r>
          </a:p>
          <a:p>
            <a:pPr marL="0" indent="0">
              <a:buNone/>
            </a:pPr>
            <a:r>
              <a:rPr lang="da-DK" dirty="0"/>
              <a:t>T(N)			= N + N log N  -&gt;  O(N log N)</a:t>
            </a:r>
          </a:p>
        </p:txBody>
      </p:sp>
    </p:spTree>
    <p:extLst>
      <p:ext uri="{BB962C8B-B14F-4D97-AF65-F5344CB8AC3E}">
        <p14:creationId xmlns:p14="http://schemas.microsoft.com/office/powerpoint/2010/main" val="12748052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4AB423-24FD-AC52-3EFE-2A810546E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Teleskop-kikkert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196A4B1-42A8-8E76-A728-DD864BD20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600200"/>
            <a:ext cx="8784976" cy="4525963"/>
          </a:xfrm>
        </p:spPr>
        <p:txBody>
          <a:bodyPr/>
          <a:lstStyle/>
          <a:p>
            <a:pPr marL="0" indent="0" algn="ctr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 algn="ctr">
              <a:buNone/>
            </a:pPr>
            <a:r>
              <a:rPr lang="da-DK" dirty="0"/>
              <a:t>Vi kan trække den ud og vi kan folde den sammen.</a:t>
            </a:r>
          </a:p>
        </p:txBody>
      </p:sp>
      <p:pic>
        <p:nvPicPr>
          <p:cNvPr id="5" name="Billede 4" descr="Et billede, der indeholder cylinder, teleskop, guld&#10;&#10;AI-genereret indhold kan være ukorrekt.">
            <a:extLst>
              <a:ext uri="{FF2B5EF4-FFF2-40B4-BE49-F238E27FC236}">
                <a16:creationId xmlns:a16="http://schemas.microsoft.com/office/drawing/2014/main" id="{B0117691-4F7E-B2D1-8E5E-60CD50FF87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6037" y="2852737"/>
            <a:ext cx="3971925" cy="115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175876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r>
              <a:rPr lang="da-DK"/>
              <a:t>Quicksort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300" b="1" dirty="0"/>
              <a:t>  1 	public void </a:t>
            </a:r>
            <a:r>
              <a:rPr lang="en-US" sz="1300" b="1" dirty="0" err="1"/>
              <a:t>quickSort</a:t>
            </a:r>
            <a:r>
              <a:rPr lang="en-US" sz="1300" b="1" dirty="0"/>
              <a:t>(int array[], int left, int right)</a:t>
            </a:r>
            <a:endParaRPr lang="da-DK" sz="1300" dirty="0"/>
          </a:p>
          <a:p>
            <a:pPr>
              <a:buNone/>
            </a:pPr>
            <a:r>
              <a:rPr lang="en-US" sz="1300" b="1" dirty="0"/>
              <a:t>  2	{</a:t>
            </a:r>
            <a:endParaRPr lang="da-DK" sz="1300" dirty="0"/>
          </a:p>
          <a:p>
            <a:pPr>
              <a:buNone/>
            </a:pPr>
            <a:r>
              <a:rPr lang="en-US" sz="1300" b="1" dirty="0"/>
              <a:t>  3		if (left + CUTOFF &lt; right)</a:t>
            </a:r>
            <a:endParaRPr lang="da-DK" sz="1300" dirty="0"/>
          </a:p>
          <a:p>
            <a:pPr>
              <a:buNone/>
            </a:pPr>
            <a:r>
              <a:rPr lang="en-US" sz="1300" b="1" dirty="0"/>
              <a:t>  4		{</a:t>
            </a:r>
            <a:endParaRPr lang="da-DK" sz="1300" dirty="0"/>
          </a:p>
          <a:p>
            <a:pPr>
              <a:buNone/>
            </a:pPr>
            <a:r>
              <a:rPr lang="en-US" sz="1300" b="1" dirty="0"/>
              <a:t>  5	    		int pivot = median3(array, left, right);</a:t>
            </a:r>
            <a:endParaRPr lang="da-DK" sz="1300" dirty="0"/>
          </a:p>
          <a:p>
            <a:pPr>
              <a:buNone/>
            </a:pPr>
            <a:r>
              <a:rPr lang="en-US" sz="1300" b="1" dirty="0"/>
              <a:t>  6           		int </a:t>
            </a:r>
            <a:r>
              <a:rPr lang="en-US" sz="1300" b="1" dirty="0" err="1"/>
              <a:t>i</a:t>
            </a:r>
            <a:r>
              <a:rPr lang="en-US" sz="1300" b="1" dirty="0"/>
              <a:t> = left, j = right -1;</a:t>
            </a:r>
            <a:endParaRPr lang="da-DK" sz="1300" dirty="0"/>
          </a:p>
          <a:p>
            <a:pPr>
              <a:buNone/>
            </a:pPr>
            <a:r>
              <a:rPr lang="en-US" sz="1300" b="1" dirty="0"/>
              <a:t>  7            		for ( ; ; )</a:t>
            </a:r>
            <a:endParaRPr lang="da-DK" sz="1300" dirty="0"/>
          </a:p>
          <a:p>
            <a:pPr>
              <a:buNone/>
            </a:pPr>
            <a:r>
              <a:rPr lang="en-US" sz="1300" b="1" dirty="0"/>
              <a:t>  8            		{</a:t>
            </a:r>
            <a:endParaRPr lang="da-DK" sz="1300" dirty="0"/>
          </a:p>
          <a:p>
            <a:pPr>
              <a:buNone/>
            </a:pPr>
            <a:r>
              <a:rPr lang="en-US" sz="1300" b="1" dirty="0"/>
              <a:t>  9                  			while( array[</a:t>
            </a:r>
            <a:r>
              <a:rPr lang="en-US" sz="1300" b="1" dirty="0" err="1"/>
              <a:t>i</a:t>
            </a:r>
            <a:r>
              <a:rPr lang="en-US" sz="1300" b="1" dirty="0"/>
              <a:t>] &lt; pivot) </a:t>
            </a:r>
            <a:r>
              <a:rPr lang="en-US" sz="1300" b="1" dirty="0" err="1"/>
              <a:t>i</a:t>
            </a:r>
            <a:r>
              <a:rPr lang="en-US" sz="1300" b="1" dirty="0"/>
              <a:t>++;</a:t>
            </a:r>
            <a:endParaRPr lang="da-DK" sz="1300" dirty="0"/>
          </a:p>
          <a:p>
            <a:pPr>
              <a:buNone/>
            </a:pPr>
            <a:r>
              <a:rPr lang="en-US" sz="1300" b="1" dirty="0"/>
              <a:t> 10                  			while( array[j] &gt; pivot) j--;</a:t>
            </a:r>
            <a:endParaRPr lang="da-DK" sz="1300" dirty="0"/>
          </a:p>
          <a:p>
            <a:pPr>
              <a:buNone/>
            </a:pPr>
            <a:r>
              <a:rPr lang="en-US" sz="1300" b="1" dirty="0"/>
              <a:t> 11                  			If (</a:t>
            </a:r>
            <a:r>
              <a:rPr lang="en-US" sz="1300" b="1" dirty="0" err="1"/>
              <a:t>i</a:t>
            </a:r>
            <a:r>
              <a:rPr lang="en-US" sz="1300" b="1" dirty="0"/>
              <a:t> &lt; j)</a:t>
            </a:r>
            <a:endParaRPr lang="da-DK" sz="1300" dirty="0"/>
          </a:p>
          <a:p>
            <a:pPr>
              <a:buNone/>
            </a:pPr>
            <a:r>
              <a:rPr lang="en-US" sz="1300" b="1" dirty="0"/>
              <a:t> 12                      			swap(array, </a:t>
            </a:r>
            <a:r>
              <a:rPr lang="en-US" sz="1300" b="1" dirty="0" err="1"/>
              <a:t>i</a:t>
            </a:r>
            <a:r>
              <a:rPr lang="en-US" sz="1300" b="1" dirty="0"/>
              <a:t>, j);</a:t>
            </a:r>
            <a:endParaRPr lang="da-DK" sz="1300" dirty="0"/>
          </a:p>
          <a:p>
            <a:pPr>
              <a:buNone/>
            </a:pPr>
            <a:r>
              <a:rPr lang="en-US" sz="1300" b="1" dirty="0"/>
              <a:t> 13                  			else</a:t>
            </a:r>
            <a:endParaRPr lang="da-DK" sz="1300" dirty="0"/>
          </a:p>
          <a:p>
            <a:pPr>
              <a:buNone/>
            </a:pPr>
            <a:r>
              <a:rPr lang="en-US" sz="1300" b="1" dirty="0"/>
              <a:t> 14                      			break;</a:t>
            </a:r>
            <a:endParaRPr lang="da-DK" sz="1300" dirty="0"/>
          </a:p>
          <a:p>
            <a:pPr>
              <a:buNone/>
            </a:pPr>
            <a:r>
              <a:rPr lang="en-US" sz="1300" b="1" dirty="0"/>
              <a:t> 15             		}</a:t>
            </a:r>
            <a:endParaRPr lang="da-DK" sz="1300" dirty="0"/>
          </a:p>
          <a:p>
            <a:pPr>
              <a:buNone/>
            </a:pPr>
            <a:r>
              <a:rPr lang="en-US" sz="1300" b="1" dirty="0"/>
              <a:t> 16             		swap(array, </a:t>
            </a:r>
            <a:r>
              <a:rPr lang="en-US" sz="1300" b="1" dirty="0" err="1"/>
              <a:t>i</a:t>
            </a:r>
            <a:r>
              <a:rPr lang="en-US" sz="1300" b="1" dirty="0"/>
              <a:t>, right - 1);</a:t>
            </a:r>
            <a:endParaRPr lang="da-DK" sz="1300" dirty="0"/>
          </a:p>
          <a:p>
            <a:pPr>
              <a:buNone/>
            </a:pPr>
            <a:r>
              <a:rPr lang="en-US" sz="1300" b="1" dirty="0"/>
              <a:t> 17               </a:t>
            </a:r>
            <a:endParaRPr lang="da-DK" sz="1300" dirty="0"/>
          </a:p>
          <a:p>
            <a:pPr>
              <a:buNone/>
            </a:pPr>
            <a:r>
              <a:rPr lang="en-US" sz="1300" b="1" dirty="0"/>
              <a:t> 18             		</a:t>
            </a:r>
            <a:r>
              <a:rPr lang="en-US" sz="1300" b="1" dirty="0" err="1"/>
              <a:t>quickSort</a:t>
            </a:r>
            <a:r>
              <a:rPr lang="en-US" sz="1300" b="1" dirty="0"/>
              <a:t>(array, left, </a:t>
            </a:r>
            <a:r>
              <a:rPr lang="en-US" sz="1300" b="1" dirty="0" err="1"/>
              <a:t>i</a:t>
            </a:r>
            <a:r>
              <a:rPr lang="en-US" sz="1300" b="1" dirty="0"/>
              <a:t> - 1);</a:t>
            </a:r>
            <a:endParaRPr lang="da-DK" sz="1300" dirty="0"/>
          </a:p>
          <a:p>
            <a:pPr>
              <a:buNone/>
            </a:pPr>
            <a:r>
              <a:rPr lang="en-US" sz="1300" b="1" dirty="0"/>
              <a:t> 19             		</a:t>
            </a:r>
            <a:r>
              <a:rPr lang="en-US" sz="1300" b="1" dirty="0" err="1"/>
              <a:t>quickSort</a:t>
            </a:r>
            <a:r>
              <a:rPr lang="en-US" sz="1300" b="1" dirty="0"/>
              <a:t>(array, </a:t>
            </a:r>
            <a:r>
              <a:rPr lang="en-US" sz="1300" b="1" dirty="0" err="1"/>
              <a:t>i</a:t>
            </a:r>
            <a:r>
              <a:rPr lang="en-US" sz="1300" b="1" dirty="0"/>
              <a:t> + 1, right);</a:t>
            </a:r>
            <a:endParaRPr lang="da-DK" sz="1300" dirty="0"/>
          </a:p>
          <a:p>
            <a:pPr>
              <a:buNone/>
            </a:pPr>
            <a:r>
              <a:rPr lang="en-US" sz="1300" b="1" dirty="0"/>
              <a:t> 20       	}</a:t>
            </a:r>
            <a:endParaRPr lang="da-DK" sz="1300" dirty="0"/>
          </a:p>
          <a:p>
            <a:pPr>
              <a:buNone/>
            </a:pPr>
            <a:r>
              <a:rPr lang="en-US" sz="1300" b="1" dirty="0"/>
              <a:t> 21       	else</a:t>
            </a:r>
            <a:endParaRPr lang="da-DK" sz="1300" dirty="0"/>
          </a:p>
          <a:p>
            <a:pPr>
              <a:buNone/>
            </a:pPr>
            <a:r>
              <a:rPr lang="en-US" sz="1300" b="1" dirty="0"/>
              <a:t> 22             		</a:t>
            </a:r>
            <a:r>
              <a:rPr lang="en-US" sz="1300" b="1" dirty="0" err="1"/>
              <a:t>insertionSort</a:t>
            </a:r>
            <a:r>
              <a:rPr lang="en-US" sz="1300" b="1" dirty="0"/>
              <a:t>(array, left, right);</a:t>
            </a:r>
            <a:endParaRPr lang="da-DK" sz="1300" dirty="0"/>
          </a:p>
          <a:p>
            <a:pPr>
              <a:buNone/>
            </a:pPr>
            <a:r>
              <a:rPr lang="en-US" sz="1300" b="1" dirty="0"/>
              <a:t> 23 	} </a:t>
            </a:r>
            <a:endParaRPr lang="da-DK" sz="13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5450257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65E4A0-8B28-8E0A-4C33-663CDE854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Analyse af </a:t>
            </a:r>
            <a:r>
              <a:rPr lang="da-DK" dirty="0" err="1"/>
              <a:t>worst</a:t>
            </a:r>
            <a:r>
              <a:rPr lang="da-DK" dirty="0"/>
              <a:t> case </a:t>
            </a:r>
            <a:r>
              <a:rPr lang="da-DK" dirty="0" err="1"/>
              <a:t>QuickSort</a:t>
            </a:r>
            <a:endParaRPr lang="da-DK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B1E5EB58-9690-CDE7-5582-1BBC88DEC4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28800"/>
                <a:ext cx="8229600" cy="4525963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da-DK" dirty="0"/>
                  <a:t>T(N)		= T(N-1) + </a:t>
                </a:r>
                <a:r>
                  <a:rPr lang="da-DK" dirty="0" err="1"/>
                  <a:t>cN</a:t>
                </a:r>
                <a:endParaRPr lang="da-DK" dirty="0"/>
              </a:p>
              <a:p>
                <a:pPr marL="0" indent="0">
                  <a:buNone/>
                </a:pPr>
                <a:r>
                  <a:rPr lang="da-DK" dirty="0"/>
                  <a:t>T(N-1)	= T(N-2) + c(N-1)</a:t>
                </a:r>
              </a:p>
              <a:p>
                <a:pPr marL="0" indent="0">
                  <a:buNone/>
                </a:pPr>
                <a:r>
                  <a:rPr lang="da-DK" dirty="0"/>
                  <a:t>T(N-2)	= T(N-3) + c(N-2)</a:t>
                </a:r>
              </a:p>
              <a:p>
                <a:pPr marL="0" indent="0">
                  <a:buNone/>
                </a:pPr>
                <a:r>
                  <a:rPr lang="da-DK" dirty="0"/>
                  <a:t>T(N-3)	= T(N-4) + c(N-3)</a:t>
                </a:r>
              </a:p>
              <a:p>
                <a:pPr marL="0" indent="0">
                  <a:buNone/>
                </a:pPr>
                <a:r>
                  <a:rPr lang="da-DK" dirty="0"/>
                  <a:t>…. fortsæt til base case</a:t>
                </a:r>
              </a:p>
              <a:p>
                <a:pPr marL="0" indent="0">
                  <a:buNone/>
                </a:pPr>
                <a:r>
                  <a:rPr lang="da-DK" dirty="0"/>
                  <a:t>T(2)		= T(1) + c(2)</a:t>
                </a:r>
              </a:p>
              <a:p>
                <a:pPr marL="0" indent="0">
                  <a:buNone/>
                </a:pPr>
                <a:r>
                  <a:rPr lang="da-DK" dirty="0"/>
                  <a:t>…… læg højre- og venstresider sammen og reducér.</a:t>
                </a:r>
              </a:p>
              <a:p>
                <a:pPr marL="0" indent="0">
                  <a:buNone/>
                </a:pPr>
                <a:r>
                  <a:rPr lang="da-DK" dirty="0"/>
                  <a:t>T(N)		= T(1</a:t>
                </a:r>
                <a:r>
                  <a:rPr lang="da-DK"/>
                  <a:t>) + c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da-DK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da-DK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=2</m:t>
                        </m:r>
                      </m:sub>
                      <m:sup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nary>
                  </m:oMath>
                </a14:m>
                <a:r>
                  <a:rPr lang="da-DK" dirty="0"/>
                  <a:t>	-&gt;	</a:t>
                </a:r>
                <a:r>
                  <a:rPr lang="el-GR" dirty="0"/>
                  <a:t>θ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a-DK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da-DK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a-DK" dirty="0"/>
              </a:p>
            </p:txBody>
          </p:sp>
        </mc:Choice>
        <mc:Fallback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B1E5EB58-9690-CDE7-5582-1BBC88DEC4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28800"/>
                <a:ext cx="8229600" cy="4525963"/>
              </a:xfrm>
              <a:blipFill>
                <a:blip r:embed="rId2"/>
                <a:stretch>
                  <a:fillRect l="-1704" t="-1615" b="-1884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41051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7677</TotalTime>
  <Words>2639</Words>
  <Application>Microsoft Office PowerPoint</Application>
  <PresentationFormat>Skærmshow (4:3)</PresentationFormat>
  <Paragraphs>336</Paragraphs>
  <Slides>34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6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34</vt:i4>
      </vt:variant>
    </vt:vector>
  </HeadingPairs>
  <TitlesOfParts>
    <vt:vector size="41" baseType="lpstr">
      <vt:lpstr>Arial</vt:lpstr>
      <vt:lpstr>Calibri</vt:lpstr>
      <vt:lpstr>Cambria Math</vt:lpstr>
      <vt:lpstr>Courier New</vt:lpstr>
      <vt:lpstr>Times New Roman</vt:lpstr>
      <vt:lpstr>Wingdings</vt:lpstr>
      <vt:lpstr>Kontortema</vt:lpstr>
      <vt:lpstr>ADA 3. og 24. oktober 2025</vt:lpstr>
      <vt:lpstr>Introducerende antagelse</vt:lpstr>
      <vt:lpstr>Inversion</vt:lpstr>
      <vt:lpstr>Sortering</vt:lpstr>
      <vt:lpstr>Mere om inversions</vt:lpstr>
      <vt:lpstr>O(N2)</vt:lpstr>
      <vt:lpstr>Bubblesort</vt:lpstr>
      <vt:lpstr>O(N logN)</vt:lpstr>
      <vt:lpstr>Mergesort</vt:lpstr>
      <vt:lpstr>Merge</vt:lpstr>
      <vt:lpstr>Heapsort</vt:lpstr>
      <vt:lpstr>Mergesort</vt:lpstr>
      <vt:lpstr>Shellsort</vt:lpstr>
      <vt:lpstr>Shellsort - eksempel</vt:lpstr>
      <vt:lpstr>Shellsort - eksperimenter</vt:lpstr>
      <vt:lpstr>Shellsort</vt:lpstr>
      <vt:lpstr>bucketSort()</vt:lpstr>
      <vt:lpstr>Sortering</vt:lpstr>
      <vt:lpstr>Konklusion</vt:lpstr>
      <vt:lpstr>Animated Hungarian QuickSort</vt:lpstr>
      <vt:lpstr>Exercises</vt:lpstr>
      <vt:lpstr>Mergesort</vt:lpstr>
      <vt:lpstr>Hvad er rekurrens?</vt:lpstr>
      <vt:lpstr>Eksempel på rekurrens</vt:lpstr>
      <vt:lpstr>Hvorfor er rekurrenser vigtige?</vt:lpstr>
      <vt:lpstr>Metoder til at løse rekurrenser</vt:lpstr>
      <vt:lpstr>Intuitionen bag rekurrens</vt:lpstr>
      <vt:lpstr>Teleskop-kikkert</vt:lpstr>
      <vt:lpstr>Telescoping</vt:lpstr>
      <vt:lpstr>Telescoping som bevismetode</vt:lpstr>
      <vt:lpstr>Analyse af MergeSort</vt:lpstr>
      <vt:lpstr>Teleskop-kikkert</vt:lpstr>
      <vt:lpstr>Quicksort</vt:lpstr>
      <vt:lpstr>Analyse af worst case QuickSort</vt:lpstr>
    </vt:vector>
  </TitlesOfParts>
  <Company>Syddansk Unversitet - University of Southern Denmark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VPR/ADA 26. oktober 2011</dc:title>
  <dc:creator>Ole Dolriis</dc:creator>
  <cp:lastModifiedBy>Ole Dolriis</cp:lastModifiedBy>
  <cp:revision>117</cp:revision>
  <dcterms:created xsi:type="dcterms:W3CDTF">2011-10-24T09:13:04Z</dcterms:created>
  <dcterms:modified xsi:type="dcterms:W3CDTF">2025-10-24T07:15:15Z</dcterms:modified>
</cp:coreProperties>
</file>