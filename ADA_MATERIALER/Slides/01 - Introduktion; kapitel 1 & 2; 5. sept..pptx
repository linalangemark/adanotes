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266" r:id="rId3"/>
    <p:sldId id="289" r:id="rId4"/>
    <p:sldId id="276" r:id="rId5"/>
    <p:sldId id="269" r:id="rId6"/>
    <p:sldId id="270" r:id="rId7"/>
    <p:sldId id="272" r:id="rId8"/>
    <p:sldId id="274" r:id="rId9"/>
    <p:sldId id="273" r:id="rId10"/>
    <p:sldId id="271" r:id="rId11"/>
    <p:sldId id="321" r:id="rId12"/>
    <p:sldId id="330" r:id="rId13"/>
    <p:sldId id="323" r:id="rId14"/>
    <p:sldId id="322" r:id="rId15"/>
    <p:sldId id="258" r:id="rId16"/>
    <p:sldId id="279" r:id="rId17"/>
    <p:sldId id="287" r:id="rId18"/>
    <p:sldId id="268" r:id="rId19"/>
    <p:sldId id="291" r:id="rId20"/>
    <p:sldId id="331" r:id="rId21"/>
    <p:sldId id="267" r:id="rId22"/>
    <p:sldId id="292" r:id="rId23"/>
    <p:sldId id="324" r:id="rId24"/>
    <p:sldId id="319" r:id="rId25"/>
    <p:sldId id="332" r:id="rId26"/>
    <p:sldId id="329" r:id="rId27"/>
    <p:sldId id="264" r:id="rId28"/>
    <p:sldId id="325" r:id="rId29"/>
    <p:sldId id="286" r:id="rId30"/>
    <p:sldId id="259" r:id="rId31"/>
    <p:sldId id="260" r:id="rId32"/>
    <p:sldId id="261" r:id="rId33"/>
    <p:sldId id="320" r:id="rId34"/>
    <p:sldId id="263" r:id="rId35"/>
    <p:sldId id="275" r:id="rId36"/>
    <p:sldId id="265" r:id="rId37"/>
    <p:sldId id="278" r:id="rId38"/>
    <p:sldId id="280" r:id="rId39"/>
    <p:sldId id="290" r:id="rId40"/>
    <p:sldId id="281" r:id="rId41"/>
    <p:sldId id="282" r:id="rId42"/>
    <p:sldId id="283" r:id="rId43"/>
    <p:sldId id="284" r:id="rId44"/>
    <p:sldId id="285" r:id="rId45"/>
    <p:sldId id="288" r:id="rId46"/>
    <p:sldId id="327" r:id="rId47"/>
    <p:sldId id="326" r:id="rId48"/>
    <p:sldId id="328" r:id="rId49"/>
    <p:sldId id="333" r:id="rId50"/>
    <p:sldId id="277" r:id="rId51"/>
    <p:sldId id="262" r:id="rId52"/>
  </p:sldIdLst>
  <p:sldSz cx="9144000" cy="6858000" type="screen4x3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600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0E21D-A9A7-485C-84CD-42D0E7AB2282}" type="datetimeFigureOut">
              <a:rPr lang="da-DK" smtClean="0"/>
              <a:t>05-09-2025</a:t>
            </a:fld>
            <a:endParaRPr lang="da-DK"/>
          </a:p>
        </p:txBody>
      </p:sp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BBABF-BE8F-4F57-8E1C-DEA07D0D2D9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73913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Vis at summen af de første n lige tal er n(n+1)/2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3BBABF-BE8F-4F57-8E1C-DEA07D0D2D90}" type="slidenum">
              <a:rPr lang="da-DK" smtClean="0"/>
              <a:t>51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4845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758D-7677-4335-812D-96CEDE179747}" type="datetimeFigureOut">
              <a:rPr lang="da-DK" smtClean="0"/>
              <a:pPr/>
              <a:t>05-09-2025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BA4B4-0441-40E3-BD59-8B76A4DE8A68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758D-7677-4335-812D-96CEDE179747}" type="datetimeFigureOut">
              <a:rPr lang="da-DK" smtClean="0"/>
              <a:pPr/>
              <a:t>05-09-2025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BA4B4-0441-40E3-BD59-8B76A4DE8A68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758D-7677-4335-812D-96CEDE179747}" type="datetimeFigureOut">
              <a:rPr lang="da-DK" smtClean="0"/>
              <a:pPr/>
              <a:t>05-09-2025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BA4B4-0441-40E3-BD59-8B76A4DE8A68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758D-7677-4335-812D-96CEDE179747}" type="datetimeFigureOut">
              <a:rPr lang="da-DK" smtClean="0"/>
              <a:pPr/>
              <a:t>05-09-2025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BA4B4-0441-40E3-BD59-8B76A4DE8A68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758D-7677-4335-812D-96CEDE179747}" type="datetimeFigureOut">
              <a:rPr lang="da-DK" smtClean="0"/>
              <a:pPr/>
              <a:t>05-09-2025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dias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BA4B4-0441-40E3-BD59-8B76A4DE8A68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758D-7677-4335-812D-96CEDE179747}" type="datetimeFigureOut">
              <a:rPr lang="da-DK" smtClean="0"/>
              <a:pPr/>
              <a:t>05-09-2025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BA4B4-0441-40E3-BD59-8B76A4DE8A68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758D-7677-4335-812D-96CEDE179747}" type="datetimeFigureOut">
              <a:rPr lang="da-DK" smtClean="0"/>
              <a:pPr/>
              <a:t>05-09-2025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BA4B4-0441-40E3-BD59-8B76A4DE8A68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758D-7677-4335-812D-96CEDE179747}" type="datetimeFigureOut">
              <a:rPr lang="da-DK" smtClean="0"/>
              <a:pPr/>
              <a:t>05-09-2025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BA4B4-0441-40E3-BD59-8B76A4DE8A68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758D-7677-4335-812D-96CEDE179747}" type="datetimeFigureOut">
              <a:rPr lang="da-DK" smtClean="0"/>
              <a:pPr/>
              <a:t>05-09-2025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BA4B4-0441-40E3-BD59-8B76A4DE8A68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758D-7677-4335-812D-96CEDE179747}" type="datetimeFigureOut">
              <a:rPr lang="da-DK" smtClean="0"/>
              <a:pPr/>
              <a:t>05-09-2025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BA4B4-0441-40E3-BD59-8B76A4DE8A68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B758D-7677-4335-812D-96CEDE179747}" type="datetimeFigureOut">
              <a:rPr lang="da-DK" smtClean="0"/>
              <a:pPr/>
              <a:t>05-09-2025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BA4B4-0441-40E3-BD59-8B76A4DE8A68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B758D-7677-4335-812D-96CEDE179747}" type="datetimeFigureOut">
              <a:rPr lang="da-DK" smtClean="0"/>
              <a:pPr/>
              <a:t>05-09-2025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BA4B4-0441-40E3-BD59-8B76A4DE8A68}" type="slidenum">
              <a:rPr lang="da-DK" smtClean="0"/>
              <a:pPr/>
              <a:t>‹nr.›</a:t>
            </a:fld>
            <a:endParaRPr lang="da-D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vinie20@student.sdu.dk" TargetMode="External"/><Relationship Id="rId2" Type="http://schemas.openxmlformats.org/officeDocument/2006/relationships/hyperlink" Target="mailto:kacha23@student.sdu.dk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ADA</a:t>
            </a:r>
            <a:br>
              <a:rPr lang="da-DK" dirty="0"/>
            </a:br>
            <a:r>
              <a:rPr lang="da-DK" dirty="0"/>
              <a:t>Algoritmer &amp; Datastrukturer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Introduktion mm.</a:t>
            </a:r>
          </a:p>
          <a:p>
            <a:r>
              <a:rPr lang="da-DK" dirty="0"/>
              <a:t>5. september,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da-DK"/>
              <a:t>CV – Ole Dolriis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>
            <a:noAutofit/>
          </a:bodyPr>
          <a:lstStyle/>
          <a:p>
            <a:pPr marL="800100" lvl="2" indent="0">
              <a:buNone/>
            </a:pPr>
            <a:r>
              <a:rPr lang="da-DK" sz="1600" dirty="0"/>
              <a:t>1953</a:t>
            </a:r>
            <a:r>
              <a:rPr lang="da-DK" sz="1600" b="1" dirty="0"/>
              <a:t>		</a:t>
            </a:r>
            <a:r>
              <a:rPr lang="da-DK" sz="1600" dirty="0"/>
              <a:t>Født i København</a:t>
            </a:r>
          </a:p>
          <a:p>
            <a:pPr marL="800100" lvl="2" indent="0">
              <a:buNone/>
            </a:pPr>
            <a:r>
              <a:rPr lang="da-DK" sz="1600" dirty="0"/>
              <a:t>1976-1977		Programmør Danfoss</a:t>
            </a:r>
          </a:p>
          <a:p>
            <a:pPr marL="800100" lvl="2" indent="0">
              <a:buNone/>
            </a:pPr>
            <a:r>
              <a:rPr lang="da-DK" sz="1600" dirty="0"/>
              <a:t>1977-1979		Programmør Regnecentralen</a:t>
            </a:r>
          </a:p>
          <a:p>
            <a:pPr marL="800100" lvl="2" indent="0">
              <a:buNone/>
            </a:pPr>
            <a:r>
              <a:rPr lang="da-DK" sz="1600" dirty="0"/>
              <a:t>1979-1983		Softwareudvikler og team </a:t>
            </a:r>
            <a:r>
              <a:rPr lang="da-DK" sz="1600" dirty="0" err="1"/>
              <a:t>lead</a:t>
            </a:r>
            <a:r>
              <a:rPr lang="da-DK" sz="1600" dirty="0"/>
              <a:t> ELSAM (Ørsted)</a:t>
            </a:r>
          </a:p>
          <a:p>
            <a:pPr marL="800100" lvl="2" indent="0">
              <a:buNone/>
            </a:pPr>
            <a:r>
              <a:rPr lang="da-DK" sz="1600" dirty="0"/>
              <a:t>1983-1989		Softwareudvikler og team </a:t>
            </a:r>
            <a:r>
              <a:rPr lang="da-DK" sz="1600" dirty="0" err="1"/>
              <a:t>lead</a:t>
            </a:r>
            <a:r>
              <a:rPr lang="da-DK" sz="1600" dirty="0"/>
              <a:t> Mærsk Data</a:t>
            </a:r>
          </a:p>
          <a:p>
            <a:pPr marL="800100" lvl="2" indent="0">
              <a:buNone/>
            </a:pPr>
            <a:r>
              <a:rPr lang="da-DK" sz="1600" dirty="0"/>
              <a:t>1989-1993		Projektchef Mærsk Data</a:t>
            </a:r>
          </a:p>
          <a:p>
            <a:pPr marL="800100" lvl="2" indent="0">
              <a:buNone/>
            </a:pPr>
            <a:r>
              <a:rPr lang="da-DK" sz="1600" dirty="0"/>
              <a:t>1993-2001		Underviser </a:t>
            </a:r>
            <a:r>
              <a:rPr lang="da-DK" sz="1600" dirty="0" err="1"/>
              <a:t>TietgenSkolen</a:t>
            </a:r>
            <a:r>
              <a:rPr lang="da-DK" sz="1600" dirty="0"/>
              <a:t> (Datamatikeruddannelsen)</a:t>
            </a:r>
          </a:p>
          <a:p>
            <a:pPr marL="800100" lvl="2" indent="0">
              <a:buNone/>
            </a:pPr>
            <a:r>
              <a:rPr lang="da-DK" sz="1600" dirty="0"/>
              <a:t>2001-2006		Lektor Ingeniørhøjskolen Odense Teknikum</a:t>
            </a:r>
          </a:p>
          <a:p>
            <a:pPr marL="800100" lvl="2" indent="0">
              <a:buNone/>
            </a:pPr>
            <a:r>
              <a:rPr lang="da-DK" sz="1600" dirty="0"/>
              <a:t>2006-		Lektor/Docent SDU (studieleder 2005-2020)</a:t>
            </a:r>
          </a:p>
          <a:p>
            <a:pPr marL="800100" lvl="2" indent="0">
              <a:buNone/>
            </a:pPr>
            <a:r>
              <a:rPr lang="da-DK" sz="1600" dirty="0"/>
              <a:t>2024-		Adjunktvikar Erhvervsakademi København (datamatiker)	</a:t>
            </a:r>
          </a:p>
          <a:p>
            <a:pPr marL="800100" lvl="2" indent="0">
              <a:buNone/>
            </a:pPr>
            <a:r>
              <a:rPr lang="da-DK" sz="1600" u="sng" dirty="0"/>
              <a:t>Education</a:t>
            </a:r>
            <a:endParaRPr lang="da-DK" sz="1600" dirty="0"/>
          </a:p>
          <a:p>
            <a:pPr marL="800100" lvl="2" indent="0">
              <a:buNone/>
            </a:pPr>
            <a:r>
              <a:rPr lang="en-GB" sz="1600" dirty="0"/>
              <a:t>High School Graduate		1972	Pennsylvania, USA</a:t>
            </a:r>
            <a:endParaRPr lang="da-DK" sz="1600" dirty="0"/>
          </a:p>
          <a:p>
            <a:pPr marL="800100" lvl="2" indent="0">
              <a:buNone/>
            </a:pPr>
            <a:r>
              <a:rPr lang="da-DK" sz="1600" dirty="0"/>
              <a:t>Student (mat./</a:t>
            </a:r>
            <a:r>
              <a:rPr lang="da-DK" sz="1600" dirty="0" err="1"/>
              <a:t>fys</a:t>
            </a:r>
            <a:r>
              <a:rPr lang="da-DK" sz="1600" dirty="0"/>
              <a:t>.)		1974	Mulernes Legatskole</a:t>
            </a:r>
          </a:p>
          <a:p>
            <a:pPr marL="800100" lvl="2" indent="0">
              <a:buNone/>
            </a:pPr>
            <a:r>
              <a:rPr lang="da-DK" sz="1600" dirty="0"/>
              <a:t>Edb-Assistent		1976	</a:t>
            </a:r>
            <a:r>
              <a:rPr lang="da-DK" sz="1600" dirty="0" err="1"/>
              <a:t>TietgenSkolen</a:t>
            </a:r>
            <a:r>
              <a:rPr lang="da-DK" sz="1600" dirty="0"/>
              <a:t>	</a:t>
            </a:r>
          </a:p>
          <a:p>
            <a:pPr marL="800100" lvl="2" indent="0">
              <a:buNone/>
            </a:pPr>
            <a:r>
              <a:rPr lang="da-DK" sz="1600" dirty="0"/>
              <a:t>HD-R(regnskabsvæsen)		1986	Odense Universitet</a:t>
            </a:r>
          </a:p>
          <a:p>
            <a:pPr marL="800100" lvl="2" indent="0">
              <a:buNone/>
            </a:pPr>
            <a:r>
              <a:rPr lang="da-DK" sz="1600" dirty="0"/>
              <a:t>Lederuddannelse		1991	Mærsk Data</a:t>
            </a:r>
          </a:p>
          <a:p>
            <a:pPr marL="800100" lvl="2" indent="0">
              <a:buNone/>
            </a:pPr>
            <a:r>
              <a:rPr lang="da-DK" sz="1600" dirty="0"/>
              <a:t>Bachelor i datalogi		1998	Aalborg Universitet</a:t>
            </a:r>
          </a:p>
          <a:p>
            <a:pPr marL="800100" lvl="2" indent="0">
              <a:buNone/>
            </a:pPr>
            <a:r>
              <a:rPr lang="da-DK" sz="1600" dirty="0"/>
              <a:t>Cand.scient. i datalogi		2007	Aalborg Universitet</a:t>
            </a:r>
          </a:p>
          <a:p>
            <a:pPr marL="800100" lvl="2" indent="0">
              <a:buNone/>
            </a:pPr>
            <a:r>
              <a:rPr lang="da-DK" sz="1600" dirty="0"/>
              <a:t>Cand.mag. i historie		2016	Syddansk Universitet</a:t>
            </a:r>
          </a:p>
          <a:p>
            <a:pPr marL="0" indent="0">
              <a:buNone/>
            </a:pPr>
            <a:endParaRPr lang="da-DK" sz="1600" dirty="0"/>
          </a:p>
          <a:p>
            <a:pPr marL="800100" lvl="2" indent="0">
              <a:buNone/>
            </a:pPr>
            <a:endParaRPr lang="da-DK" sz="1600" dirty="0"/>
          </a:p>
          <a:p>
            <a:pPr marL="0" indent="0">
              <a:buNone/>
            </a:pPr>
            <a:endParaRPr lang="da-DK" sz="1600" dirty="0"/>
          </a:p>
        </p:txBody>
      </p:sp>
    </p:spTree>
    <p:extLst>
      <p:ext uri="{BB962C8B-B14F-4D97-AF65-F5344CB8AC3E}">
        <p14:creationId xmlns:p14="http://schemas.microsoft.com/office/powerpoint/2010/main" val="2656855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B565BA-F062-485F-94FF-613DD9F4A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Instruktorer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BBFEB7F-0E5E-4327-8504-16AE3E328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r>
              <a:rPr lang="fi-FI" dirty="0"/>
              <a:t>Kalliopi Charalampous </a:t>
            </a:r>
          </a:p>
          <a:p>
            <a:pPr marL="0" indent="0" algn="ctr">
              <a:buNone/>
            </a:pPr>
            <a:r>
              <a:rPr lang="fi-FI" dirty="0">
                <a:hlinkClick r:id="rId2"/>
              </a:rPr>
              <a:t>kacha23@student.sdu.dk</a:t>
            </a:r>
            <a:endParaRPr lang="da-DK" dirty="0"/>
          </a:p>
          <a:p>
            <a:pPr marL="0" indent="0" algn="ctr">
              <a:buNone/>
            </a:pPr>
            <a:r>
              <a:rPr lang="da-DK" dirty="0"/>
              <a:t>Victor Brønsholm Nielsen </a:t>
            </a:r>
            <a:r>
              <a:rPr lang="da-DK" dirty="0">
                <a:hlinkClick r:id="rId3"/>
              </a:rPr>
              <a:t>vinie20@student.sdu.dk</a:t>
            </a:r>
            <a:endParaRPr lang="da-DK" dirty="0"/>
          </a:p>
          <a:p>
            <a:pPr marL="0" indent="0" algn="ctr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68561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Uddannelser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 algn="ctr">
              <a:buNone/>
            </a:pPr>
            <a:r>
              <a:rPr lang="da-DK" dirty="0"/>
              <a:t>Softwareteknologi (diplom)</a:t>
            </a:r>
          </a:p>
          <a:p>
            <a:pPr marL="0" indent="0" algn="ctr">
              <a:buNone/>
            </a:pPr>
            <a:r>
              <a:rPr lang="da-DK" dirty="0"/>
              <a:t>Robotteknologi (diplom)</a:t>
            </a:r>
          </a:p>
          <a:p>
            <a:pPr marL="0" indent="0" algn="ctr">
              <a:buNone/>
            </a:pPr>
            <a:r>
              <a:rPr lang="da-DK" dirty="0"/>
              <a:t>Robotteknologi (civil)</a:t>
            </a:r>
          </a:p>
          <a:p>
            <a:pPr marL="0" indent="0" algn="ctr">
              <a:buNone/>
            </a:pPr>
            <a:r>
              <a:rPr lang="da-DK" dirty="0"/>
              <a:t>Spiludvikling og Læringsteknologi (diplom)</a:t>
            </a:r>
          </a:p>
          <a:p>
            <a:pPr marL="0" indent="0" algn="ctr">
              <a:buNone/>
            </a:pPr>
            <a:r>
              <a:rPr lang="da-DK" dirty="0"/>
              <a:t>Elektronik (diplom)</a:t>
            </a:r>
          </a:p>
          <a:p>
            <a:pPr marL="0" indent="0">
              <a:buNone/>
            </a:pPr>
            <a:endParaRPr lang="da-DK" dirty="0"/>
          </a:p>
          <a:p>
            <a:pPr marL="0" indent="0" algn="ctr">
              <a:buNone/>
            </a:pPr>
            <a:endParaRPr lang="da-DK" sz="2400" dirty="0"/>
          </a:p>
        </p:txBody>
      </p:sp>
    </p:spTree>
    <p:extLst>
      <p:ext uri="{BB962C8B-B14F-4D97-AF65-F5344CB8AC3E}">
        <p14:creationId xmlns:p14="http://schemas.microsoft.com/office/powerpoint/2010/main" val="3052960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Fra kursusbeskrivelsen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 err="1">
                <a:latin typeface="+mj-lt"/>
              </a:rPr>
              <a:t>Læringsmål</a:t>
            </a:r>
            <a:r>
              <a:rPr lang="en-US" sz="1600" dirty="0">
                <a:latin typeface="+mj-lt"/>
              </a:rPr>
              <a:t>:</a:t>
            </a:r>
          </a:p>
          <a:p>
            <a:pPr marL="0" indent="0">
              <a:buNone/>
            </a:pPr>
            <a:br>
              <a:rPr lang="en-US" sz="1600" dirty="0">
                <a:latin typeface="+mj-lt"/>
              </a:rPr>
            </a:br>
            <a:r>
              <a:rPr lang="en-US" sz="1600" dirty="0" err="1">
                <a:latin typeface="+mj-lt"/>
              </a:rPr>
              <a:t>Viden</a:t>
            </a:r>
            <a:endParaRPr lang="en-US" sz="1600" dirty="0">
              <a:latin typeface="+mj-lt"/>
            </a:endParaRPr>
          </a:p>
          <a:p>
            <a:pPr marL="0" indent="0" algn="l">
              <a:buNone/>
            </a:pPr>
            <a:r>
              <a:rPr lang="da-DK" sz="1600" b="0" i="0" dirty="0">
                <a:solidFill>
                  <a:srgbClr val="333333"/>
                </a:solidFill>
                <a:effectLst/>
                <a:latin typeface="+mj-lt"/>
              </a:rPr>
              <a:t>Efter at have gennemført kurset har den succesfulde studerende viden om: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da-DK" sz="1600" b="0" i="0" dirty="0">
                <a:solidFill>
                  <a:srgbClr val="333333"/>
                </a:solidFill>
                <a:effectLst/>
                <a:latin typeface="+mj-lt"/>
              </a:rPr>
              <a:t>Datastrukturer (f.eks. Liste, Stak, Kø, Træ, Binært Søgetræ, AVL-træ, </a:t>
            </a:r>
            <a:r>
              <a:rPr lang="da-DK" sz="1600" b="0" i="0" dirty="0" err="1">
                <a:solidFill>
                  <a:srgbClr val="333333"/>
                </a:solidFill>
                <a:effectLst/>
                <a:latin typeface="+mj-lt"/>
              </a:rPr>
              <a:t>Heap</a:t>
            </a:r>
            <a:r>
              <a:rPr lang="da-DK" sz="1600" b="0" i="0" dirty="0">
                <a:solidFill>
                  <a:srgbClr val="333333"/>
                </a:solidFill>
                <a:effectLst/>
                <a:latin typeface="+mj-lt"/>
              </a:rPr>
              <a:t>, Graf)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da-DK" sz="1600" b="0" i="0" dirty="0">
                <a:solidFill>
                  <a:srgbClr val="333333"/>
                </a:solidFill>
                <a:effectLst/>
                <a:latin typeface="+mj-lt"/>
              </a:rPr>
              <a:t>Algoritmeprincipper (f.eks. </a:t>
            </a:r>
            <a:r>
              <a:rPr lang="da-DK" sz="1600" b="0" i="0" dirty="0" err="1">
                <a:solidFill>
                  <a:srgbClr val="333333"/>
                </a:solidFill>
                <a:effectLst/>
                <a:latin typeface="+mj-lt"/>
              </a:rPr>
              <a:t>Greedy</a:t>
            </a:r>
            <a:r>
              <a:rPr lang="da-DK" sz="1600" b="0" i="0" dirty="0">
                <a:solidFill>
                  <a:srgbClr val="333333"/>
                </a:solidFill>
                <a:effectLst/>
                <a:latin typeface="+mj-lt"/>
              </a:rPr>
              <a:t>, </a:t>
            </a:r>
            <a:r>
              <a:rPr lang="da-DK" sz="1600" b="0" i="0" dirty="0" err="1">
                <a:solidFill>
                  <a:srgbClr val="333333"/>
                </a:solidFill>
                <a:effectLst/>
                <a:latin typeface="+mj-lt"/>
              </a:rPr>
              <a:t>Divide</a:t>
            </a:r>
            <a:r>
              <a:rPr lang="da-DK" sz="1600" b="0" i="0" dirty="0">
                <a:solidFill>
                  <a:srgbClr val="333333"/>
                </a:solidFill>
                <a:effectLst/>
                <a:latin typeface="+mj-lt"/>
              </a:rPr>
              <a:t> and </a:t>
            </a:r>
            <a:r>
              <a:rPr lang="da-DK" sz="1600" b="0" i="0" dirty="0" err="1">
                <a:solidFill>
                  <a:srgbClr val="333333"/>
                </a:solidFill>
                <a:effectLst/>
                <a:latin typeface="+mj-lt"/>
              </a:rPr>
              <a:t>conquer</a:t>
            </a:r>
            <a:r>
              <a:rPr lang="da-DK" sz="1600" b="0" i="0" dirty="0">
                <a:solidFill>
                  <a:srgbClr val="333333"/>
                </a:solidFill>
                <a:effectLst/>
                <a:latin typeface="+mj-lt"/>
              </a:rPr>
              <a:t>), dynamisk programmering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da-DK" sz="1600" b="0" i="0" dirty="0">
                <a:solidFill>
                  <a:srgbClr val="333333"/>
                </a:solidFill>
                <a:effectLst/>
                <a:latin typeface="+mj-lt"/>
              </a:rPr>
              <a:t>Kompleksitetsanalyse af datastrukturer og algoritmer, herunder </a:t>
            </a:r>
            <a:r>
              <a:rPr lang="da-DK" sz="1600" b="0" i="0" dirty="0" err="1">
                <a:solidFill>
                  <a:srgbClr val="333333"/>
                </a:solidFill>
                <a:effectLst/>
                <a:latin typeface="+mj-lt"/>
              </a:rPr>
              <a:t>rekurrens</a:t>
            </a:r>
            <a:r>
              <a:rPr lang="da-DK" sz="1600" b="0" i="0" dirty="0">
                <a:solidFill>
                  <a:srgbClr val="333333"/>
                </a:solidFill>
                <a:effectLst/>
                <a:latin typeface="+mj-lt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da-DK" sz="1600" b="0" i="0" dirty="0">
                <a:solidFill>
                  <a:srgbClr val="333333"/>
                </a:solidFill>
                <a:effectLst/>
                <a:latin typeface="+mj-lt"/>
              </a:rPr>
              <a:t>Problemer og eksempler i relation til datastrukturer og algoritmer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da-DK" sz="1600" b="0" i="0" dirty="0">
                <a:solidFill>
                  <a:srgbClr val="333333"/>
                </a:solidFill>
                <a:effectLst/>
                <a:latin typeface="+mj-lt"/>
              </a:rPr>
              <a:t>Implementering og sproglige konstruktioner i objektorienteret programmeringssprog</a:t>
            </a:r>
          </a:p>
          <a:p>
            <a:pPr marL="0" indent="0">
              <a:buNone/>
            </a:pPr>
            <a:endParaRPr lang="en-US" sz="1600" dirty="0">
              <a:latin typeface="+mj-lt"/>
            </a:endParaRPr>
          </a:p>
          <a:p>
            <a:pPr marL="0" indent="0">
              <a:buNone/>
            </a:pPr>
            <a:r>
              <a:rPr lang="en-US" sz="1600" dirty="0" err="1">
                <a:latin typeface="+mj-lt"/>
              </a:rPr>
              <a:t>Færdigheder</a:t>
            </a:r>
            <a:endParaRPr lang="en-US" sz="1600" dirty="0">
              <a:latin typeface="+mj-lt"/>
            </a:endParaRPr>
          </a:p>
          <a:p>
            <a:pPr marL="0" indent="0" algn="l">
              <a:buNone/>
            </a:pPr>
            <a:r>
              <a:rPr lang="da-DK" sz="1600" b="0" i="0" dirty="0">
                <a:solidFill>
                  <a:srgbClr val="333333"/>
                </a:solidFill>
                <a:effectLst/>
                <a:latin typeface="+mj-lt"/>
              </a:rPr>
              <a:t>Efter at have gennemført kurset har den succesfulde studerende:</a:t>
            </a:r>
          </a:p>
          <a:p>
            <a:r>
              <a:rPr lang="da-DK" sz="1600" b="0" i="0" dirty="0">
                <a:solidFill>
                  <a:srgbClr val="333333"/>
                </a:solidFill>
                <a:effectLst/>
                <a:latin typeface="+mj-lt"/>
              </a:rPr>
              <a:t>Styrket programmeringserfaring i et objektorienteret sprog </a:t>
            </a:r>
          </a:p>
          <a:p>
            <a:pPr marL="0" indent="0">
              <a:buNone/>
            </a:pPr>
            <a:br>
              <a:rPr lang="en-US" sz="1600" dirty="0">
                <a:latin typeface="+mj-lt"/>
              </a:rPr>
            </a:br>
            <a:endParaRPr lang="en-US" sz="1600" dirty="0">
              <a:latin typeface="+mj-lt"/>
            </a:endParaRPr>
          </a:p>
          <a:p>
            <a:pPr marL="0" indent="0">
              <a:buNone/>
            </a:pPr>
            <a:r>
              <a:rPr lang="en-US" sz="1600" dirty="0" err="1">
                <a:latin typeface="+mj-lt"/>
              </a:rPr>
              <a:t>Kompetencer</a:t>
            </a:r>
            <a:endParaRPr lang="en-US" sz="1600" dirty="0">
              <a:latin typeface="+mj-lt"/>
            </a:endParaRPr>
          </a:p>
          <a:p>
            <a:pPr marL="0" indent="0">
              <a:buNone/>
            </a:pPr>
            <a:r>
              <a:rPr lang="da-DK" sz="1600" dirty="0">
                <a:latin typeface="+mj-lt"/>
              </a:rPr>
              <a:t>Efter at have gennemført kurset kan den succesfulde studerende: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1600" dirty="0">
                <a:effectLst/>
                <a:latin typeface="+mj-lt"/>
              </a:rPr>
              <a:t>Implementere de gennemgåede algoritmer og datastrukturer på optimal vis i forhold til tids- og pladsforbrug. </a:t>
            </a:r>
          </a:p>
          <a:p>
            <a:pPr marL="0" indent="0">
              <a:buNone/>
            </a:pPr>
            <a:br>
              <a:rPr lang="da-DK" sz="1600" dirty="0">
                <a:effectLst/>
                <a:latin typeface="+mj-lt"/>
              </a:rPr>
            </a:br>
            <a:r>
              <a:rPr lang="en-US" sz="1600" dirty="0">
                <a:latin typeface="+mj-lt"/>
              </a:rPr>
              <a:t> </a:t>
            </a:r>
            <a:endParaRPr lang="da-DK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17659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Praktisk</a:t>
            </a:r>
          </a:p>
        </p:txBody>
      </p:sp>
      <p:graphicFrame>
        <p:nvGraphicFramePr>
          <p:cNvPr id="4" name="Pladsholder til indhold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8532305"/>
              </p:ext>
            </p:extLst>
          </p:nvPr>
        </p:nvGraphicFramePr>
        <p:xfrm>
          <a:off x="611560" y="1600200"/>
          <a:ext cx="7877138" cy="4525962"/>
        </p:xfrm>
        <a:graphic>
          <a:graphicData uri="http://schemas.openxmlformats.org/drawingml/2006/table">
            <a:tbl>
              <a:tblPr/>
              <a:tblGrid>
                <a:gridCol w="7877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70377">
                <a:tc>
                  <a:txBody>
                    <a:bodyPr/>
                    <a:lstStyle/>
                    <a:p>
                      <a:r>
                        <a:rPr lang="da-DK" sz="1700" dirty="0"/>
                        <a:t>Lektioner:</a:t>
                      </a:r>
                      <a:br>
                        <a:rPr lang="da-DK" sz="1700" dirty="0"/>
                      </a:br>
                      <a:r>
                        <a:rPr lang="da-DK" sz="1700" dirty="0"/>
                        <a:t>48     </a:t>
                      </a:r>
                    </a:p>
                    <a:p>
                      <a:r>
                        <a:rPr lang="da-DK" sz="1700" dirty="0"/>
                        <a:t> 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0377">
                <a:tc>
                  <a:txBody>
                    <a:bodyPr/>
                    <a:lstStyle/>
                    <a:p>
                      <a:r>
                        <a:rPr lang="en-US" sz="1700" dirty="0" err="1"/>
                        <a:t>Undervisningsform</a:t>
                      </a:r>
                      <a:r>
                        <a:rPr lang="en-US" sz="1700" dirty="0"/>
                        <a:t>:</a:t>
                      </a:r>
                      <a:br>
                        <a:rPr lang="en-US" sz="1700" dirty="0"/>
                      </a:br>
                      <a:r>
                        <a:rPr lang="en-US" sz="1700" dirty="0" err="1"/>
                        <a:t>Forelæsninger</a:t>
                      </a:r>
                      <a:r>
                        <a:rPr lang="en-US" sz="1700" dirty="0"/>
                        <a:t> </a:t>
                      </a:r>
                      <a:r>
                        <a:rPr lang="en-US" sz="1700" dirty="0" err="1"/>
                        <a:t>samt</a:t>
                      </a:r>
                      <a:r>
                        <a:rPr lang="en-US" sz="1700" dirty="0"/>
                        <a:t> </a:t>
                      </a:r>
                      <a:r>
                        <a:rPr lang="en-US" sz="1700" dirty="0" err="1"/>
                        <a:t>opgaveløsning</a:t>
                      </a:r>
                      <a:r>
                        <a:rPr lang="en-US" sz="1700" dirty="0"/>
                        <a:t> med </a:t>
                      </a:r>
                      <a:r>
                        <a:rPr lang="en-US" sz="1700" dirty="0" err="1"/>
                        <a:t>vejledning</a:t>
                      </a:r>
                      <a:r>
                        <a:rPr lang="en-US" sz="1700" dirty="0"/>
                        <a:t>.      </a:t>
                      </a:r>
                    </a:p>
                    <a:p>
                      <a:r>
                        <a:rPr lang="en-US" sz="1700" dirty="0"/>
                        <a:t> 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3717">
                <a:tc>
                  <a:txBody>
                    <a:bodyPr/>
                    <a:lstStyle/>
                    <a:p>
                      <a:r>
                        <a:rPr lang="en-US" sz="1700" dirty="0" err="1"/>
                        <a:t>Eksamensbetingelser</a:t>
                      </a:r>
                      <a:r>
                        <a:rPr lang="en-US" sz="1700" dirty="0"/>
                        <a:t>:</a:t>
                      </a:r>
                      <a:br>
                        <a:rPr lang="en-US" sz="1700" dirty="0"/>
                      </a:br>
                      <a:r>
                        <a:rPr lang="en-US" sz="1700" dirty="0" err="1"/>
                        <a:t>Godkendt</a:t>
                      </a:r>
                      <a:r>
                        <a:rPr lang="en-US" sz="1700" dirty="0"/>
                        <a:t> </a:t>
                      </a:r>
                      <a:r>
                        <a:rPr lang="en-US" sz="1700" dirty="0" err="1"/>
                        <a:t>opgaveportefølje</a:t>
                      </a:r>
                      <a:r>
                        <a:rPr lang="en-US" sz="1700" dirty="0"/>
                        <a:t>. 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1491">
                <a:tc>
                  <a:txBody>
                    <a:bodyPr/>
                    <a:lstStyle/>
                    <a:p>
                      <a:r>
                        <a:rPr lang="en-US" sz="1700" dirty="0" err="1"/>
                        <a:t>Eksamen</a:t>
                      </a:r>
                      <a:r>
                        <a:rPr lang="en-US" sz="1700" dirty="0"/>
                        <a:t>:</a:t>
                      </a:r>
                      <a:br>
                        <a:rPr lang="en-US" sz="1700" dirty="0"/>
                      </a:br>
                      <a:r>
                        <a:rPr lang="en-US" sz="1700" dirty="0"/>
                        <a:t>3-timers </a:t>
                      </a:r>
                      <a:r>
                        <a:rPr lang="en-US" sz="1700" dirty="0" err="1"/>
                        <a:t>skriftlig</a:t>
                      </a:r>
                      <a:r>
                        <a:rPr lang="en-US" sz="1700" dirty="0"/>
                        <a:t> </a:t>
                      </a:r>
                      <a:r>
                        <a:rPr lang="en-US" sz="1700" dirty="0" err="1"/>
                        <a:t>eksamen</a:t>
                      </a:r>
                      <a:r>
                        <a:rPr lang="en-US" sz="1700" dirty="0"/>
                        <a:t> med offline </a:t>
                      </a:r>
                      <a:r>
                        <a:rPr lang="en-US" sz="1700" dirty="0" err="1"/>
                        <a:t>hjælpemidler</a:t>
                      </a:r>
                      <a:r>
                        <a:rPr lang="en-US" sz="1700" dirty="0"/>
                        <a:t>; </a:t>
                      </a:r>
                      <a:r>
                        <a:rPr lang="en-US" sz="1700" dirty="0" err="1"/>
                        <a:t>ingen</a:t>
                      </a:r>
                      <a:r>
                        <a:rPr lang="en-US" sz="1700" dirty="0"/>
                        <a:t> </a:t>
                      </a:r>
                      <a:r>
                        <a:rPr lang="en-US" sz="1700" dirty="0" err="1"/>
                        <a:t>censur</a:t>
                      </a:r>
                      <a:r>
                        <a:rPr lang="en-US" sz="1700" dirty="0"/>
                        <a:t>; </a:t>
                      </a:r>
                      <a:r>
                        <a:rPr lang="en-US" sz="1700" dirty="0" err="1"/>
                        <a:t>karakter</a:t>
                      </a:r>
                      <a:r>
                        <a:rPr lang="en-US" sz="1700" dirty="0"/>
                        <a:t> </a:t>
                      </a:r>
                      <a:r>
                        <a:rPr lang="en-US" sz="1700" dirty="0" err="1"/>
                        <a:t>efter</a:t>
                      </a:r>
                      <a:r>
                        <a:rPr lang="en-US" sz="1700" dirty="0"/>
                        <a:t> 7-trinsskalaen.  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8129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Forudsætninger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 algn="ctr">
              <a:buNone/>
            </a:pPr>
            <a:r>
              <a:rPr lang="da-DK" dirty="0"/>
              <a:t>Grundlæggende objektorienterede programmeringskompetencer i Java eller C++. </a:t>
            </a:r>
          </a:p>
        </p:txBody>
      </p:sp>
    </p:spTree>
    <p:extLst>
      <p:ext uri="{BB962C8B-B14F-4D97-AF65-F5344CB8AC3E}">
        <p14:creationId xmlns:p14="http://schemas.microsoft.com/office/powerpoint/2010/main" val="2959005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Spørgsmål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  <a:p>
            <a:r>
              <a:rPr lang="da-DK" dirty="0"/>
              <a:t>Hvor rusten er du i OO-programmering?</a:t>
            </a:r>
          </a:p>
          <a:p>
            <a:endParaRPr lang="da-DK" dirty="0"/>
          </a:p>
          <a:p>
            <a:r>
              <a:rPr lang="da-DK" dirty="0"/>
              <a:t>Hvornår brugte du sidst tid på at programmere?</a:t>
            </a:r>
          </a:p>
        </p:txBody>
      </p:sp>
    </p:spTree>
    <p:extLst>
      <p:ext uri="{BB962C8B-B14F-4D97-AF65-F5344CB8AC3E}">
        <p14:creationId xmlns:p14="http://schemas.microsoft.com/office/powerpoint/2010/main" val="2469437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Råd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Et vigtigt læringsmål på dette kursus er at forbedre dine generelle programmeringskompetencer, så lad være med at søge hjælp på nettet, med mindre alle andre muligheder er udtømte.</a:t>
            </a:r>
          </a:p>
          <a:p>
            <a:pPr marL="0" indent="0">
              <a:buNone/>
            </a:pPr>
            <a:r>
              <a:rPr lang="da-DK" dirty="0"/>
              <a:t>Og løs samtlige programmeringsøvelser. De fleste, som dumper kurset, har utilstrækkelige programmeringsfærdigheder.</a:t>
            </a:r>
          </a:p>
        </p:txBody>
      </p:sp>
    </p:spTree>
    <p:extLst>
      <p:ext uri="{BB962C8B-B14F-4D97-AF65-F5344CB8AC3E}">
        <p14:creationId xmlns:p14="http://schemas.microsoft.com/office/powerpoint/2010/main" val="4181632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Lærebøger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006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a-DK" b="1" dirty="0"/>
              <a:t>Mark Allen Weiss</a:t>
            </a:r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r>
              <a:rPr lang="da-DK" i="1" dirty="0"/>
              <a:t>Data </a:t>
            </a:r>
            <a:r>
              <a:rPr lang="da-DK" i="1" dirty="0" err="1"/>
              <a:t>Structures</a:t>
            </a:r>
            <a:r>
              <a:rPr lang="da-DK" i="1" dirty="0"/>
              <a:t> and </a:t>
            </a:r>
            <a:r>
              <a:rPr lang="da-DK" i="1" dirty="0" err="1"/>
              <a:t>Algorithm</a:t>
            </a:r>
            <a:r>
              <a:rPr lang="da-DK" i="1" dirty="0"/>
              <a:t> Analysis in C++</a:t>
            </a:r>
          </a:p>
          <a:p>
            <a:pPr marL="0" indent="0" algn="ctr">
              <a:buNone/>
            </a:pPr>
            <a:r>
              <a:rPr lang="da-DK" dirty="0"/>
              <a:t>(4th ed., 2014)</a:t>
            </a:r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r>
              <a:rPr lang="da-DK" i="1" dirty="0"/>
              <a:t>Data </a:t>
            </a:r>
            <a:r>
              <a:rPr lang="da-DK" i="1" dirty="0" err="1"/>
              <a:t>Structures</a:t>
            </a:r>
            <a:r>
              <a:rPr lang="da-DK" i="1" dirty="0"/>
              <a:t> and </a:t>
            </a:r>
            <a:r>
              <a:rPr lang="da-DK" i="1" dirty="0" err="1"/>
              <a:t>Algorithm</a:t>
            </a:r>
            <a:r>
              <a:rPr lang="da-DK" i="1" dirty="0"/>
              <a:t> Analysis in Java</a:t>
            </a:r>
          </a:p>
          <a:p>
            <a:pPr marL="0" indent="0" algn="ctr">
              <a:buNone/>
            </a:pPr>
            <a:r>
              <a:rPr lang="da-DK" dirty="0"/>
              <a:t>(3rd ed., 2012)</a:t>
            </a:r>
          </a:p>
          <a:p>
            <a:pPr marL="0" indent="0">
              <a:buNone/>
            </a:pPr>
            <a:endParaRPr lang="da-DK" dirty="0"/>
          </a:p>
          <a:p>
            <a:pPr marL="0" indent="0" algn="ctr">
              <a:buNone/>
            </a:pPr>
            <a:r>
              <a:rPr lang="da-DK" sz="1400" dirty="0"/>
              <a:t>Weiss’ bemærkninger om computer performance er forældede af indlysende årsager.</a:t>
            </a:r>
          </a:p>
        </p:txBody>
      </p:sp>
    </p:spTree>
    <p:extLst>
      <p:ext uri="{BB962C8B-B14F-4D97-AF65-F5344CB8AC3E}">
        <p14:creationId xmlns:p14="http://schemas.microsoft.com/office/powerpoint/2010/main" val="1385987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D11AD3-C0DF-4905-A20E-EB028E0B5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Om lærebøgerne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6D8E6FB-B460-407A-8FD6-83753BAC6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a-DK" dirty="0"/>
              <a:t>Lærebøgerne er designet til at kunne bruges på et bachelor </a:t>
            </a:r>
            <a:r>
              <a:rPr lang="da-DK" b="1" i="1" dirty="0"/>
              <a:t>og</a:t>
            </a:r>
            <a:r>
              <a:rPr lang="da-DK" i="1" dirty="0"/>
              <a:t> </a:t>
            </a:r>
            <a:r>
              <a:rPr lang="da-DK" dirty="0"/>
              <a:t>et kandidatkursus, og derfor er dele af teksten ikke relevant for dette kursus. </a:t>
            </a:r>
          </a:p>
          <a:p>
            <a:pPr marL="0" indent="0">
              <a:buNone/>
            </a:pPr>
            <a:r>
              <a:rPr lang="da-DK" dirty="0"/>
              <a:t>Der vil i nogen grad blive tale om </a:t>
            </a:r>
            <a:r>
              <a:rPr lang="da-DK" i="1" dirty="0" err="1"/>
              <a:t>cherrypicking</a:t>
            </a:r>
            <a:r>
              <a:rPr lang="da-DK" i="1" dirty="0"/>
              <a:t>.</a:t>
            </a:r>
            <a:endParaRPr lang="da-DK" dirty="0"/>
          </a:p>
          <a:p>
            <a:pPr marL="0" indent="0">
              <a:buNone/>
            </a:pPr>
            <a:r>
              <a:rPr lang="da-DK" dirty="0"/>
              <a:t>Vi tager lettere afslappet på matematikken, især i de senere kapitler.</a:t>
            </a:r>
          </a:p>
        </p:txBody>
      </p:sp>
    </p:spTree>
    <p:extLst>
      <p:ext uri="{BB962C8B-B14F-4D97-AF65-F5344CB8AC3E}">
        <p14:creationId xmlns:p14="http://schemas.microsoft.com/office/powerpoint/2010/main" val="3807489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85A2-7EC3-FD92-F75F-74B325CCF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Mere om </a:t>
            </a:r>
            <a:r>
              <a:rPr lang="en-US" dirty="0" err="1"/>
              <a:t>lærebøgerne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ED737-0780-9CEB-DF08-31DFDF73A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Lærebøgerne er ikke helt nye; men det er lidt lige som med matematikbøger. Fagets pensum har ikke ændret sig ret meget i de seneste årtier, så en ny lærebog hver andet år giver ikke mening.</a:t>
            </a:r>
          </a:p>
        </p:txBody>
      </p:sp>
    </p:spTree>
    <p:extLst>
      <p:ext uri="{BB962C8B-B14F-4D97-AF65-F5344CB8AC3E}">
        <p14:creationId xmlns:p14="http://schemas.microsoft.com/office/powerpoint/2010/main" val="2044149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846813-F219-40C7-B24A-75A029D8C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Giv lærebogen en chance …..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6678C84-7809-4546-8371-31D3BB765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a-DK" dirty="0"/>
              <a:t>Jeg er sikker på, at tidligere studerende har bestået kurset uden at have læst så meget som én linje i lærebogen.</a:t>
            </a:r>
          </a:p>
          <a:p>
            <a:r>
              <a:rPr lang="da-DK" dirty="0"/>
              <a:t>Hvis man finder Pixie-ting om emnerne på nettet og løser opgaverne, kan man muligvis bestå eksamen.</a:t>
            </a:r>
          </a:p>
          <a:p>
            <a:r>
              <a:rPr lang="da-DK" dirty="0"/>
              <a:t>Men når man har vænnet sig til Weiss’ stil, tilbyder han en lang række værdifulde indsigter.</a:t>
            </a:r>
          </a:p>
          <a:p>
            <a:r>
              <a:rPr lang="da-DK" dirty="0"/>
              <a:t>Og når han kammer over med matematikken, så gå trygt videre til næste afsnit (med mindre jeg har sagt noget andet).</a:t>
            </a:r>
          </a:p>
        </p:txBody>
      </p:sp>
    </p:spTree>
    <p:extLst>
      <p:ext uri="{BB962C8B-B14F-4D97-AF65-F5344CB8AC3E}">
        <p14:creationId xmlns:p14="http://schemas.microsoft.com/office/powerpoint/2010/main" val="3083032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CF50CA-1634-4788-95E1-6E774B9FC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Foreløbig pensumliste  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6133799-46DE-4A93-A4AE-32C6FDE61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a-DK" dirty="0"/>
              <a:t>Kapitel 1 	1.1-1.3 </a:t>
            </a:r>
          </a:p>
          <a:p>
            <a:pPr marL="0" indent="0">
              <a:buNone/>
            </a:pPr>
            <a:r>
              <a:rPr lang="en-US" dirty="0" err="1"/>
              <a:t>Kapitel</a:t>
            </a:r>
            <a:r>
              <a:rPr lang="en-US" dirty="0"/>
              <a:t> 2 	2.1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især</a:t>
            </a:r>
            <a:r>
              <a:rPr lang="en-US" dirty="0"/>
              <a:t> 2.4 (minus 2.4.3) </a:t>
            </a:r>
          </a:p>
          <a:p>
            <a:pPr marL="0" indent="0">
              <a:buNone/>
            </a:pPr>
            <a:r>
              <a:rPr lang="da-DK" dirty="0"/>
              <a:t>Kapitel 3 	baggrundsstof  </a:t>
            </a:r>
          </a:p>
          <a:p>
            <a:pPr marL="0" indent="0">
              <a:buNone/>
            </a:pPr>
            <a:r>
              <a:rPr lang="en-US" dirty="0" err="1"/>
              <a:t>Kapitel</a:t>
            </a:r>
            <a:r>
              <a:rPr lang="en-US" dirty="0"/>
              <a:t> 4 	4.1-4.4 </a:t>
            </a:r>
            <a:r>
              <a:rPr lang="en-US" dirty="0" err="1"/>
              <a:t>og</a:t>
            </a:r>
            <a:r>
              <a:rPr lang="en-US" dirty="0"/>
              <a:t> 4.6 </a:t>
            </a:r>
          </a:p>
          <a:p>
            <a:pPr marL="0" indent="0">
              <a:buNone/>
            </a:pPr>
            <a:r>
              <a:rPr lang="da-DK" dirty="0"/>
              <a:t>Kapitel 5 	5.1-5.5 og 5.7  (hop)</a:t>
            </a:r>
          </a:p>
          <a:p>
            <a:pPr marL="0" indent="0">
              <a:buNone/>
            </a:pPr>
            <a:r>
              <a:rPr lang="da-DK" dirty="0"/>
              <a:t>Kapitel 6 	6.1-6.4 </a:t>
            </a:r>
          </a:p>
          <a:p>
            <a:pPr marL="0" indent="0">
              <a:buNone/>
            </a:pPr>
            <a:r>
              <a:rPr lang="en-US" dirty="0" err="1"/>
              <a:t>Kapitel</a:t>
            </a:r>
            <a:r>
              <a:rPr lang="en-US" dirty="0"/>
              <a:t> 7 	7.1-7.7 </a:t>
            </a:r>
            <a:r>
              <a:rPr lang="en-US" dirty="0" err="1"/>
              <a:t>undtagen</a:t>
            </a:r>
            <a:r>
              <a:rPr lang="en-US" dirty="0"/>
              <a:t> </a:t>
            </a:r>
            <a:r>
              <a:rPr lang="en-US" dirty="0" err="1"/>
              <a:t>matematikken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7.4 </a:t>
            </a:r>
          </a:p>
          <a:p>
            <a:pPr marL="0" indent="0">
              <a:buNone/>
            </a:pPr>
            <a:r>
              <a:rPr lang="da-DK" dirty="0"/>
              <a:t>Kapitel 9 	9.1-9.3.2; 9.5; 9.7 ekstensivt </a:t>
            </a:r>
          </a:p>
          <a:p>
            <a:pPr marL="0" indent="0">
              <a:buNone/>
            </a:pPr>
            <a:r>
              <a:rPr lang="da-DK" dirty="0"/>
              <a:t>Kapitel 10 	10.1 </a:t>
            </a:r>
          </a:p>
        </p:txBody>
      </p:sp>
    </p:spTree>
    <p:extLst>
      <p:ext uri="{BB962C8B-B14F-4D97-AF65-F5344CB8AC3E}">
        <p14:creationId xmlns:p14="http://schemas.microsoft.com/office/powerpoint/2010/main" val="2152992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Schedule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da-DK" dirty="0" err="1"/>
              <a:t>Introduction</a:t>
            </a:r>
            <a:r>
              <a:rPr lang="da-DK" dirty="0"/>
              <a:t>; the </a:t>
            </a:r>
            <a:r>
              <a:rPr lang="da-DK" dirty="0" err="1"/>
              <a:t>math</a:t>
            </a:r>
            <a:r>
              <a:rPr lang="da-DK" dirty="0"/>
              <a:t>; </a:t>
            </a:r>
            <a:r>
              <a:rPr lang="da-DK" dirty="0" err="1"/>
              <a:t>recursion</a:t>
            </a:r>
            <a:r>
              <a:rPr lang="da-DK" dirty="0"/>
              <a:t>	</a:t>
            </a:r>
            <a:r>
              <a:rPr lang="da-DK" dirty="0" err="1"/>
              <a:t>Chaptes</a:t>
            </a:r>
            <a:r>
              <a:rPr lang="da-DK" dirty="0"/>
              <a:t> 1 and 2		36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Big-Oh; </a:t>
            </a:r>
            <a:r>
              <a:rPr lang="da-DK" dirty="0" err="1"/>
              <a:t>queue</a:t>
            </a:r>
            <a:r>
              <a:rPr lang="da-DK" dirty="0"/>
              <a:t>, </a:t>
            </a:r>
            <a:r>
              <a:rPr lang="da-DK" dirty="0" err="1"/>
              <a:t>stack</a:t>
            </a:r>
            <a:r>
              <a:rPr lang="da-DK" dirty="0"/>
              <a:t> and list		</a:t>
            </a:r>
            <a:r>
              <a:rPr lang="da-DK" dirty="0" err="1"/>
              <a:t>Chaptes</a:t>
            </a:r>
            <a:r>
              <a:rPr lang="da-DK" dirty="0"/>
              <a:t> 2 and 3		37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 err="1"/>
              <a:t>Hashing</a:t>
            </a:r>
            <a:r>
              <a:rPr lang="da-DK" dirty="0"/>
              <a:t>				</a:t>
            </a:r>
            <a:r>
              <a:rPr lang="da-DK" dirty="0" err="1"/>
              <a:t>Chapter</a:t>
            </a:r>
            <a:r>
              <a:rPr lang="da-DK" dirty="0"/>
              <a:t> 5		38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 err="1"/>
              <a:t>Priority</a:t>
            </a:r>
            <a:r>
              <a:rPr lang="da-DK" dirty="0"/>
              <a:t> </a:t>
            </a:r>
            <a:r>
              <a:rPr lang="da-DK" dirty="0" err="1"/>
              <a:t>queues</a:t>
            </a:r>
            <a:r>
              <a:rPr lang="da-DK" dirty="0"/>
              <a:t>			</a:t>
            </a:r>
            <a:r>
              <a:rPr lang="da-DK" dirty="0" err="1"/>
              <a:t>Chapter</a:t>
            </a:r>
            <a:r>
              <a:rPr lang="da-DK" dirty="0"/>
              <a:t> 6		39</a:t>
            </a:r>
          </a:p>
          <a:p>
            <a:pPr marL="514350" lvl="0" indent="-514350">
              <a:buFont typeface="+mj-lt"/>
              <a:buAutoNum type="arabicPeriod"/>
            </a:pPr>
            <a:r>
              <a:rPr lang="da-DK" dirty="0" err="1"/>
              <a:t>Sorting</a:t>
            </a:r>
            <a:r>
              <a:rPr lang="da-DK" dirty="0"/>
              <a:t>				</a:t>
            </a:r>
            <a:r>
              <a:rPr lang="da-DK" dirty="0" err="1"/>
              <a:t>Chapter</a:t>
            </a:r>
            <a:r>
              <a:rPr lang="da-DK" dirty="0"/>
              <a:t> 7		40</a:t>
            </a:r>
          </a:p>
          <a:p>
            <a:pPr marL="514350" lvl="0" indent="-514350">
              <a:buFont typeface="+mj-lt"/>
              <a:buAutoNum type="arabicPeriod"/>
            </a:pPr>
            <a:r>
              <a:rPr lang="da-DK" dirty="0" err="1"/>
              <a:t>Sorting</a:t>
            </a:r>
            <a:r>
              <a:rPr lang="da-DK" dirty="0"/>
              <a:t> </a:t>
            </a:r>
            <a:r>
              <a:rPr lang="da-DK" dirty="0" err="1"/>
              <a:t>cont</a:t>
            </a:r>
            <a:r>
              <a:rPr lang="da-DK" dirty="0"/>
              <a:t>.				</a:t>
            </a:r>
            <a:r>
              <a:rPr lang="da-DK" dirty="0" err="1"/>
              <a:t>Chapter</a:t>
            </a:r>
            <a:r>
              <a:rPr lang="da-DK" dirty="0"/>
              <a:t> 7		43</a:t>
            </a:r>
          </a:p>
          <a:p>
            <a:pPr marL="514350" lvl="0" indent="-514350">
              <a:buFont typeface="+mj-lt"/>
              <a:buAutoNum type="arabicPeriod"/>
            </a:pPr>
            <a:r>
              <a:rPr lang="da-DK" dirty="0"/>
              <a:t>Trees				</a:t>
            </a:r>
            <a:r>
              <a:rPr lang="da-DK" dirty="0" err="1"/>
              <a:t>Chapter</a:t>
            </a:r>
            <a:r>
              <a:rPr lang="da-DK" dirty="0"/>
              <a:t> 4		44</a:t>
            </a:r>
          </a:p>
          <a:p>
            <a:pPr marL="514350" lvl="0" indent="-514350">
              <a:buFont typeface="+mj-lt"/>
              <a:buAutoNum type="arabicPeriod"/>
            </a:pPr>
            <a:r>
              <a:rPr lang="da-DK" dirty="0" err="1"/>
              <a:t>Trees</a:t>
            </a:r>
            <a:r>
              <a:rPr lang="da-DK" dirty="0"/>
              <a:t> </a:t>
            </a:r>
            <a:r>
              <a:rPr lang="da-DK" dirty="0" err="1"/>
              <a:t>cont</a:t>
            </a:r>
            <a:r>
              <a:rPr lang="da-DK" dirty="0"/>
              <a:t>.				</a:t>
            </a:r>
            <a:r>
              <a:rPr lang="da-DK" dirty="0" err="1"/>
              <a:t>Chapter</a:t>
            </a:r>
            <a:r>
              <a:rPr lang="da-DK" dirty="0"/>
              <a:t> 4		45</a:t>
            </a:r>
          </a:p>
          <a:p>
            <a:pPr marL="514350" lvl="0" indent="-514350">
              <a:buFont typeface="+mj-lt"/>
              <a:buAutoNum type="arabicPeriod"/>
            </a:pPr>
            <a:r>
              <a:rPr lang="da-DK" dirty="0"/>
              <a:t>Disjoint sets and </a:t>
            </a:r>
            <a:r>
              <a:rPr lang="da-DK" dirty="0" err="1"/>
              <a:t>graphs</a:t>
            </a:r>
            <a:r>
              <a:rPr lang="da-DK" dirty="0"/>
              <a:t>		</a:t>
            </a:r>
            <a:r>
              <a:rPr lang="da-DK" dirty="0" err="1"/>
              <a:t>Chapters</a:t>
            </a:r>
            <a:r>
              <a:rPr lang="da-DK" dirty="0"/>
              <a:t> 8 and 9		46</a:t>
            </a:r>
          </a:p>
          <a:p>
            <a:pPr marL="514350" lvl="0" indent="-514350">
              <a:buFont typeface="+mj-lt"/>
              <a:buAutoNum type="arabicPeriod"/>
            </a:pPr>
            <a:r>
              <a:rPr lang="da-DK" dirty="0"/>
              <a:t>Graphs </a:t>
            </a:r>
            <a:r>
              <a:rPr lang="da-DK" dirty="0" err="1"/>
              <a:t>cont</a:t>
            </a:r>
            <a:r>
              <a:rPr lang="da-DK" dirty="0"/>
              <a:t>.				</a:t>
            </a:r>
            <a:r>
              <a:rPr lang="da-DK" dirty="0" err="1"/>
              <a:t>Chapter</a:t>
            </a:r>
            <a:r>
              <a:rPr lang="da-DK" dirty="0"/>
              <a:t> 9 (online)	47</a:t>
            </a:r>
          </a:p>
          <a:p>
            <a:pPr marL="514350" lvl="0" indent="-514350">
              <a:buFont typeface="+mj-lt"/>
              <a:buAutoNum type="arabicPeriod"/>
            </a:pPr>
            <a:r>
              <a:rPr lang="da-DK" dirty="0"/>
              <a:t>Design </a:t>
            </a:r>
            <a:r>
              <a:rPr lang="da-DK" dirty="0" err="1"/>
              <a:t>techniques</a:t>
            </a:r>
            <a:r>
              <a:rPr lang="da-DK" dirty="0"/>
              <a:t> 			</a:t>
            </a:r>
            <a:r>
              <a:rPr lang="da-DK" dirty="0" err="1"/>
              <a:t>Chapter</a:t>
            </a:r>
            <a:r>
              <a:rPr lang="da-DK" dirty="0"/>
              <a:t> 10		48</a:t>
            </a:r>
          </a:p>
          <a:p>
            <a:pPr marL="514350" lvl="0" indent="-514350">
              <a:buFont typeface="+mj-lt"/>
              <a:buAutoNum type="arabicPeriod"/>
            </a:pPr>
            <a:r>
              <a:rPr lang="da-DK" dirty="0" err="1"/>
              <a:t>Recapitulation</a:t>
            </a:r>
            <a:r>
              <a:rPr lang="da-DK" dirty="0"/>
              <a:t> and </a:t>
            </a:r>
            <a:r>
              <a:rPr lang="da-DK" dirty="0" err="1"/>
              <a:t>conclusion</a:t>
            </a:r>
            <a:r>
              <a:rPr lang="da-DK" dirty="0"/>
              <a:t>					49</a:t>
            </a:r>
          </a:p>
          <a:p>
            <a:pPr marL="0" indent="0">
              <a:buNone/>
            </a:pPr>
            <a:endParaRPr lang="da-DK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D0A8A3-DFB7-4E60-8752-A2D5656C5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Citat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CC138B2-AFEA-4D6D-8BAA-EAE617F73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a-DK" sz="4400" dirty="0"/>
              <a:t>”Battle </a:t>
            </a:r>
            <a:r>
              <a:rPr lang="da-DK" sz="4400" dirty="0" err="1"/>
              <a:t>planning</a:t>
            </a:r>
            <a:r>
              <a:rPr lang="da-DK" sz="4400" dirty="0"/>
              <a:t> is </a:t>
            </a:r>
            <a:r>
              <a:rPr lang="da-DK" sz="4400" dirty="0" err="1"/>
              <a:t>important</a:t>
            </a:r>
            <a:r>
              <a:rPr lang="da-DK" sz="4400" dirty="0"/>
              <a:t>, but as </a:t>
            </a:r>
            <a:r>
              <a:rPr lang="da-DK" sz="4400" dirty="0" err="1"/>
              <a:t>soon</a:t>
            </a:r>
            <a:r>
              <a:rPr lang="da-DK" sz="4400" dirty="0"/>
              <a:t> as the </a:t>
            </a:r>
            <a:r>
              <a:rPr lang="da-DK" sz="4400" dirty="0" err="1"/>
              <a:t>first</a:t>
            </a:r>
            <a:r>
              <a:rPr lang="da-DK" sz="4400" dirty="0"/>
              <a:t> shot is </a:t>
            </a:r>
            <a:r>
              <a:rPr lang="da-DK" sz="4400" dirty="0" err="1"/>
              <a:t>fired</a:t>
            </a:r>
            <a:r>
              <a:rPr lang="da-DK" sz="4400" dirty="0"/>
              <a:t>, </a:t>
            </a:r>
            <a:r>
              <a:rPr lang="da-DK" sz="4400" dirty="0" err="1"/>
              <a:t>your</a:t>
            </a:r>
            <a:r>
              <a:rPr lang="da-DK" sz="4400" dirty="0"/>
              <a:t> plan </a:t>
            </a:r>
            <a:r>
              <a:rPr lang="da-DK" sz="4400" dirty="0" err="1"/>
              <a:t>goes</a:t>
            </a:r>
            <a:r>
              <a:rPr lang="da-DK" sz="4400" dirty="0"/>
              <a:t> up in </a:t>
            </a:r>
            <a:r>
              <a:rPr lang="da-DK" sz="4400" dirty="0" err="1"/>
              <a:t>smoke</a:t>
            </a:r>
            <a:r>
              <a:rPr lang="da-DK" sz="4400" dirty="0"/>
              <a:t>.”</a:t>
            </a:r>
          </a:p>
          <a:p>
            <a:pPr marL="0" indent="0">
              <a:buNone/>
            </a:pPr>
            <a:endParaRPr lang="da-DK" sz="4400" dirty="0"/>
          </a:p>
          <a:p>
            <a:pPr marL="0" indent="0">
              <a:buNone/>
            </a:pPr>
            <a:r>
              <a:rPr lang="da-DK" dirty="0"/>
              <a:t>Dwight D. Eisenhower (”Ike”, 1890-1969) – Amerikansk general under 2. verdenskrig og den 34. præsident (1953-1961).</a:t>
            </a: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88055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D3A5E7-A628-4002-9E41-7A9BE88CB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Udviklingsværktøjer (IDE)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F232D84-69CC-4A98-B788-BC9179330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Jeg bruger: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	C++		Visual Studio</a:t>
            </a:r>
          </a:p>
          <a:p>
            <a:pPr marL="0" indent="0">
              <a:buNone/>
            </a:pPr>
            <a:r>
              <a:rPr lang="da-DK" dirty="0"/>
              <a:t>	Java		</a:t>
            </a:r>
            <a:r>
              <a:rPr lang="da-DK" dirty="0" err="1"/>
              <a:t>NetBeans</a:t>
            </a:r>
            <a:r>
              <a:rPr lang="da-DK" dirty="0"/>
              <a:t>/</a:t>
            </a:r>
            <a:r>
              <a:rPr lang="da-DK" dirty="0" err="1"/>
              <a:t>IntelliJ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10750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Om programmering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2267744" y="1600200"/>
            <a:ext cx="6419056" cy="4525963"/>
          </a:xfrm>
        </p:spPr>
        <p:txBody>
          <a:bodyPr>
            <a:normAutofit/>
          </a:bodyPr>
          <a:lstStyle/>
          <a:p>
            <a:r>
              <a:rPr lang="da-DK" sz="3600" dirty="0"/>
              <a:t>Omtanke/refleksion</a:t>
            </a:r>
          </a:p>
          <a:p>
            <a:r>
              <a:rPr lang="da-DK" sz="3600" dirty="0"/>
              <a:t>Præcision</a:t>
            </a:r>
          </a:p>
          <a:p>
            <a:r>
              <a:rPr lang="da-DK" sz="3600" dirty="0"/>
              <a:t>Tålmodighed</a:t>
            </a:r>
          </a:p>
          <a:p>
            <a:r>
              <a:rPr lang="da-DK" sz="3600" dirty="0"/>
              <a:t>Disciplin</a:t>
            </a:r>
          </a:p>
        </p:txBody>
      </p:sp>
    </p:spTree>
    <p:extLst>
      <p:ext uri="{BB962C8B-B14F-4D97-AF65-F5344CB8AC3E}">
        <p14:creationId xmlns:p14="http://schemas.microsoft.com/office/powerpoint/2010/main" val="2727871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A83751-55D0-49C3-9597-42A159932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Hvad er en algoritme?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F8447F6-EA77-49A6-83E8-C2C65FA4A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En algoritme er en endelig sekvens af veldefinerede af computer-</a:t>
            </a:r>
            <a:r>
              <a:rPr lang="da-DK" dirty="0" err="1"/>
              <a:t>implementerbare</a:t>
            </a:r>
            <a:r>
              <a:rPr lang="da-DK" dirty="0"/>
              <a:t> instruktioner, typisk til løsning af en klasse af problemer eller til at udføre en beregning.</a:t>
            </a:r>
          </a:p>
          <a:p>
            <a:pPr marL="0" indent="0" algn="r">
              <a:buNone/>
            </a:pPr>
            <a:r>
              <a:rPr lang="da-DK" sz="1600" i="1" dirty="0"/>
              <a:t>Wikipedia, </a:t>
            </a:r>
            <a:r>
              <a:rPr lang="da-DK" sz="1600" dirty="0"/>
              <a:t>som citerer diverse videnskabelige kilder.</a:t>
            </a:r>
            <a:r>
              <a:rPr lang="da-DK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8108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6387E-23FA-BD02-42AF-B63ED320A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Semantisk</a:t>
            </a:r>
            <a:r>
              <a:rPr lang="en-US" dirty="0"/>
              <a:t> </a:t>
            </a:r>
            <a:r>
              <a:rPr lang="en-US" dirty="0" err="1"/>
              <a:t>overvejelse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6DD84-D06C-02CB-3DAE-190CB3B06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 de </a:t>
            </a:r>
            <a:r>
              <a:rPr lang="en-US" dirty="0" err="1"/>
              <a:t>senere</a:t>
            </a:r>
            <a:r>
              <a:rPr lang="en-US" dirty="0"/>
              <a:t> </a:t>
            </a:r>
            <a:r>
              <a:rPr lang="en-US" dirty="0" err="1"/>
              <a:t>år</a:t>
            </a:r>
            <a:r>
              <a:rPr lang="en-US" dirty="0"/>
              <a:t> er </a:t>
            </a:r>
            <a:r>
              <a:rPr lang="en-US" dirty="0" err="1"/>
              <a:t>begrebet</a:t>
            </a:r>
            <a:r>
              <a:rPr lang="en-US" dirty="0"/>
              <a:t> </a:t>
            </a:r>
            <a:r>
              <a:rPr lang="en-US" i="1" dirty="0" err="1"/>
              <a:t>algoritme</a:t>
            </a:r>
            <a:r>
              <a:rPr lang="en-US" i="1" dirty="0"/>
              <a:t> </a:t>
            </a:r>
            <a:r>
              <a:rPr lang="en-US" dirty="0" err="1"/>
              <a:t>blevet</a:t>
            </a:r>
            <a:r>
              <a:rPr lang="en-US" dirty="0"/>
              <a:t> </a:t>
            </a:r>
            <a:r>
              <a:rPr lang="en-US" dirty="0" err="1"/>
              <a:t>anvendt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et </a:t>
            </a:r>
            <a:r>
              <a:rPr lang="en-US" dirty="0" err="1"/>
              <a:t>stigende</a:t>
            </a:r>
            <a:r>
              <a:rPr lang="en-US" dirty="0"/>
              <a:t> </a:t>
            </a:r>
            <a:r>
              <a:rPr lang="en-US" dirty="0" err="1"/>
              <a:t>antal</a:t>
            </a:r>
            <a:r>
              <a:rPr lang="en-US" dirty="0"/>
              <a:t> </a:t>
            </a:r>
            <a:r>
              <a:rPr lang="en-US" dirty="0" err="1"/>
              <a:t>meget</a:t>
            </a:r>
            <a:r>
              <a:rPr lang="en-US" dirty="0"/>
              <a:t> </a:t>
            </a:r>
            <a:r>
              <a:rPr lang="en-US" dirty="0" err="1"/>
              <a:t>forskellige</a:t>
            </a:r>
            <a:r>
              <a:rPr lang="en-US" dirty="0"/>
              <a:t> </a:t>
            </a:r>
            <a:r>
              <a:rPr lang="en-US" dirty="0" err="1"/>
              <a:t>sammenhænge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Og </a:t>
            </a:r>
            <a:r>
              <a:rPr lang="en-US" dirty="0" err="1"/>
              <a:t>dermed</a:t>
            </a:r>
            <a:r>
              <a:rPr lang="en-US" dirty="0"/>
              <a:t> er </a:t>
            </a:r>
            <a:r>
              <a:rPr lang="en-US" dirty="0" err="1"/>
              <a:t>betydningen</a:t>
            </a:r>
            <a:r>
              <a:rPr lang="en-US" dirty="0"/>
              <a:t> af </a:t>
            </a:r>
            <a:r>
              <a:rPr lang="en-US" dirty="0" err="1"/>
              <a:t>ordet</a:t>
            </a:r>
            <a:r>
              <a:rPr lang="en-US" dirty="0"/>
              <a:t> </a:t>
            </a:r>
            <a:r>
              <a:rPr lang="en-US" dirty="0" err="1"/>
              <a:t>blevet</a:t>
            </a:r>
            <a:r>
              <a:rPr lang="en-US" dirty="0"/>
              <a:t> </a:t>
            </a:r>
            <a:r>
              <a:rPr lang="en-US" dirty="0" err="1"/>
              <a:t>udvandet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Nogle</a:t>
            </a:r>
            <a:r>
              <a:rPr lang="en-US" dirty="0"/>
              <a:t> </a:t>
            </a:r>
            <a:r>
              <a:rPr lang="en-US" dirty="0" err="1"/>
              <a:t>personer</a:t>
            </a:r>
            <a:r>
              <a:rPr lang="en-US" dirty="0"/>
              <a:t> </a:t>
            </a:r>
            <a:r>
              <a:rPr lang="en-US" dirty="0" err="1"/>
              <a:t>argumenterer</a:t>
            </a:r>
            <a:r>
              <a:rPr lang="en-US" dirty="0"/>
              <a:t> for, at AI </a:t>
            </a:r>
            <a:r>
              <a:rPr lang="en-US" dirty="0" err="1"/>
              <a:t>beskæftiger</a:t>
            </a:r>
            <a:r>
              <a:rPr lang="en-US" dirty="0"/>
              <a:t> sig med </a:t>
            </a:r>
            <a:r>
              <a:rPr lang="en-US" dirty="0" err="1"/>
              <a:t>problemer</a:t>
            </a:r>
            <a:r>
              <a:rPr lang="en-US" dirty="0"/>
              <a:t>,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b="1" dirty="0" err="1"/>
              <a:t>ikke</a:t>
            </a:r>
            <a:r>
              <a:rPr lang="en-US" b="1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løses</a:t>
            </a:r>
            <a:r>
              <a:rPr lang="en-US" dirty="0"/>
              <a:t> af </a:t>
            </a:r>
            <a:r>
              <a:rPr lang="en-US" dirty="0" err="1"/>
              <a:t>algoritmer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67381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Et typisk problem, som kan løses af en algoritme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a-DK" dirty="0"/>
              <a:t>At skrive et program, som kan finde det k-største tal i en tabel af heltal er ikke særlig svært.</a:t>
            </a:r>
          </a:p>
          <a:p>
            <a:r>
              <a:rPr lang="da-DK" dirty="0"/>
              <a:t>Man kan fx sortere tabellen og returnere det k. element.</a:t>
            </a:r>
          </a:p>
          <a:p>
            <a:r>
              <a:rPr lang="da-DK" dirty="0"/>
              <a:t>Det er bare ikke særlig optimalt, hvis tabellen er meget stor.</a:t>
            </a:r>
          </a:p>
          <a:p>
            <a:r>
              <a:rPr lang="da-DK" dirty="0"/>
              <a:t>Vi bliver nødt til at finde på en smartere løsning, hvis tiden er en kritisk faktor.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3964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B8D215-6C17-4EC0-8A36-EA35E4DCB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Hvad er en datastruktur?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A4AFDD3-70D7-4663-8916-4FC10C3AF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lang="en-US" dirty="0" err="1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datastruktur</a:t>
            </a:r>
            <a:r>
              <a:rPr lang="en-US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er </a:t>
            </a:r>
            <a:r>
              <a:rPr lang="en-US" dirty="0" err="1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organisering</a:t>
            </a:r>
            <a:r>
              <a:rPr lang="en-US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håndtering</a:t>
            </a:r>
            <a:r>
              <a:rPr lang="en-US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og</a:t>
            </a:r>
            <a:r>
              <a:rPr lang="en-US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lagring</a:t>
            </a:r>
            <a:r>
              <a:rPr lang="en-US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af data, </a:t>
            </a:r>
            <a:r>
              <a:rPr lang="en-US" dirty="0" err="1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som</a:t>
            </a:r>
            <a:r>
              <a:rPr lang="en-US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tilsikrer</a:t>
            </a:r>
            <a:r>
              <a:rPr lang="en-US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effektiv</a:t>
            </a:r>
            <a:r>
              <a:rPr lang="en-US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tilgang</a:t>
            </a:r>
            <a:r>
              <a:rPr lang="en-US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og</a:t>
            </a:r>
            <a:r>
              <a:rPr lang="en-US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modificering</a:t>
            </a:r>
            <a:r>
              <a:rPr lang="en-US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Mere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præcist</a:t>
            </a:r>
            <a:r>
              <a:rPr lang="en-US" b="0" i="0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er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b="0" i="0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datastruktur</a:t>
            </a:r>
            <a:r>
              <a:rPr lang="en-US" b="0" i="0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b="0" i="0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samling</a:t>
            </a:r>
            <a:r>
              <a:rPr lang="en-US" b="0" i="0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af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værdier</a:t>
            </a:r>
            <a:r>
              <a:rPr lang="en-US" b="0" i="0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relationerne</a:t>
            </a:r>
            <a:r>
              <a:rPr lang="en-US" b="0" i="0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imellem</a:t>
            </a:r>
            <a:r>
              <a:rPr lang="en-US" b="0" i="0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dem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og</a:t>
            </a:r>
            <a:r>
              <a:rPr lang="en-US" b="0" i="0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funktioner</a:t>
            </a:r>
            <a:r>
              <a:rPr lang="en-US" b="0" i="0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som</a:t>
            </a:r>
            <a:r>
              <a:rPr lang="en-US" b="0" i="0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kan</a:t>
            </a:r>
            <a:r>
              <a:rPr lang="en-US" b="0" i="0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udføres</a:t>
            </a:r>
            <a:r>
              <a:rPr lang="en-US" b="0" i="0" dirty="0">
                <a:solidFill>
                  <a:srgbClr val="2021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på data.</a:t>
            </a:r>
          </a:p>
          <a:p>
            <a:pPr marL="0" indent="0" algn="r">
              <a:buNone/>
            </a:pPr>
            <a:r>
              <a:rPr lang="da-DK" sz="1600" i="1" dirty="0"/>
              <a:t>Wikipedia, </a:t>
            </a:r>
            <a:r>
              <a:rPr lang="da-DK" sz="1600" dirty="0"/>
              <a:t>som citerer diverse videnskabelige kilder.</a:t>
            </a:r>
          </a:p>
          <a:p>
            <a:pPr marL="0" indent="0" algn="r">
              <a:buNone/>
            </a:pPr>
            <a:endParaRPr lang="da-DK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da-DK" sz="1600" dirty="0">
                <a:latin typeface="Calibri" panose="020F0502020204030204" pitchFamily="34" charset="0"/>
                <a:cs typeface="Calibri" panose="020F0502020204030204" pitchFamily="34" charset="0"/>
              </a:rPr>
              <a:t>PS Bemærk ligheden med definitionen af en </a:t>
            </a:r>
            <a:r>
              <a:rPr lang="da-DK" sz="1600" i="1" dirty="0">
                <a:latin typeface="Calibri" panose="020F0502020204030204" pitchFamily="34" charset="0"/>
                <a:cs typeface="Calibri" panose="020F0502020204030204" pitchFamily="34" charset="0"/>
              </a:rPr>
              <a:t>klasse </a:t>
            </a:r>
            <a:r>
              <a:rPr lang="da-DK" sz="1600" dirty="0">
                <a:latin typeface="Calibri" panose="020F0502020204030204" pitchFamily="34" charset="0"/>
                <a:cs typeface="Calibri" panose="020F0502020204030204" pitchFamily="34" charset="0"/>
              </a:rPr>
              <a:t>i OOP.</a:t>
            </a:r>
          </a:p>
        </p:txBody>
      </p:sp>
    </p:spTree>
    <p:extLst>
      <p:ext uri="{BB962C8B-B14F-4D97-AF65-F5344CB8AC3E}">
        <p14:creationId xmlns:p14="http://schemas.microsoft.com/office/powerpoint/2010/main" val="1777695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C44206-B455-4879-96D3-F1B395944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Data struktur - </a:t>
            </a:r>
            <a:r>
              <a:rPr lang="da-DK" dirty="0" err="1"/>
              <a:t>graph</a:t>
            </a:r>
            <a:endParaRPr lang="da-DK" dirty="0"/>
          </a:p>
        </p:txBody>
      </p:sp>
      <p:pic>
        <p:nvPicPr>
          <p:cNvPr id="5" name="Pladsholder til indhold 4" descr="Et billede, der indeholder ur&#10;&#10;Automatisk genereret beskrivelse">
            <a:extLst>
              <a:ext uri="{FF2B5EF4-FFF2-40B4-BE49-F238E27FC236}">
                <a16:creationId xmlns:a16="http://schemas.microsoft.com/office/drawing/2014/main" id="{73218ED3-F3D9-400A-8028-495ED2E079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628800"/>
            <a:ext cx="5400600" cy="3744416"/>
          </a:xfrm>
        </p:spPr>
      </p:pic>
    </p:spTree>
    <p:extLst>
      <p:ext uri="{BB962C8B-B14F-4D97-AF65-F5344CB8AC3E}">
        <p14:creationId xmlns:p14="http://schemas.microsoft.com/office/powerpoint/2010/main" val="29791008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923B6A-9296-480C-B94B-0C2914FBA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Et graf-problem </a:t>
            </a:r>
            <a:br>
              <a:rPr lang="da-DK" dirty="0"/>
            </a:br>
            <a:r>
              <a:rPr lang="da-DK" dirty="0"/>
              <a:t>Broerne i Königsberg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82E4247-4D97-40FB-BB04-E023395BB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r>
              <a:rPr lang="da-DK" dirty="0"/>
              <a:t>Findes der en sti gennem byen, hvor hver bro passeres præcis én gang?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6072A7FF-17FF-43E2-868C-B6ECF23A6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25" y="1600199"/>
            <a:ext cx="6076950" cy="319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5536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EE6173-CC1D-C562-35E4-A84479201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CharGPT</a:t>
            </a:r>
            <a:r>
              <a:rPr lang="da-DK" dirty="0"/>
              <a:t> og andre </a:t>
            </a:r>
            <a:r>
              <a:rPr lang="da-DK" dirty="0" err="1"/>
              <a:t>LLMs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DDDC1BB-717B-0474-C9C6-D9D5A2B93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 algn="ctr">
              <a:buNone/>
            </a:pPr>
            <a:r>
              <a:rPr lang="da-DK" sz="9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486336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12F2F-7136-BC54-5CDD-08123D70C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Hvad</a:t>
            </a:r>
            <a:r>
              <a:rPr lang="en-US" dirty="0"/>
              <a:t> </a:t>
            </a:r>
            <a:r>
              <a:rPr lang="en-US" dirty="0" err="1"/>
              <a:t>så</a:t>
            </a:r>
            <a:r>
              <a:rPr lang="en-US" dirty="0"/>
              <a:t> med ChatGPT?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753DE-E93C-C8FD-0585-404DF9F5C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Botten </a:t>
            </a:r>
            <a:r>
              <a:rPr lang="en-US" dirty="0" err="1"/>
              <a:t>vil</a:t>
            </a:r>
            <a:r>
              <a:rPr lang="en-US" dirty="0"/>
              <a:t> </a:t>
            </a:r>
            <a:r>
              <a:rPr lang="en-US" dirty="0" err="1"/>
              <a:t>kunne</a:t>
            </a:r>
            <a:r>
              <a:rPr lang="en-US" dirty="0"/>
              <a:t> </a:t>
            </a:r>
            <a:r>
              <a:rPr lang="en-US" dirty="0" err="1"/>
              <a:t>hjælpe</a:t>
            </a:r>
            <a:r>
              <a:rPr lang="en-US" dirty="0"/>
              <a:t> dig med de </a:t>
            </a:r>
            <a:r>
              <a:rPr lang="en-US" dirty="0" err="1"/>
              <a:t>fleste</a:t>
            </a:r>
            <a:r>
              <a:rPr lang="en-US" dirty="0"/>
              <a:t> </a:t>
            </a:r>
            <a:r>
              <a:rPr lang="en-US" dirty="0" err="1"/>
              <a:t>opgaver</a:t>
            </a:r>
            <a:r>
              <a:rPr lang="en-US" dirty="0"/>
              <a:t>.</a:t>
            </a:r>
          </a:p>
          <a:p>
            <a:r>
              <a:rPr lang="en-US" dirty="0" err="1"/>
              <a:t>Nogle</a:t>
            </a:r>
            <a:r>
              <a:rPr lang="en-US" dirty="0"/>
              <a:t> af dem </a:t>
            </a:r>
            <a:r>
              <a:rPr lang="en-US" dirty="0" err="1"/>
              <a:t>vil</a:t>
            </a:r>
            <a:r>
              <a:rPr lang="en-US" dirty="0"/>
              <a:t> den </a:t>
            </a:r>
            <a:r>
              <a:rPr lang="en-US" dirty="0" err="1"/>
              <a:t>kunne</a:t>
            </a:r>
            <a:r>
              <a:rPr lang="en-US" dirty="0"/>
              <a:t> </a:t>
            </a:r>
            <a:r>
              <a:rPr lang="en-US" dirty="0" err="1"/>
              <a:t>løse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perfektion</a:t>
            </a:r>
            <a:r>
              <a:rPr lang="en-US" dirty="0"/>
              <a:t>.</a:t>
            </a:r>
          </a:p>
          <a:p>
            <a:r>
              <a:rPr lang="en-US" dirty="0"/>
              <a:t>Af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vil</a:t>
            </a:r>
            <a:r>
              <a:rPr lang="en-US" dirty="0"/>
              <a:t> den give </a:t>
            </a:r>
            <a:r>
              <a:rPr lang="en-US" dirty="0" err="1"/>
              <a:t>forkerte</a:t>
            </a:r>
            <a:r>
              <a:rPr lang="en-US" dirty="0"/>
              <a:t> </a:t>
            </a:r>
            <a:r>
              <a:rPr lang="en-US" dirty="0" err="1"/>
              <a:t>svar</a:t>
            </a:r>
            <a:r>
              <a:rPr lang="en-US" dirty="0"/>
              <a:t>.</a:t>
            </a:r>
          </a:p>
          <a:p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råd</a:t>
            </a:r>
            <a:r>
              <a:rPr lang="en-US" dirty="0"/>
              <a:t> er: </a:t>
            </a:r>
            <a:r>
              <a:rPr lang="en-US" dirty="0" err="1"/>
              <a:t>anvend</a:t>
            </a:r>
            <a:r>
              <a:rPr lang="en-US" dirty="0"/>
              <a:t> den med </a:t>
            </a:r>
            <a:r>
              <a:rPr lang="en-US" dirty="0" err="1"/>
              <a:t>forsigtighed</a:t>
            </a:r>
            <a:r>
              <a:rPr lang="en-US" dirty="0"/>
              <a:t>.</a:t>
            </a:r>
          </a:p>
          <a:p>
            <a:r>
              <a:rPr lang="en-US" dirty="0"/>
              <a:t>Botten </a:t>
            </a:r>
            <a:r>
              <a:rPr lang="en-US" dirty="0" err="1"/>
              <a:t>vil</a:t>
            </a:r>
            <a:r>
              <a:rPr lang="en-US" dirty="0"/>
              <a:t> </a:t>
            </a:r>
            <a:r>
              <a:rPr lang="en-US" b="1" dirty="0" err="1"/>
              <a:t>ikke</a:t>
            </a:r>
            <a:r>
              <a:rPr lang="en-US" dirty="0"/>
              <a:t> </a:t>
            </a:r>
            <a:r>
              <a:rPr lang="en-US" dirty="0" err="1"/>
              <a:t>være</a:t>
            </a:r>
            <a:r>
              <a:rPr lang="en-US" dirty="0"/>
              <a:t> </a:t>
            </a:r>
            <a:r>
              <a:rPr lang="en-US" dirty="0" err="1"/>
              <a:t>tilgængelig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eksamen</a:t>
            </a:r>
            <a:r>
              <a:rPr lang="en-US" dirty="0"/>
              <a:t>.</a:t>
            </a:r>
          </a:p>
          <a:p>
            <a:r>
              <a:rPr lang="en-US" dirty="0" err="1"/>
              <a:t>Hverken</a:t>
            </a:r>
            <a:r>
              <a:rPr lang="en-US" dirty="0"/>
              <a:t> </a:t>
            </a:r>
            <a:r>
              <a:rPr lang="en-US" dirty="0" err="1"/>
              <a:t>fakultetet</a:t>
            </a:r>
            <a:r>
              <a:rPr lang="en-US" dirty="0"/>
              <a:t>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universitetet</a:t>
            </a:r>
            <a:r>
              <a:rPr lang="en-US" dirty="0"/>
              <a:t>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udmeldt</a:t>
            </a:r>
            <a:r>
              <a:rPr lang="en-US" dirty="0"/>
              <a:t> </a:t>
            </a:r>
            <a:r>
              <a:rPr lang="en-US" dirty="0" err="1"/>
              <a:t>specielt</a:t>
            </a:r>
            <a:r>
              <a:rPr lang="en-US" dirty="0"/>
              <a:t> </a:t>
            </a:r>
            <a:r>
              <a:rPr lang="en-US" dirty="0" err="1"/>
              <a:t>brugbare</a:t>
            </a:r>
            <a:r>
              <a:rPr lang="en-US" dirty="0"/>
              <a:t> </a:t>
            </a:r>
            <a:r>
              <a:rPr lang="en-US" dirty="0" err="1"/>
              <a:t>retningslinjer</a:t>
            </a:r>
            <a:r>
              <a:rPr lang="en-US" dirty="0"/>
              <a:t> for </a:t>
            </a:r>
            <a:r>
              <a:rPr lang="en-US" dirty="0" err="1"/>
              <a:t>anvendelse</a:t>
            </a:r>
            <a:r>
              <a:rPr lang="en-US" dirty="0"/>
              <a:t> af botten. 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49227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Matematikken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a-DK" dirty="0"/>
              <a:t>Matematikken i dette fag er bl.a. karakteriseret ved:</a:t>
            </a:r>
          </a:p>
          <a:p>
            <a:pPr lvl="1"/>
            <a:r>
              <a:rPr lang="da-DK" dirty="0"/>
              <a:t>Halvering af problemer -&gt; </a:t>
            </a:r>
            <a:r>
              <a:rPr lang="da-DK" dirty="0" err="1"/>
              <a:t>rekurrens</a:t>
            </a:r>
            <a:endParaRPr lang="da-DK" dirty="0"/>
          </a:p>
          <a:p>
            <a:pPr lvl="1"/>
            <a:r>
              <a:rPr lang="da-DK" dirty="0"/>
              <a:t>Anvendelse af logaritmer</a:t>
            </a:r>
          </a:p>
          <a:p>
            <a:pPr lvl="1"/>
            <a:r>
              <a:rPr lang="da-DK" dirty="0"/>
              <a:t>Altid totals-logaritmer</a:t>
            </a:r>
          </a:p>
          <a:p>
            <a:pPr lvl="1"/>
            <a:r>
              <a:rPr lang="da-DK" dirty="0"/>
              <a:t>En del </a:t>
            </a:r>
            <a:r>
              <a:rPr lang="da-DK" dirty="0" err="1"/>
              <a:t>summationer</a:t>
            </a:r>
            <a:r>
              <a:rPr lang="da-DK" dirty="0"/>
              <a:t> </a:t>
            </a:r>
            <a:r>
              <a:rPr lang="da-DK" dirty="0">
                <a:sym typeface="Wingdings" pitchFamily="2" charset="2"/>
              </a:rPr>
              <a:t></a:t>
            </a:r>
            <a:endParaRPr lang="da-DK" dirty="0"/>
          </a:p>
          <a:p>
            <a:pPr lvl="1"/>
            <a:r>
              <a:rPr lang="da-DK" dirty="0"/>
              <a:t>Induktionsbeviser </a:t>
            </a:r>
          </a:p>
          <a:p>
            <a:pPr lvl="2"/>
            <a:r>
              <a:rPr lang="da-DK" dirty="0"/>
              <a:t>Summen af de første N naturlige tal er N*(N+1)/2.</a:t>
            </a:r>
          </a:p>
          <a:p>
            <a:pPr lvl="1"/>
            <a:endParaRPr lang="da-DK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09FA50-54CE-803F-7DD8-2CB4E999E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Induktionsbeviser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149EC46-96EC-4192-0DFD-5692C447A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a-DK" dirty="0"/>
              <a:t>En algoritme opererer sædvanlig vis på et antal elementer.</a:t>
            </a:r>
          </a:p>
          <a:p>
            <a:r>
              <a:rPr lang="da-DK" dirty="0"/>
              <a:t>Vi kalder det tal for N, og N er naturligvis et </a:t>
            </a:r>
            <a:r>
              <a:rPr lang="da-DK" i="1" dirty="0"/>
              <a:t>naturligt tal</a:t>
            </a:r>
            <a:r>
              <a:rPr lang="da-DK" dirty="0"/>
              <a:t>.</a:t>
            </a:r>
          </a:p>
          <a:p>
            <a:r>
              <a:rPr lang="da-DK" dirty="0"/>
              <a:t>I induktionsbeviset </a:t>
            </a:r>
            <a:r>
              <a:rPr lang="da-DK" i="1" dirty="0"/>
              <a:t>antager </a:t>
            </a:r>
            <a:r>
              <a:rPr lang="da-DK" dirty="0"/>
              <a:t>vi, at det virker for N elementer.</a:t>
            </a:r>
          </a:p>
          <a:p>
            <a:r>
              <a:rPr lang="da-DK" dirty="0"/>
              <a:t>Hvis vi kan vise, at det også virker for N+1 elementer, er vi på den sikre side, eftersom N kan antage alle positive værdier.</a:t>
            </a:r>
          </a:p>
        </p:txBody>
      </p:sp>
    </p:spTree>
    <p:extLst>
      <p:ext uri="{BB962C8B-B14F-4D97-AF65-F5344CB8AC3E}">
        <p14:creationId xmlns:p14="http://schemas.microsoft.com/office/powerpoint/2010/main" val="225230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876B03-7547-44BF-8D46-90256C5D8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Hvorfor totals-logaritmer?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8E4611C-941F-4C9F-A510-CB6A13AE2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da-DK" dirty="0"/>
              <a:t>Fordi problemer ofte halveres på vej mod løsningen.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Eksempel: binær søgning – at finde eller ikke finde et element i en tabel af sorterede heltal (skrevet i Java):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sz="1600" dirty="0">
                <a:latin typeface="Courier"/>
              </a:rPr>
              <a:t>    public </a:t>
            </a:r>
            <a:r>
              <a:rPr lang="da-DK" sz="1600" dirty="0" err="1">
                <a:latin typeface="Courier"/>
              </a:rPr>
              <a:t>static</a:t>
            </a:r>
            <a:r>
              <a:rPr lang="da-DK" sz="1600" dirty="0">
                <a:latin typeface="Courier"/>
              </a:rPr>
              <a:t> </a:t>
            </a:r>
            <a:r>
              <a:rPr lang="da-DK" sz="1600" dirty="0" err="1">
                <a:latin typeface="Courier"/>
              </a:rPr>
              <a:t>boolean</a:t>
            </a:r>
            <a:r>
              <a:rPr lang="da-DK" sz="1600" dirty="0">
                <a:latin typeface="Courier"/>
              </a:rPr>
              <a:t> </a:t>
            </a:r>
            <a:r>
              <a:rPr lang="da-DK" sz="1600" dirty="0" err="1">
                <a:latin typeface="Courier"/>
              </a:rPr>
              <a:t>binarySearch</a:t>
            </a:r>
            <a:r>
              <a:rPr lang="da-DK" sz="1600" dirty="0">
                <a:latin typeface="Courier"/>
              </a:rPr>
              <a:t>(</a:t>
            </a:r>
            <a:r>
              <a:rPr lang="da-DK" sz="1600" dirty="0" err="1">
                <a:latin typeface="Courier"/>
              </a:rPr>
              <a:t>int</a:t>
            </a:r>
            <a:r>
              <a:rPr lang="da-DK" sz="1600" dirty="0">
                <a:latin typeface="Courier"/>
              </a:rPr>
              <a:t>[] array, </a:t>
            </a:r>
            <a:r>
              <a:rPr lang="da-DK" sz="1600" dirty="0" err="1">
                <a:latin typeface="Courier"/>
              </a:rPr>
              <a:t>int</a:t>
            </a:r>
            <a:r>
              <a:rPr lang="da-DK" sz="1600" dirty="0">
                <a:latin typeface="Courier"/>
              </a:rPr>
              <a:t> </a:t>
            </a:r>
            <a:r>
              <a:rPr lang="da-DK" sz="1600" dirty="0" err="1">
                <a:latin typeface="Courier"/>
              </a:rPr>
              <a:t>value</a:t>
            </a:r>
            <a:r>
              <a:rPr lang="da-DK" sz="1600" dirty="0"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da-DK" sz="1600" dirty="0">
                <a:latin typeface="Courier"/>
              </a:rPr>
              <a:t>    {</a:t>
            </a:r>
          </a:p>
          <a:p>
            <a:pPr marL="0" indent="0">
              <a:buNone/>
            </a:pPr>
            <a:r>
              <a:rPr lang="da-DK" sz="1600" dirty="0">
                <a:latin typeface="Courier"/>
              </a:rPr>
              <a:t>        </a:t>
            </a:r>
            <a:r>
              <a:rPr lang="da-DK" sz="1600" dirty="0" err="1">
                <a:latin typeface="Courier"/>
              </a:rPr>
              <a:t>int</a:t>
            </a:r>
            <a:r>
              <a:rPr lang="da-DK" sz="1600" dirty="0">
                <a:latin typeface="Courier"/>
              </a:rPr>
              <a:t> </a:t>
            </a:r>
            <a:r>
              <a:rPr lang="da-DK" sz="1600" dirty="0" err="1">
                <a:latin typeface="Courier"/>
              </a:rPr>
              <a:t>begin</a:t>
            </a:r>
            <a:r>
              <a:rPr lang="da-DK" sz="1600" dirty="0">
                <a:latin typeface="Courier"/>
              </a:rPr>
              <a:t> = 0; </a:t>
            </a:r>
            <a:r>
              <a:rPr lang="da-DK" sz="1600" dirty="0" err="1">
                <a:latin typeface="Courier"/>
              </a:rPr>
              <a:t>int</a:t>
            </a:r>
            <a:r>
              <a:rPr lang="da-DK" sz="1600" dirty="0">
                <a:latin typeface="Courier"/>
              </a:rPr>
              <a:t> </a:t>
            </a:r>
            <a:r>
              <a:rPr lang="da-DK" sz="1600" dirty="0" err="1">
                <a:latin typeface="Courier"/>
              </a:rPr>
              <a:t>mid</a:t>
            </a:r>
            <a:r>
              <a:rPr lang="da-DK" sz="1600" dirty="0">
                <a:latin typeface="Courier"/>
              </a:rPr>
              <a:t> = 0; </a:t>
            </a:r>
            <a:r>
              <a:rPr lang="da-DK" sz="1600" dirty="0" err="1">
                <a:latin typeface="Courier"/>
              </a:rPr>
              <a:t>int</a:t>
            </a:r>
            <a:r>
              <a:rPr lang="da-DK" sz="1600" dirty="0">
                <a:latin typeface="Courier"/>
              </a:rPr>
              <a:t> end = array.length-1;</a:t>
            </a:r>
          </a:p>
          <a:p>
            <a:pPr marL="0" indent="0">
              <a:buNone/>
            </a:pPr>
            <a:r>
              <a:rPr lang="da-DK" sz="1600" dirty="0">
                <a:latin typeface="Courier"/>
              </a:rPr>
              <a:t>        </a:t>
            </a:r>
            <a:r>
              <a:rPr lang="da-DK" sz="1600" dirty="0" err="1">
                <a:latin typeface="Courier"/>
              </a:rPr>
              <a:t>while</a:t>
            </a:r>
            <a:r>
              <a:rPr lang="da-DK" sz="1600" dirty="0">
                <a:latin typeface="Courier"/>
              </a:rPr>
              <a:t> (</a:t>
            </a:r>
            <a:r>
              <a:rPr lang="da-DK" sz="1600" dirty="0" err="1">
                <a:latin typeface="Courier"/>
              </a:rPr>
              <a:t>begin</a:t>
            </a:r>
            <a:r>
              <a:rPr lang="da-DK" sz="1600" dirty="0">
                <a:latin typeface="Courier"/>
              </a:rPr>
              <a:t> &lt;= end)</a:t>
            </a:r>
          </a:p>
          <a:p>
            <a:pPr marL="0" indent="0">
              <a:buNone/>
            </a:pPr>
            <a:r>
              <a:rPr lang="da-DK" sz="1600" dirty="0">
                <a:latin typeface="Courier"/>
              </a:rPr>
              <a:t>        {</a:t>
            </a:r>
          </a:p>
          <a:p>
            <a:pPr marL="0" indent="0">
              <a:buNone/>
            </a:pPr>
            <a:r>
              <a:rPr lang="da-DK" sz="1600" dirty="0">
                <a:latin typeface="Courier"/>
              </a:rPr>
              <a:t>            </a:t>
            </a:r>
            <a:r>
              <a:rPr lang="da-DK" sz="1600" dirty="0" err="1">
                <a:latin typeface="Courier"/>
              </a:rPr>
              <a:t>mid</a:t>
            </a:r>
            <a:r>
              <a:rPr lang="da-DK" sz="1600" dirty="0">
                <a:latin typeface="Courier"/>
              </a:rPr>
              <a:t> = (</a:t>
            </a:r>
            <a:r>
              <a:rPr lang="da-DK" sz="1600" dirty="0" err="1">
                <a:latin typeface="Courier"/>
              </a:rPr>
              <a:t>begin</a:t>
            </a:r>
            <a:r>
              <a:rPr lang="da-DK" sz="1600" dirty="0">
                <a:latin typeface="Courier"/>
              </a:rPr>
              <a:t> + end) / 2;</a:t>
            </a:r>
          </a:p>
          <a:p>
            <a:pPr marL="0" indent="0">
              <a:buNone/>
            </a:pPr>
            <a:r>
              <a:rPr lang="da-DK" sz="1600" dirty="0">
                <a:latin typeface="Courier"/>
              </a:rPr>
              <a:t>            </a:t>
            </a:r>
            <a:r>
              <a:rPr lang="da-DK" sz="1600" dirty="0" err="1">
                <a:latin typeface="Courier"/>
              </a:rPr>
              <a:t>if</a:t>
            </a:r>
            <a:r>
              <a:rPr lang="da-DK" sz="1600" dirty="0">
                <a:latin typeface="Courier"/>
              </a:rPr>
              <a:t> (array[</a:t>
            </a:r>
            <a:r>
              <a:rPr lang="da-DK" sz="1600" dirty="0" err="1">
                <a:latin typeface="Courier"/>
              </a:rPr>
              <a:t>mid</a:t>
            </a:r>
            <a:r>
              <a:rPr lang="da-DK" sz="1600" dirty="0">
                <a:latin typeface="Courier"/>
              </a:rPr>
              <a:t>] &lt; </a:t>
            </a:r>
            <a:r>
              <a:rPr lang="da-DK" sz="1600" dirty="0" err="1">
                <a:latin typeface="Courier"/>
              </a:rPr>
              <a:t>value</a:t>
            </a:r>
            <a:r>
              <a:rPr lang="da-DK" sz="1600" dirty="0"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da-DK" sz="1600" dirty="0">
                <a:latin typeface="Courier"/>
              </a:rPr>
              <a:t>                </a:t>
            </a:r>
            <a:r>
              <a:rPr lang="da-DK" sz="1600" dirty="0" err="1">
                <a:latin typeface="Courier"/>
              </a:rPr>
              <a:t>begin</a:t>
            </a:r>
            <a:r>
              <a:rPr lang="da-DK" sz="1600" dirty="0">
                <a:latin typeface="Courier"/>
              </a:rPr>
              <a:t> = </a:t>
            </a:r>
            <a:r>
              <a:rPr lang="da-DK" sz="1600" dirty="0" err="1">
                <a:latin typeface="Courier"/>
              </a:rPr>
              <a:t>mid</a:t>
            </a:r>
            <a:r>
              <a:rPr lang="da-DK" sz="1600" dirty="0">
                <a:latin typeface="Courier"/>
              </a:rPr>
              <a:t> + 1;</a:t>
            </a:r>
          </a:p>
          <a:p>
            <a:pPr marL="0" indent="0">
              <a:buNone/>
            </a:pPr>
            <a:r>
              <a:rPr lang="da-DK" sz="1600" dirty="0">
                <a:latin typeface="Courier"/>
              </a:rPr>
              <a:t>            </a:t>
            </a:r>
            <a:r>
              <a:rPr lang="da-DK" sz="1600" dirty="0" err="1">
                <a:latin typeface="Courier"/>
              </a:rPr>
              <a:t>else</a:t>
            </a:r>
            <a:endParaRPr lang="da-DK" sz="1600" dirty="0">
              <a:latin typeface="Courier"/>
            </a:endParaRPr>
          </a:p>
          <a:p>
            <a:pPr marL="0" indent="0">
              <a:buNone/>
            </a:pPr>
            <a:r>
              <a:rPr lang="da-DK" sz="1600" dirty="0">
                <a:latin typeface="Courier"/>
              </a:rPr>
              <a:t>            </a:t>
            </a:r>
            <a:r>
              <a:rPr lang="da-DK" sz="1600" dirty="0" err="1">
                <a:latin typeface="Courier"/>
              </a:rPr>
              <a:t>if</a:t>
            </a:r>
            <a:r>
              <a:rPr lang="da-DK" sz="1600" dirty="0">
                <a:latin typeface="Courier"/>
              </a:rPr>
              <a:t> (array[</a:t>
            </a:r>
            <a:r>
              <a:rPr lang="da-DK" sz="1600" dirty="0" err="1">
                <a:latin typeface="Courier"/>
              </a:rPr>
              <a:t>mid</a:t>
            </a:r>
            <a:r>
              <a:rPr lang="da-DK" sz="1600" dirty="0">
                <a:latin typeface="Courier"/>
              </a:rPr>
              <a:t>] &gt; </a:t>
            </a:r>
            <a:r>
              <a:rPr lang="da-DK" sz="1600" dirty="0" err="1">
                <a:latin typeface="Courier"/>
              </a:rPr>
              <a:t>value</a:t>
            </a:r>
            <a:r>
              <a:rPr lang="da-DK" sz="1600" dirty="0">
                <a:latin typeface="Courier"/>
              </a:rPr>
              <a:t>)</a:t>
            </a:r>
          </a:p>
          <a:p>
            <a:pPr marL="0" indent="0">
              <a:buNone/>
            </a:pPr>
            <a:r>
              <a:rPr lang="da-DK" sz="1600" dirty="0">
                <a:latin typeface="Courier"/>
              </a:rPr>
              <a:t>                end = </a:t>
            </a:r>
            <a:r>
              <a:rPr lang="da-DK" sz="1600" dirty="0" err="1">
                <a:latin typeface="Courier"/>
              </a:rPr>
              <a:t>mid</a:t>
            </a:r>
            <a:r>
              <a:rPr lang="da-DK" sz="1600" dirty="0">
                <a:latin typeface="Courier"/>
              </a:rPr>
              <a:t> - 1;</a:t>
            </a:r>
          </a:p>
          <a:p>
            <a:pPr marL="0" indent="0">
              <a:buNone/>
            </a:pPr>
            <a:r>
              <a:rPr lang="da-DK" sz="1600" dirty="0">
                <a:latin typeface="Courier"/>
              </a:rPr>
              <a:t>            </a:t>
            </a:r>
            <a:r>
              <a:rPr lang="da-DK" sz="1600" dirty="0" err="1">
                <a:latin typeface="Courier"/>
              </a:rPr>
              <a:t>else</a:t>
            </a:r>
            <a:endParaRPr lang="da-DK" sz="1600" dirty="0">
              <a:latin typeface="Courier"/>
            </a:endParaRPr>
          </a:p>
          <a:p>
            <a:pPr marL="0" indent="0">
              <a:buNone/>
            </a:pPr>
            <a:r>
              <a:rPr lang="da-DK" sz="1600" dirty="0">
                <a:latin typeface="Courier"/>
              </a:rPr>
              <a:t>                return true;</a:t>
            </a:r>
          </a:p>
          <a:p>
            <a:pPr marL="0" indent="0">
              <a:buNone/>
            </a:pPr>
            <a:r>
              <a:rPr lang="da-DK" sz="1600" dirty="0">
                <a:latin typeface="Courier"/>
              </a:rPr>
              <a:t>        }</a:t>
            </a:r>
          </a:p>
          <a:p>
            <a:pPr marL="0" indent="0">
              <a:buNone/>
            </a:pPr>
            <a:r>
              <a:rPr lang="da-DK" sz="1600" dirty="0">
                <a:latin typeface="Courier"/>
              </a:rPr>
              <a:t>        return false;</a:t>
            </a:r>
          </a:p>
          <a:p>
            <a:pPr marL="0" indent="0">
              <a:buNone/>
            </a:pPr>
            <a:r>
              <a:rPr lang="da-DK" sz="1600" dirty="0">
                <a:latin typeface="Courier"/>
              </a:rPr>
              <a:t>    }</a:t>
            </a: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102221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964488" cy="1143000"/>
          </a:xfrm>
        </p:spPr>
        <p:txBody>
          <a:bodyPr>
            <a:normAutofit fontScale="90000"/>
          </a:bodyPr>
          <a:lstStyle/>
          <a:p>
            <a:r>
              <a:rPr lang="da-DK" dirty="0" err="1"/>
              <a:t>Rekursion</a:t>
            </a:r>
            <a:r>
              <a:rPr lang="da-DK" dirty="0"/>
              <a:t> – en metode der kalder sig selv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800" dirty="0">
                <a:latin typeface="Courier" pitchFamily="49" charset="0"/>
              </a:rPr>
              <a:t>    public static </a:t>
            </a:r>
            <a:r>
              <a:rPr lang="en-US" sz="1800" dirty="0" err="1">
                <a:latin typeface="Courier" pitchFamily="49" charset="0"/>
              </a:rPr>
              <a:t>int</a:t>
            </a:r>
            <a:r>
              <a:rPr lang="en-US" sz="1800" dirty="0">
                <a:latin typeface="Courier" pitchFamily="49" charset="0"/>
              </a:rPr>
              <a:t> f(</a:t>
            </a:r>
            <a:r>
              <a:rPr lang="en-US" sz="1800" dirty="0" err="1">
                <a:latin typeface="Courier" pitchFamily="49" charset="0"/>
              </a:rPr>
              <a:t>int</a:t>
            </a:r>
            <a:r>
              <a:rPr lang="en-US" sz="1800" dirty="0">
                <a:latin typeface="Courier" pitchFamily="49" charset="0"/>
              </a:rPr>
              <a:t> x)</a:t>
            </a:r>
          </a:p>
          <a:p>
            <a:pPr>
              <a:buNone/>
            </a:pPr>
            <a:r>
              <a:rPr lang="en-US" sz="1800" dirty="0">
                <a:latin typeface="Courier" pitchFamily="49" charset="0"/>
              </a:rPr>
              <a:t>    {</a:t>
            </a:r>
          </a:p>
          <a:p>
            <a:pPr>
              <a:buNone/>
            </a:pPr>
            <a:r>
              <a:rPr lang="en-US" sz="1800" dirty="0">
                <a:latin typeface="Courier" pitchFamily="49" charset="0"/>
              </a:rPr>
              <a:t>        if (x == 0)</a:t>
            </a:r>
          </a:p>
          <a:p>
            <a:pPr>
              <a:buNone/>
            </a:pPr>
            <a:r>
              <a:rPr lang="en-US" sz="1800" dirty="0">
                <a:latin typeface="Courier" pitchFamily="49" charset="0"/>
              </a:rPr>
              <a:t>            return 0;</a:t>
            </a:r>
          </a:p>
          <a:p>
            <a:pPr>
              <a:buNone/>
            </a:pPr>
            <a:r>
              <a:rPr lang="en-US" sz="1800" dirty="0">
                <a:latin typeface="Courier" pitchFamily="49" charset="0"/>
              </a:rPr>
              <a:t>        else</a:t>
            </a:r>
          </a:p>
          <a:p>
            <a:pPr>
              <a:buNone/>
            </a:pPr>
            <a:r>
              <a:rPr lang="en-US" sz="1800" dirty="0">
                <a:latin typeface="Courier" pitchFamily="49" charset="0"/>
              </a:rPr>
              <a:t>            return 2*f(x-1) + x*x;</a:t>
            </a:r>
          </a:p>
          <a:p>
            <a:pPr>
              <a:buNone/>
            </a:pPr>
            <a:r>
              <a:rPr lang="en-US" sz="1800" dirty="0">
                <a:latin typeface="Courier" pitchFamily="49" charset="0"/>
              </a:rPr>
              <a:t>    }</a:t>
            </a:r>
          </a:p>
          <a:p>
            <a:pPr>
              <a:buNone/>
            </a:pPr>
            <a:endParaRPr lang="en-US" sz="1800" dirty="0">
              <a:latin typeface="Courier" pitchFamily="49" charset="0"/>
            </a:endParaRPr>
          </a:p>
          <a:p>
            <a:r>
              <a:rPr lang="da-DK" sz="2800" dirty="0"/>
              <a:t>Basis</a:t>
            </a:r>
          </a:p>
          <a:p>
            <a:r>
              <a:rPr lang="da-DK" sz="2800" dirty="0"/>
              <a:t>Gør fremskridt mod basis</a:t>
            </a:r>
          </a:p>
          <a:p>
            <a:r>
              <a:rPr lang="da-DK" sz="2800" dirty="0"/>
              <a:t>Problemet reduceres på vej ned (del/</a:t>
            </a:r>
            <a:r>
              <a:rPr lang="da-DK" sz="2800" dirty="0" err="1"/>
              <a:t>divide</a:t>
            </a:r>
            <a:r>
              <a:rPr lang="da-DK" sz="2800" dirty="0"/>
              <a:t>)</a:t>
            </a:r>
          </a:p>
          <a:p>
            <a:r>
              <a:rPr lang="da-DK" sz="2800" dirty="0"/>
              <a:t>Løsningen skabes på vej tilbage (hersk/</a:t>
            </a:r>
            <a:r>
              <a:rPr lang="da-DK" sz="2800" dirty="0" err="1"/>
              <a:t>conquer</a:t>
            </a:r>
            <a:r>
              <a:rPr lang="da-DK" sz="2800" dirty="0"/>
              <a:t>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Mere </a:t>
            </a:r>
            <a:r>
              <a:rPr lang="da-DK" dirty="0" err="1"/>
              <a:t>rekursion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da-DK" sz="1800" dirty="0">
                <a:latin typeface="Courier New" pitchFamily="49" charset="0"/>
                <a:cs typeface="Courier New" pitchFamily="49" charset="0"/>
              </a:rPr>
              <a:t>	  public </a:t>
            </a:r>
            <a:r>
              <a:rPr lang="da-DK" sz="1800" dirty="0" err="1">
                <a:latin typeface="Courier New" pitchFamily="49" charset="0"/>
                <a:cs typeface="Courier New" pitchFamily="49" charset="0"/>
              </a:rPr>
              <a:t>static</a:t>
            </a:r>
            <a:r>
              <a:rPr lang="da-DK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sz="18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da-DK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sz="1800" dirty="0" err="1">
                <a:latin typeface="Courier New" pitchFamily="49" charset="0"/>
                <a:cs typeface="Courier New" pitchFamily="49" charset="0"/>
              </a:rPr>
              <a:t>sumNaturalNumbers</a:t>
            </a:r>
            <a:r>
              <a:rPr lang="da-DK" sz="1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da-DK" sz="18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da-DK" sz="1800" dirty="0">
                <a:latin typeface="Courier New" pitchFamily="49" charset="0"/>
                <a:cs typeface="Courier New" pitchFamily="49" charset="0"/>
              </a:rPr>
              <a:t> n)</a:t>
            </a:r>
          </a:p>
          <a:p>
            <a:pPr>
              <a:buNone/>
            </a:pPr>
            <a:r>
              <a:rPr lang="da-DK" sz="1800" dirty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buNone/>
            </a:pPr>
            <a:r>
              <a:rPr lang="da-DK" sz="18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a-DK" sz="18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da-DK" sz="1800" dirty="0">
                <a:latin typeface="Courier New" pitchFamily="49" charset="0"/>
                <a:cs typeface="Courier New" pitchFamily="49" charset="0"/>
              </a:rPr>
              <a:t> (n &lt; 1)</a:t>
            </a:r>
          </a:p>
          <a:p>
            <a:pPr>
              <a:buNone/>
            </a:pPr>
            <a:r>
              <a:rPr lang="da-DK" sz="1800" dirty="0">
                <a:latin typeface="Courier New" pitchFamily="49" charset="0"/>
                <a:cs typeface="Courier New" pitchFamily="49" charset="0"/>
              </a:rPr>
              <a:t>            return 0;</a:t>
            </a:r>
          </a:p>
          <a:p>
            <a:pPr>
              <a:buNone/>
            </a:pPr>
            <a:r>
              <a:rPr lang="da-DK" sz="1800" dirty="0">
                <a:latin typeface="Courier New" pitchFamily="49" charset="0"/>
                <a:cs typeface="Courier New" pitchFamily="49" charset="0"/>
              </a:rPr>
              <a:t>        return n + </a:t>
            </a:r>
            <a:r>
              <a:rPr lang="da-DK" sz="1800" dirty="0" err="1">
                <a:latin typeface="Courier New" pitchFamily="49" charset="0"/>
                <a:cs typeface="Courier New" pitchFamily="49" charset="0"/>
              </a:rPr>
              <a:t>sumNaturalNumbers</a:t>
            </a:r>
            <a:r>
              <a:rPr lang="da-DK" sz="1800" dirty="0">
                <a:latin typeface="Courier New" pitchFamily="49" charset="0"/>
                <a:cs typeface="Courier New" pitchFamily="49" charset="0"/>
              </a:rPr>
              <a:t>(n-1);</a:t>
            </a:r>
          </a:p>
          <a:p>
            <a:pPr>
              <a:buNone/>
            </a:pPr>
            <a:r>
              <a:rPr lang="da-DK" sz="18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None/>
            </a:pPr>
            <a:endParaRPr lang="da-DK" sz="1800" dirty="0">
              <a:latin typeface="Courier New" pitchFamily="49" charset="0"/>
              <a:cs typeface="Courier New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da-DK" dirty="0">
                <a:cs typeface="Courier New" pitchFamily="49" charset="0"/>
              </a:rPr>
              <a:t>Base case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>
                <a:cs typeface="Courier New" pitchFamily="49" charset="0"/>
              </a:rPr>
              <a:t>Arbejd mod base case.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>
                <a:cs typeface="Courier New" pitchFamily="49" charset="0"/>
              </a:rPr>
              <a:t>Designregel: antag at det rekursive trin virker.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>
                <a:cs typeface="Courier New" pitchFamily="49" charset="0"/>
              </a:rPr>
              <a:t>Undgå at løse den samme instans af problemet flere gange.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Fordele ved anvendelse af </a:t>
            </a:r>
            <a:r>
              <a:rPr lang="da-DK" dirty="0" err="1"/>
              <a:t>rekursion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da-DK" dirty="0"/>
              <a:t>	Man behøver ikke at holde styr på alle de rekursive skridt, hvilket kan være en kompliceret affære.</a:t>
            </a:r>
          </a:p>
          <a:p>
            <a:pPr>
              <a:buNone/>
            </a:pPr>
            <a:r>
              <a:rPr lang="da-DK" dirty="0"/>
              <a:t>	Dette håndteres af en mekanisme i operativsystemet kaldet runtime-stakken, som holder styr på de ‘nestede’ metodekald ved hjælp af såkaldte </a:t>
            </a:r>
            <a:r>
              <a:rPr lang="da-DK" i="1" dirty="0" err="1"/>
              <a:t>activation</a:t>
            </a:r>
            <a:r>
              <a:rPr lang="da-DK" i="1" dirty="0"/>
              <a:t> </a:t>
            </a:r>
            <a:r>
              <a:rPr lang="da-DK" i="1" dirty="0" err="1"/>
              <a:t>records</a:t>
            </a:r>
            <a:r>
              <a:rPr lang="da-DK" i="1" dirty="0"/>
              <a:t>.</a:t>
            </a:r>
            <a:r>
              <a:rPr lang="da-DK" dirty="0"/>
              <a:t> </a:t>
            </a:r>
          </a:p>
          <a:p>
            <a:pPr>
              <a:buNone/>
            </a:pPr>
            <a:r>
              <a:rPr lang="da-DK" dirty="0"/>
              <a:t>	Nogle hævder desuden, at rekursive metoder er nemmere at forstå end iterative. Andre er uenige. </a:t>
            </a:r>
          </a:p>
          <a:p>
            <a:pPr>
              <a:buNone/>
            </a:pPr>
            <a:endParaRPr lang="da-DK" dirty="0"/>
          </a:p>
          <a:p>
            <a:pPr>
              <a:buNone/>
            </a:pPr>
            <a:endParaRPr lang="da-DK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65FBA8-828B-400B-9BA3-4B13C4B99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Endnu et eksempel på </a:t>
            </a:r>
            <a:r>
              <a:rPr lang="da-DK" dirty="0" err="1"/>
              <a:t>rekursion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406397F-3EA7-472F-A602-F75B81CAD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a-DK" sz="1400" b="1" dirty="0">
                <a:latin typeface="Courier"/>
              </a:rPr>
              <a:t>    public </a:t>
            </a:r>
            <a:r>
              <a:rPr lang="da-DK" sz="1400" b="1" dirty="0" err="1">
                <a:latin typeface="Courier"/>
              </a:rPr>
              <a:t>void</a:t>
            </a:r>
            <a:r>
              <a:rPr lang="da-DK" sz="1400" b="1" dirty="0">
                <a:latin typeface="Courier"/>
              </a:rPr>
              <a:t> </a:t>
            </a:r>
            <a:r>
              <a:rPr lang="da-DK" sz="1400" b="1" dirty="0" err="1">
                <a:latin typeface="Courier"/>
              </a:rPr>
              <a:t>walk</a:t>
            </a:r>
            <a:r>
              <a:rPr lang="da-DK" sz="1400" b="1" dirty="0">
                <a:latin typeface="Courier"/>
              </a:rPr>
              <a:t>( </a:t>
            </a:r>
            <a:r>
              <a:rPr lang="da-DK" sz="1400" b="1" dirty="0" err="1">
                <a:latin typeface="Courier"/>
              </a:rPr>
              <a:t>String</a:t>
            </a:r>
            <a:r>
              <a:rPr lang="da-DK" sz="1400" b="1" dirty="0">
                <a:latin typeface="Courier"/>
              </a:rPr>
              <a:t> </a:t>
            </a:r>
            <a:r>
              <a:rPr lang="da-DK" sz="1400" b="1" dirty="0" err="1">
                <a:latin typeface="Courier"/>
              </a:rPr>
              <a:t>path</a:t>
            </a:r>
            <a:r>
              <a:rPr lang="da-DK" sz="1400" b="1" dirty="0">
                <a:latin typeface="Courier"/>
              </a:rPr>
              <a:t> ) </a:t>
            </a:r>
          </a:p>
          <a:p>
            <a:pPr marL="0" indent="0">
              <a:buNone/>
            </a:pPr>
            <a:r>
              <a:rPr lang="da-DK" sz="1400" b="1" dirty="0">
                <a:latin typeface="Courier"/>
              </a:rPr>
              <a:t>    {</a:t>
            </a:r>
          </a:p>
          <a:p>
            <a:pPr marL="0" indent="0">
              <a:buNone/>
            </a:pPr>
            <a:r>
              <a:rPr lang="da-DK" sz="1400" b="1">
                <a:latin typeface="Courier"/>
              </a:rPr>
              <a:t>        </a:t>
            </a:r>
            <a:r>
              <a:rPr lang="da-DK" sz="1400" b="1" dirty="0">
                <a:latin typeface="Courier"/>
              </a:rPr>
              <a:t>File </a:t>
            </a:r>
            <a:r>
              <a:rPr lang="da-DK" sz="1400" b="1" dirty="0" err="1">
                <a:latin typeface="Courier"/>
              </a:rPr>
              <a:t>root</a:t>
            </a:r>
            <a:r>
              <a:rPr lang="da-DK" sz="1400" b="1" dirty="0">
                <a:latin typeface="Courier"/>
              </a:rPr>
              <a:t> = new File( </a:t>
            </a:r>
            <a:r>
              <a:rPr lang="da-DK" sz="1400" b="1" dirty="0" err="1">
                <a:latin typeface="Courier"/>
              </a:rPr>
              <a:t>path</a:t>
            </a:r>
            <a:r>
              <a:rPr lang="da-DK" sz="1400" b="1" dirty="0">
                <a:latin typeface="Courier"/>
              </a:rPr>
              <a:t> );</a:t>
            </a:r>
          </a:p>
          <a:p>
            <a:pPr marL="0" indent="0">
              <a:buNone/>
            </a:pPr>
            <a:r>
              <a:rPr lang="da-DK" sz="1400" b="1" dirty="0">
                <a:latin typeface="Courier"/>
              </a:rPr>
              <a:t>        File[] list = </a:t>
            </a:r>
            <a:r>
              <a:rPr lang="da-DK" sz="1400" b="1" dirty="0" err="1">
                <a:latin typeface="Courier"/>
              </a:rPr>
              <a:t>root.listFiles</a:t>
            </a:r>
            <a:r>
              <a:rPr lang="da-DK" sz="1400" b="1" dirty="0">
                <a:latin typeface="Courier"/>
              </a:rPr>
              <a:t>();</a:t>
            </a:r>
          </a:p>
          <a:p>
            <a:pPr marL="0" indent="0">
              <a:buNone/>
            </a:pPr>
            <a:r>
              <a:rPr lang="da-DK" sz="1400" b="1" dirty="0">
                <a:latin typeface="Courier"/>
              </a:rPr>
              <a:t>        </a:t>
            </a:r>
          </a:p>
          <a:p>
            <a:pPr marL="0" indent="0">
              <a:buNone/>
            </a:pPr>
            <a:r>
              <a:rPr lang="da-DK" sz="1400" b="1" dirty="0">
                <a:latin typeface="Courier"/>
              </a:rPr>
              <a:t>        </a:t>
            </a:r>
            <a:r>
              <a:rPr lang="da-DK" sz="1400" b="1" dirty="0" err="1">
                <a:latin typeface="Courier"/>
              </a:rPr>
              <a:t>if</a:t>
            </a:r>
            <a:r>
              <a:rPr lang="da-DK" sz="1400" b="1" dirty="0">
                <a:latin typeface="Courier"/>
              </a:rPr>
              <a:t> (list == </a:t>
            </a:r>
            <a:r>
              <a:rPr lang="da-DK" sz="1400" b="1" dirty="0" err="1">
                <a:latin typeface="Courier"/>
              </a:rPr>
              <a:t>null</a:t>
            </a:r>
            <a:r>
              <a:rPr lang="da-DK" sz="1400" b="1" dirty="0">
                <a:latin typeface="Courier"/>
              </a:rPr>
              <a:t>) return;</a:t>
            </a:r>
          </a:p>
          <a:p>
            <a:pPr marL="0" indent="0">
              <a:buNone/>
            </a:pPr>
            <a:endParaRPr lang="da-DK" sz="1400" b="1" dirty="0">
              <a:latin typeface="Courier"/>
            </a:endParaRPr>
          </a:p>
          <a:p>
            <a:pPr marL="0" indent="0">
              <a:buNone/>
            </a:pPr>
            <a:r>
              <a:rPr lang="da-DK" sz="1400" b="1" dirty="0">
                <a:latin typeface="Courier"/>
              </a:rPr>
              <a:t>        for ( File f : list ) {</a:t>
            </a:r>
          </a:p>
          <a:p>
            <a:pPr marL="0" indent="0">
              <a:buNone/>
            </a:pPr>
            <a:r>
              <a:rPr lang="da-DK" sz="1400" b="1" dirty="0">
                <a:latin typeface="Courier"/>
              </a:rPr>
              <a:t>            </a:t>
            </a:r>
            <a:r>
              <a:rPr lang="da-DK" sz="1400" b="1" dirty="0" err="1">
                <a:latin typeface="Courier"/>
              </a:rPr>
              <a:t>if</a:t>
            </a:r>
            <a:r>
              <a:rPr lang="da-DK" sz="1400" b="1" dirty="0">
                <a:latin typeface="Courier"/>
              </a:rPr>
              <a:t> ( </a:t>
            </a:r>
            <a:r>
              <a:rPr lang="da-DK" sz="1400" b="1" dirty="0" err="1">
                <a:latin typeface="Courier"/>
              </a:rPr>
              <a:t>f.isDirectory</a:t>
            </a:r>
            <a:r>
              <a:rPr lang="da-DK" sz="1400" b="1" dirty="0">
                <a:latin typeface="Courier"/>
              </a:rPr>
              <a:t>() ) </a:t>
            </a:r>
          </a:p>
          <a:p>
            <a:pPr marL="0" indent="0">
              <a:buNone/>
            </a:pPr>
            <a:r>
              <a:rPr lang="da-DK" sz="1400" b="1" dirty="0">
                <a:latin typeface="Courier"/>
              </a:rPr>
              <a:t>            {</a:t>
            </a:r>
          </a:p>
          <a:p>
            <a:pPr marL="0" indent="0">
              <a:buNone/>
            </a:pPr>
            <a:r>
              <a:rPr lang="da-DK" sz="1400" b="1" dirty="0">
                <a:latin typeface="Courier"/>
              </a:rPr>
              <a:t>                </a:t>
            </a:r>
            <a:r>
              <a:rPr lang="da-DK" sz="1400" b="1" dirty="0" err="1">
                <a:latin typeface="Courier"/>
              </a:rPr>
              <a:t>walk</a:t>
            </a:r>
            <a:r>
              <a:rPr lang="da-DK" sz="1400" b="1" dirty="0">
                <a:latin typeface="Courier"/>
              </a:rPr>
              <a:t>( </a:t>
            </a:r>
            <a:r>
              <a:rPr lang="da-DK" sz="1400" b="1" dirty="0" err="1">
                <a:latin typeface="Courier"/>
              </a:rPr>
              <a:t>f.getAbsolutePath</a:t>
            </a:r>
            <a:r>
              <a:rPr lang="da-DK" sz="1400" b="1" dirty="0">
                <a:latin typeface="Courier"/>
              </a:rPr>
              <a:t>() );</a:t>
            </a:r>
          </a:p>
          <a:p>
            <a:pPr marL="0" indent="0">
              <a:buNone/>
            </a:pPr>
            <a:r>
              <a:rPr lang="da-DK" sz="1400" b="1" dirty="0">
                <a:latin typeface="Courier"/>
              </a:rPr>
              <a:t>                </a:t>
            </a:r>
            <a:r>
              <a:rPr lang="da-DK" sz="1400" b="1" dirty="0" err="1">
                <a:latin typeface="Courier"/>
              </a:rPr>
              <a:t>maps</a:t>
            </a:r>
            <a:r>
              <a:rPr lang="da-DK" sz="1400" b="1" dirty="0">
                <a:latin typeface="Courier"/>
              </a:rPr>
              <a:t>++;</a:t>
            </a:r>
          </a:p>
          <a:p>
            <a:pPr marL="0" indent="0">
              <a:buNone/>
            </a:pPr>
            <a:r>
              <a:rPr lang="da-DK" sz="1400" b="1" dirty="0">
                <a:latin typeface="Courier"/>
              </a:rPr>
              <a:t>            }</a:t>
            </a:r>
          </a:p>
          <a:p>
            <a:pPr marL="0" indent="0">
              <a:buNone/>
            </a:pPr>
            <a:r>
              <a:rPr lang="da-DK" sz="1400" b="1" dirty="0">
                <a:latin typeface="Courier"/>
              </a:rPr>
              <a:t>            </a:t>
            </a:r>
            <a:r>
              <a:rPr lang="da-DK" sz="1400" b="1" dirty="0" err="1">
                <a:latin typeface="Courier"/>
              </a:rPr>
              <a:t>else</a:t>
            </a:r>
            <a:r>
              <a:rPr lang="da-DK" sz="1400" b="1" dirty="0">
                <a:latin typeface="Courier"/>
              </a:rPr>
              <a:t> </a:t>
            </a:r>
          </a:p>
          <a:p>
            <a:pPr marL="0" indent="0">
              <a:buNone/>
            </a:pPr>
            <a:r>
              <a:rPr lang="da-DK" sz="1400" b="1" dirty="0">
                <a:latin typeface="Courier"/>
              </a:rPr>
              <a:t>                files++;</a:t>
            </a:r>
          </a:p>
          <a:p>
            <a:pPr marL="0" indent="0">
              <a:buNone/>
            </a:pPr>
            <a:r>
              <a:rPr lang="da-DK" sz="1400" b="1" dirty="0">
                <a:latin typeface="Courier"/>
              </a:rPr>
              <a:t>        }</a:t>
            </a:r>
          </a:p>
          <a:p>
            <a:pPr marL="0" indent="0">
              <a:buNone/>
            </a:pPr>
            <a:r>
              <a:rPr lang="da-DK" sz="1400" b="1" dirty="0">
                <a:latin typeface="Courier"/>
              </a:rPr>
              <a:t>    }</a:t>
            </a:r>
          </a:p>
          <a:p>
            <a:pPr marL="0" indent="0">
              <a:buNone/>
            </a:pPr>
            <a:endParaRPr lang="da-DK" sz="1000" dirty="0">
              <a:latin typeface="Courier"/>
            </a:endParaRPr>
          </a:p>
          <a:p>
            <a:pPr marL="0" indent="0">
              <a:buNone/>
            </a:pPr>
            <a:r>
              <a:rPr lang="da-DK" sz="1000" dirty="0">
                <a:latin typeface="Courier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8212010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Verifikation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da-DK" dirty="0"/>
              <a:t>	Rekursive algoritmer er sjældne eksempler på, at det kan bevises matematisk, at et program er fejlfrit. Det skyldes deres induktive natur. </a:t>
            </a:r>
          </a:p>
          <a:p>
            <a:pPr>
              <a:buNone/>
            </a:pPr>
            <a:r>
              <a:rPr lang="da-DK" dirty="0"/>
              <a:t>	Med større programmer er fuldstændig verifikation umulig helt i overensstemmelse med påstanden, om at </a:t>
            </a:r>
            <a:r>
              <a:rPr lang="da-DK" b="1" dirty="0"/>
              <a:t>et program er kun fejlfrit, indtil man finder den næste fejl</a:t>
            </a:r>
            <a:r>
              <a:rPr lang="da-DK" dirty="0"/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512" y="980728"/>
            <a:ext cx="8856984" cy="864096"/>
          </a:xfrm>
        </p:spPr>
        <p:txBody>
          <a:bodyPr>
            <a:normAutofit fontScale="90000"/>
          </a:bodyPr>
          <a:lstStyle/>
          <a:p>
            <a:pPr marL="0" indent="0"/>
            <a:r>
              <a:rPr lang="da-DK" dirty="0"/>
              <a:t>N</a:t>
            </a:r>
            <a:br>
              <a:rPr lang="da-DK" dirty="0"/>
            </a:br>
            <a:r>
              <a:rPr lang="da-DK" dirty="0"/>
              <a:t>angiver antallet af elementer</a:t>
            </a:r>
            <a:br>
              <a:rPr lang="da-DK" dirty="0"/>
            </a:br>
            <a:br>
              <a:rPr lang="da-DK" dirty="0"/>
            </a:b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547664" y="2924944"/>
            <a:ext cx="7139136" cy="3201219"/>
          </a:xfrm>
        </p:spPr>
        <p:txBody>
          <a:bodyPr/>
          <a:lstStyle/>
          <a:p>
            <a:r>
              <a:rPr lang="da-DK" dirty="0"/>
              <a:t>som skal sorteres</a:t>
            </a:r>
          </a:p>
          <a:p>
            <a:r>
              <a:rPr lang="da-DK" dirty="0"/>
              <a:t>som skal indsættes i en liste</a:t>
            </a:r>
          </a:p>
          <a:p>
            <a:r>
              <a:rPr lang="da-DK" dirty="0"/>
              <a:t>noder/kanter i en graf</a:t>
            </a:r>
          </a:p>
          <a:p>
            <a:r>
              <a:rPr lang="da-DK" dirty="0"/>
              <a:t>i en lists/array som skal gennemløbes</a:t>
            </a:r>
          </a:p>
        </p:txBody>
      </p:sp>
    </p:spTree>
    <p:extLst>
      <p:ext uri="{BB962C8B-B14F-4D97-AF65-F5344CB8AC3E}">
        <p14:creationId xmlns:p14="http://schemas.microsoft.com/office/powerpoint/2010/main" val="1155556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Tommelfingerregler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27584" y="2276872"/>
            <a:ext cx="7859216" cy="3849291"/>
          </a:xfrm>
        </p:spPr>
        <p:txBody>
          <a:bodyPr>
            <a:normAutofit lnSpcReduction="10000"/>
          </a:bodyPr>
          <a:lstStyle/>
          <a:p>
            <a:r>
              <a:rPr lang="da-DK" dirty="0"/>
              <a:t>Halvering af problem		O(log N)</a:t>
            </a:r>
          </a:p>
          <a:p>
            <a:r>
              <a:rPr lang="da-DK" dirty="0"/>
              <a:t>En </a:t>
            </a:r>
            <a:r>
              <a:rPr lang="da-DK" dirty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da-DK" dirty="0"/>
              <a:t>-løkke: 				O(N)</a:t>
            </a:r>
          </a:p>
          <a:p>
            <a:r>
              <a:rPr lang="da-DK" dirty="0"/>
              <a:t>To </a:t>
            </a:r>
            <a:r>
              <a:rPr lang="da-DK" dirty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da-DK" dirty="0"/>
              <a:t>-løkker i sekvens: 		O(N)</a:t>
            </a:r>
          </a:p>
          <a:p>
            <a:r>
              <a:rPr lang="da-DK" dirty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da-DK" dirty="0"/>
              <a:t>-løkke med </a:t>
            </a:r>
            <a:r>
              <a:rPr lang="da-DK" dirty="0" err="1"/>
              <a:t>indb</a:t>
            </a:r>
            <a:r>
              <a:rPr lang="da-DK" dirty="0"/>
              <a:t>. halvering:	O(N log N)</a:t>
            </a:r>
          </a:p>
          <a:p>
            <a:r>
              <a:rPr lang="da-DK" dirty="0"/>
              <a:t>To nestede </a:t>
            </a:r>
            <a:r>
              <a:rPr lang="da-DK" dirty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da-DK" dirty="0"/>
              <a:t>-løkker: 		O(N</a:t>
            </a:r>
            <a:r>
              <a:rPr lang="da-DK" baseline="30000" dirty="0"/>
              <a:t>2</a:t>
            </a:r>
            <a:r>
              <a:rPr lang="da-DK" dirty="0"/>
              <a:t>)</a:t>
            </a:r>
          </a:p>
          <a:p>
            <a:r>
              <a:rPr lang="da-DK" dirty="0"/>
              <a:t>Tre nestede </a:t>
            </a:r>
            <a:r>
              <a:rPr lang="da-DK" dirty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da-DK" dirty="0"/>
              <a:t>-løkker: 		O(N</a:t>
            </a:r>
            <a:r>
              <a:rPr lang="da-DK" baseline="30000" dirty="0"/>
              <a:t>3</a:t>
            </a:r>
            <a:r>
              <a:rPr lang="da-DK" dirty="0"/>
              <a:t>) </a:t>
            </a:r>
          </a:p>
          <a:p>
            <a:r>
              <a:rPr lang="da-DK" dirty="0"/>
              <a:t>Tjek alle kombinationer: 		O(2</a:t>
            </a:r>
            <a:r>
              <a:rPr lang="da-DK" baseline="30000" dirty="0"/>
              <a:t>N</a:t>
            </a:r>
            <a:r>
              <a:rPr lang="da-DK" dirty="0"/>
              <a:t>)</a:t>
            </a:r>
          </a:p>
          <a:p>
            <a:endParaRPr lang="da-DK" dirty="0"/>
          </a:p>
          <a:p>
            <a:endParaRPr lang="da-DK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1C4E56-AD71-4C3D-8AA1-B52EEA3E3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Forskellige tilfælde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8D33E5B-E187-46F2-AEAF-13C184F82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 algn="ctr">
              <a:buNone/>
            </a:pPr>
            <a:r>
              <a:rPr lang="da-DK" dirty="0"/>
              <a:t>Best</a:t>
            </a:r>
          </a:p>
          <a:p>
            <a:pPr marL="0" indent="0" algn="ctr">
              <a:buNone/>
            </a:pPr>
            <a:r>
              <a:rPr lang="da-DK" dirty="0"/>
              <a:t>Average</a:t>
            </a:r>
          </a:p>
          <a:p>
            <a:pPr marL="0" indent="0" algn="ctr">
              <a:buNone/>
            </a:pPr>
            <a:r>
              <a:rPr lang="da-DK" dirty="0" err="1"/>
              <a:t>Worst</a:t>
            </a:r>
            <a:endParaRPr lang="da-DK" dirty="0"/>
          </a:p>
          <a:p>
            <a:pPr marL="0" indent="0" algn="ctr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9964061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28F71A-5DBA-4FD3-AC10-DDA78300E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Det næste skridt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0374340-2ADA-443D-BC32-26C0A9F67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 algn="ctr">
              <a:buNone/>
            </a:pPr>
            <a:r>
              <a:rPr lang="da-DK" sz="4000" dirty="0"/>
              <a:t>Algoritmer</a:t>
            </a:r>
          </a:p>
          <a:p>
            <a:pPr marL="0" indent="0" algn="ctr">
              <a:buNone/>
            </a:pPr>
            <a:r>
              <a:rPr lang="da-DK" sz="4000" dirty="0"/>
              <a:t> vs.</a:t>
            </a:r>
          </a:p>
          <a:p>
            <a:pPr marL="0" indent="0" algn="ctr">
              <a:buNone/>
            </a:pPr>
            <a:r>
              <a:rPr lang="da-DK" sz="4000" dirty="0"/>
              <a:t> Kunstig intelligens (AI)</a:t>
            </a:r>
          </a:p>
        </p:txBody>
      </p:sp>
    </p:spTree>
    <p:extLst>
      <p:ext uri="{BB962C8B-B14F-4D97-AF65-F5344CB8AC3E}">
        <p14:creationId xmlns:p14="http://schemas.microsoft.com/office/powerpoint/2010/main" val="4557751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7941CD-C5A9-4BB1-907C-A1B550E09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Hvad kendetegner AI?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11B9CA4-E184-4191-ACE5-57D6EDB7D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Masser af definitioner. </a:t>
            </a:r>
          </a:p>
          <a:p>
            <a:pPr marL="0" indent="0">
              <a:buNone/>
            </a:pPr>
            <a:r>
              <a:rPr lang="da-DK" dirty="0"/>
              <a:t>Min favorit foreslår, at AI tager sig af problemer, der er så svære eller komplekse, at de ikke kan løses af algoritmer.</a:t>
            </a:r>
          </a:p>
          <a:p>
            <a:pPr marL="0" indent="0">
              <a:buNone/>
            </a:pPr>
            <a:r>
              <a:rPr lang="da-DK" dirty="0"/>
              <a:t>Der tales dog ofte om algoritmer, når der diskuteres AI.</a:t>
            </a:r>
          </a:p>
        </p:txBody>
      </p:sp>
    </p:spTree>
    <p:extLst>
      <p:ext uri="{BB962C8B-B14F-4D97-AF65-F5344CB8AC3E}">
        <p14:creationId xmlns:p14="http://schemas.microsoft.com/office/powerpoint/2010/main" val="10888822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F15DF7-3E00-436E-88C6-001E3509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Et old school eksempel: ekspertsystemer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9446F2E-BC71-4225-8E33-963870387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	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/>
              <a:t>Min kone </a:t>
            </a:r>
            <a:r>
              <a:rPr lang="da-DK" dirty="0"/>
              <a:t>og den ukendte fugl på stranden, som viste sig at være en strandskade.</a:t>
            </a:r>
          </a:p>
        </p:txBody>
      </p:sp>
    </p:spTree>
    <p:extLst>
      <p:ext uri="{BB962C8B-B14F-4D97-AF65-F5344CB8AC3E}">
        <p14:creationId xmlns:p14="http://schemas.microsoft.com/office/powerpoint/2010/main" val="25231705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27D668-6A59-4CB3-852D-F5C2629AB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”Den var på størrelse med en måge og lignede en måge.”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6BD684B-CD47-4A74-A707-B0224EBDE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r>
              <a:rPr lang="da-DK" dirty="0"/>
              <a:t>Den mindste måge i danske farvande er </a:t>
            </a:r>
            <a:r>
              <a:rPr lang="da-DK" i="1" dirty="0"/>
              <a:t>hættemågen</a:t>
            </a:r>
            <a:r>
              <a:rPr lang="da-DK" dirty="0"/>
              <a:t>, som måler 40 cm.</a:t>
            </a:r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r>
              <a:rPr lang="da-DK" dirty="0"/>
              <a:t>Den største måge i danske farvande er </a:t>
            </a:r>
            <a:r>
              <a:rPr lang="da-DK" i="1" dirty="0"/>
              <a:t>svartbagen</a:t>
            </a:r>
            <a:r>
              <a:rPr lang="da-DK" dirty="0"/>
              <a:t>, som måler 70 cm.</a:t>
            </a:r>
          </a:p>
        </p:txBody>
      </p:sp>
    </p:spTree>
    <p:extLst>
      <p:ext uri="{BB962C8B-B14F-4D97-AF65-F5344CB8AC3E}">
        <p14:creationId xmlns:p14="http://schemas.microsoft.com/office/powerpoint/2010/main" val="30062277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5B1027-0774-4AF7-AD35-D725AD410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”Dens hoved var sort”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3C0DCE8-260E-4CB2-894F-9C6FC4C99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12568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r>
              <a:rPr lang="da-DK" dirty="0"/>
              <a:t>Hættemåge</a:t>
            </a:r>
          </a:p>
          <a:p>
            <a:pPr marL="0" indent="0" algn="ctr">
              <a:buNone/>
            </a:pPr>
            <a:r>
              <a:rPr lang="da-DK" dirty="0"/>
              <a:t>Larus </a:t>
            </a:r>
            <a:r>
              <a:rPr lang="da-DK" dirty="0" err="1"/>
              <a:t>ridibundus</a:t>
            </a:r>
            <a:endParaRPr lang="da-DK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2219EE7D-A81D-4FCC-B35C-6A0FC5450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1268760"/>
            <a:ext cx="5688632" cy="337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7151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281E93-A67D-44A5-8E96-ACFF48D51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”Dens ryg var sort”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F2C0989-41AA-4D65-A47B-13762C90D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r>
              <a:rPr lang="da-DK" dirty="0"/>
              <a:t>Sildemåge</a:t>
            </a:r>
          </a:p>
          <a:p>
            <a:pPr marL="0" indent="0" algn="ctr">
              <a:buNone/>
            </a:pPr>
            <a:r>
              <a:rPr lang="da-DK" dirty="0"/>
              <a:t>Larus </a:t>
            </a:r>
            <a:r>
              <a:rPr lang="da-DK" dirty="0" err="1"/>
              <a:t>fuscus</a:t>
            </a:r>
            <a:endParaRPr lang="da-DK" dirty="0"/>
          </a:p>
          <a:p>
            <a:pPr marL="0" indent="0" algn="ctr">
              <a:buNone/>
            </a:pPr>
            <a:endParaRPr lang="da-DK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055E5406-440F-4535-8C59-042C2AF5C5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1417638"/>
            <a:ext cx="390144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4910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01ADB7-2147-4896-BB31-CB7C27787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”Dens næb var rødt”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A4EC4E0-B4F3-416C-9FD4-D33A276C8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r>
              <a:rPr lang="da-DK" dirty="0"/>
              <a:t>Strandskade</a:t>
            </a:r>
          </a:p>
          <a:p>
            <a:pPr marL="0" indent="0" algn="ctr">
              <a:buNone/>
            </a:pPr>
            <a:r>
              <a:rPr lang="da-DK" dirty="0" err="1"/>
              <a:t>Haematopus</a:t>
            </a:r>
            <a:r>
              <a:rPr lang="da-DK" dirty="0"/>
              <a:t> </a:t>
            </a:r>
            <a:r>
              <a:rPr lang="da-DK" dirty="0" err="1"/>
              <a:t>ostralegus</a:t>
            </a:r>
            <a:endParaRPr lang="da-DK" dirty="0"/>
          </a:p>
          <a:p>
            <a:pPr marL="0" indent="0" algn="ctr">
              <a:buNone/>
            </a:pPr>
            <a:endParaRPr lang="da-DK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7EC2FF7E-F45F-490A-AB20-E78D02CB2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0" y="1916832"/>
            <a:ext cx="2794000" cy="22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1039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326255-C956-4422-96BA-CDB613335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En AI metode eller to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874F15B-11A1-45A6-912A-011BBBD6A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da-DK" dirty="0"/>
              <a:t>En af </a:t>
            </a:r>
            <a:r>
              <a:rPr lang="da-DK" dirty="0" err="1"/>
              <a:t>AI’s</a:t>
            </a:r>
            <a:r>
              <a:rPr lang="da-DK" dirty="0"/>
              <a:t> mest prominente (GOFAI) metoder opererer efter devisen ”</a:t>
            </a:r>
            <a:r>
              <a:rPr lang="da-DK" i="1" dirty="0"/>
              <a:t>hvis den ligner en and og går som en and, så er det sgu’ nok en and.”</a:t>
            </a:r>
          </a:p>
          <a:p>
            <a:pPr marL="0" indent="0">
              <a:buNone/>
            </a:pPr>
            <a:endParaRPr lang="da-DK" i="1" dirty="0"/>
          </a:p>
          <a:p>
            <a:pPr marL="0" indent="0">
              <a:buNone/>
            </a:pPr>
            <a:r>
              <a:rPr lang="da-DK" dirty="0"/>
              <a:t>I dette tilfælde lignede den en måge, men var ikke en måge, så her duede metoden ikke.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Nu om stunder ville en oplagt løsningsmodel være billedgenkendelse; men det er vigtigt at huske på, at der i ingen af tilfældene</a:t>
            </a:r>
            <a:r>
              <a:rPr lang="da-DK" i="1" dirty="0"/>
              <a:t> </a:t>
            </a:r>
            <a:r>
              <a:rPr lang="da-DK" dirty="0"/>
              <a:t>er tale om </a:t>
            </a:r>
            <a:r>
              <a:rPr lang="da-DK" i="1" dirty="0"/>
              <a:t>sikre </a:t>
            </a:r>
            <a:r>
              <a:rPr lang="da-DK" dirty="0"/>
              <a:t>svar, men kun løsningsforslag med en større eller mindre</a:t>
            </a:r>
            <a:r>
              <a:rPr lang="da-DK" i="1" dirty="0"/>
              <a:t> sandsynlighed.</a:t>
            </a: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43010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DDD74B-23C0-8057-E979-F7DB3D7A8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Relevant litteratur (2023)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05018574-3F42-17AD-0B18-8DAD6C7C6C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2196306"/>
            <a:ext cx="5715000" cy="3333750"/>
          </a:xfrm>
        </p:spPr>
      </p:pic>
    </p:spTree>
    <p:extLst>
      <p:ext uri="{BB962C8B-B14F-4D97-AF65-F5344CB8AC3E}">
        <p14:creationId xmlns:p14="http://schemas.microsoft.com/office/powerpoint/2010/main" val="17758606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713180-5336-64D2-3B7E-2AA4368E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Relevant litteratur (2018)</a:t>
            </a:r>
          </a:p>
        </p:txBody>
      </p:sp>
      <p:pic>
        <p:nvPicPr>
          <p:cNvPr id="5" name="Pladsholder til indhold 4" descr="Et billede, der indeholder kort&#10;&#10;Automatisk genereret beskrivelse">
            <a:extLst>
              <a:ext uri="{FF2B5EF4-FFF2-40B4-BE49-F238E27FC236}">
                <a16:creationId xmlns:a16="http://schemas.microsoft.com/office/drawing/2014/main" id="{83F16A97-7C5D-50EC-4AE9-C9BFF5CE96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0" y="1753394"/>
            <a:ext cx="2857500" cy="4219575"/>
          </a:xfrm>
        </p:spPr>
      </p:pic>
    </p:spTree>
    <p:extLst>
      <p:ext uri="{BB962C8B-B14F-4D97-AF65-F5344CB8AC3E}">
        <p14:creationId xmlns:p14="http://schemas.microsoft.com/office/powerpoint/2010/main" val="618050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1367A5-3A1F-5CEF-0D29-47CA1B869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Dagens citat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47DF2D5-3386-D607-E1E6-7689A6091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”</a:t>
            </a:r>
            <a:r>
              <a:rPr lang="da-DK" dirty="0" err="1"/>
              <a:t>We</a:t>
            </a:r>
            <a:r>
              <a:rPr lang="da-DK" dirty="0"/>
              <a:t> have a small, elite </a:t>
            </a:r>
            <a:r>
              <a:rPr lang="da-DK" dirty="0" err="1"/>
              <a:t>group</a:t>
            </a:r>
            <a:r>
              <a:rPr lang="da-DK" dirty="0"/>
              <a:t> of men </a:t>
            </a:r>
            <a:r>
              <a:rPr lang="da-DK" dirty="0" err="1"/>
              <a:t>who</a:t>
            </a:r>
            <a:r>
              <a:rPr lang="da-DK" dirty="0"/>
              <a:t> </a:t>
            </a:r>
            <a:r>
              <a:rPr lang="da-DK" dirty="0" err="1"/>
              <a:t>tend</a:t>
            </a:r>
            <a:r>
              <a:rPr lang="da-DK" dirty="0"/>
              <a:t> to </a:t>
            </a:r>
            <a:r>
              <a:rPr lang="da-DK" dirty="0" err="1"/>
              <a:t>overestimate</a:t>
            </a:r>
            <a:r>
              <a:rPr lang="da-DK" dirty="0"/>
              <a:t> </a:t>
            </a:r>
            <a:r>
              <a:rPr lang="da-DK" dirty="0" err="1"/>
              <a:t>their</a:t>
            </a:r>
            <a:r>
              <a:rPr lang="da-DK" dirty="0"/>
              <a:t> </a:t>
            </a:r>
            <a:r>
              <a:rPr lang="da-DK" dirty="0" err="1"/>
              <a:t>mathematical</a:t>
            </a:r>
            <a:r>
              <a:rPr lang="da-DK" dirty="0"/>
              <a:t> </a:t>
            </a:r>
            <a:r>
              <a:rPr lang="da-DK" dirty="0" err="1"/>
              <a:t>abilities</a:t>
            </a:r>
            <a:r>
              <a:rPr lang="da-DK" dirty="0"/>
              <a:t>, </a:t>
            </a:r>
            <a:r>
              <a:rPr lang="da-DK" dirty="0" err="1"/>
              <a:t>who</a:t>
            </a:r>
            <a:r>
              <a:rPr lang="da-DK" dirty="0"/>
              <a:t> have </a:t>
            </a:r>
            <a:r>
              <a:rPr lang="da-DK" dirty="0" err="1"/>
              <a:t>systematically</a:t>
            </a:r>
            <a:r>
              <a:rPr lang="da-DK" dirty="0"/>
              <a:t> </a:t>
            </a:r>
            <a:r>
              <a:rPr lang="da-DK" dirty="0" err="1"/>
              <a:t>excluded</a:t>
            </a:r>
            <a:r>
              <a:rPr lang="da-DK" dirty="0"/>
              <a:t> </a:t>
            </a:r>
            <a:r>
              <a:rPr lang="da-DK" dirty="0" err="1"/>
              <a:t>women</a:t>
            </a:r>
            <a:r>
              <a:rPr lang="da-DK" dirty="0"/>
              <a:t> and </a:t>
            </a:r>
            <a:r>
              <a:rPr lang="da-DK" dirty="0" err="1"/>
              <a:t>people</a:t>
            </a:r>
            <a:r>
              <a:rPr lang="da-DK" dirty="0"/>
              <a:t> of </a:t>
            </a:r>
            <a:r>
              <a:rPr lang="da-DK" dirty="0" err="1"/>
              <a:t>color</a:t>
            </a:r>
            <a:r>
              <a:rPr lang="da-DK" dirty="0"/>
              <a:t> in </a:t>
            </a:r>
            <a:r>
              <a:rPr lang="da-DK" dirty="0" err="1"/>
              <a:t>favor</a:t>
            </a:r>
            <a:r>
              <a:rPr lang="da-DK" dirty="0"/>
              <a:t> of </a:t>
            </a:r>
            <a:r>
              <a:rPr lang="da-DK" dirty="0" err="1"/>
              <a:t>machines</a:t>
            </a:r>
            <a:r>
              <a:rPr lang="da-DK" dirty="0"/>
              <a:t> for </a:t>
            </a:r>
            <a:r>
              <a:rPr lang="da-DK" dirty="0" err="1"/>
              <a:t>centuries</a:t>
            </a:r>
            <a:r>
              <a:rPr lang="da-DK" dirty="0"/>
              <a:t>, </a:t>
            </a:r>
            <a:r>
              <a:rPr lang="da-DK" dirty="0" err="1"/>
              <a:t>who</a:t>
            </a:r>
            <a:r>
              <a:rPr lang="da-DK" dirty="0"/>
              <a:t> </a:t>
            </a:r>
            <a:r>
              <a:rPr lang="da-DK" dirty="0" err="1"/>
              <a:t>tend</a:t>
            </a:r>
            <a:r>
              <a:rPr lang="da-DK" dirty="0"/>
              <a:t> to </a:t>
            </a:r>
            <a:r>
              <a:rPr lang="da-DK" dirty="0" err="1"/>
              <a:t>want</a:t>
            </a:r>
            <a:r>
              <a:rPr lang="da-DK" dirty="0"/>
              <a:t> to </a:t>
            </a:r>
            <a:r>
              <a:rPr lang="da-DK" dirty="0" err="1"/>
              <a:t>make</a:t>
            </a:r>
            <a:r>
              <a:rPr lang="da-DK" dirty="0"/>
              <a:t> science fiction real, </a:t>
            </a:r>
            <a:r>
              <a:rPr lang="da-DK" dirty="0" err="1"/>
              <a:t>who</a:t>
            </a:r>
            <a:r>
              <a:rPr lang="da-DK" dirty="0"/>
              <a:t> have </a:t>
            </a:r>
            <a:r>
              <a:rPr lang="da-DK" dirty="0" err="1"/>
              <a:t>little</a:t>
            </a:r>
            <a:r>
              <a:rPr lang="da-DK" dirty="0"/>
              <a:t> </a:t>
            </a:r>
            <a:r>
              <a:rPr lang="da-DK" dirty="0" err="1"/>
              <a:t>regard</a:t>
            </a:r>
            <a:r>
              <a:rPr lang="da-DK" dirty="0"/>
              <a:t> of social </a:t>
            </a:r>
            <a:r>
              <a:rPr lang="da-DK" dirty="0" err="1"/>
              <a:t>convention</a:t>
            </a:r>
            <a:r>
              <a:rPr lang="da-DK" dirty="0"/>
              <a:t>, </a:t>
            </a:r>
            <a:r>
              <a:rPr lang="da-DK" dirty="0" err="1"/>
              <a:t>who</a:t>
            </a:r>
            <a:r>
              <a:rPr lang="da-DK" dirty="0"/>
              <a:t> </a:t>
            </a:r>
            <a:r>
              <a:rPr lang="da-DK" dirty="0" err="1"/>
              <a:t>don’t</a:t>
            </a:r>
            <a:r>
              <a:rPr lang="da-DK" dirty="0"/>
              <a:t> </a:t>
            </a:r>
            <a:r>
              <a:rPr lang="da-DK" dirty="0" err="1"/>
              <a:t>believe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social norms or </a:t>
            </a:r>
            <a:r>
              <a:rPr lang="da-DK" dirty="0" err="1"/>
              <a:t>rules</a:t>
            </a:r>
            <a:r>
              <a:rPr lang="da-DK" dirty="0"/>
              <a:t> </a:t>
            </a:r>
            <a:r>
              <a:rPr lang="da-DK" dirty="0" err="1"/>
              <a:t>apply</a:t>
            </a:r>
            <a:r>
              <a:rPr lang="da-DK" dirty="0"/>
              <a:t> to </a:t>
            </a:r>
            <a:r>
              <a:rPr lang="da-DK" dirty="0" err="1"/>
              <a:t>them</a:t>
            </a:r>
            <a:r>
              <a:rPr lang="da-DK" dirty="0"/>
              <a:t>, </a:t>
            </a:r>
            <a:r>
              <a:rPr lang="da-DK" dirty="0" err="1"/>
              <a:t>who</a:t>
            </a:r>
            <a:r>
              <a:rPr lang="da-DK" dirty="0"/>
              <a:t> have </a:t>
            </a:r>
            <a:r>
              <a:rPr lang="da-DK" dirty="0" err="1"/>
              <a:t>unused</a:t>
            </a:r>
            <a:r>
              <a:rPr lang="da-DK" dirty="0"/>
              <a:t> piles of </a:t>
            </a:r>
            <a:r>
              <a:rPr lang="da-DK" dirty="0" err="1"/>
              <a:t>money</a:t>
            </a:r>
            <a:r>
              <a:rPr lang="da-DK" dirty="0"/>
              <a:t> </a:t>
            </a:r>
            <a:r>
              <a:rPr lang="da-DK" dirty="0" err="1"/>
              <a:t>sitting</a:t>
            </a:r>
            <a:r>
              <a:rPr lang="da-DK" dirty="0"/>
              <a:t> </a:t>
            </a:r>
            <a:r>
              <a:rPr lang="da-DK" dirty="0" err="1"/>
              <a:t>around</a:t>
            </a:r>
            <a:r>
              <a:rPr lang="da-DK" dirty="0"/>
              <a:t>, and </a:t>
            </a:r>
            <a:r>
              <a:rPr lang="da-DK" dirty="0" err="1"/>
              <a:t>who</a:t>
            </a:r>
            <a:r>
              <a:rPr lang="da-DK" dirty="0"/>
              <a:t> have </a:t>
            </a:r>
            <a:r>
              <a:rPr lang="da-DK" dirty="0" err="1"/>
              <a:t>adopted</a:t>
            </a:r>
            <a:r>
              <a:rPr lang="da-DK" dirty="0"/>
              <a:t> the </a:t>
            </a:r>
            <a:r>
              <a:rPr lang="da-DK" dirty="0" err="1"/>
              <a:t>ideological</a:t>
            </a:r>
            <a:r>
              <a:rPr lang="da-DK" dirty="0"/>
              <a:t> </a:t>
            </a:r>
            <a:r>
              <a:rPr lang="da-DK" dirty="0" err="1"/>
              <a:t>rhetoric</a:t>
            </a:r>
            <a:r>
              <a:rPr lang="da-DK" dirty="0"/>
              <a:t> of far-right </a:t>
            </a:r>
            <a:r>
              <a:rPr lang="da-DK" dirty="0" err="1"/>
              <a:t>libertarian</a:t>
            </a:r>
            <a:r>
              <a:rPr lang="da-DK" dirty="0"/>
              <a:t> </a:t>
            </a:r>
            <a:r>
              <a:rPr lang="da-DK" dirty="0" err="1"/>
              <a:t>anarcho-capitalists</a:t>
            </a:r>
            <a:r>
              <a:rPr lang="da-DK" dirty="0"/>
              <a:t>.”</a:t>
            </a:r>
          </a:p>
          <a:p>
            <a:pPr marL="0" indent="0" algn="r">
              <a:buNone/>
            </a:pPr>
            <a:r>
              <a:rPr lang="da-DK" sz="2000" dirty="0"/>
              <a:t>Meredith </a:t>
            </a:r>
            <a:r>
              <a:rPr lang="da-DK" sz="2000" dirty="0" err="1"/>
              <a:t>Broussard</a:t>
            </a:r>
            <a:endParaRPr lang="da-DK" sz="2000" dirty="0"/>
          </a:p>
          <a:p>
            <a:pPr marL="0" indent="0" algn="r">
              <a:buNone/>
            </a:pPr>
            <a:r>
              <a:rPr lang="da-DK" sz="2000" i="1" dirty="0" err="1"/>
              <a:t>Artificial</a:t>
            </a:r>
            <a:r>
              <a:rPr lang="da-DK" sz="2000" i="1" dirty="0"/>
              <a:t> </a:t>
            </a:r>
            <a:r>
              <a:rPr lang="da-DK" sz="2000" i="1" dirty="0" err="1"/>
              <a:t>Unintelligence</a:t>
            </a:r>
            <a:endParaRPr lang="da-DK" sz="2000" i="1" dirty="0"/>
          </a:p>
          <a:p>
            <a:pPr marL="0" indent="0" algn="r">
              <a:buNone/>
            </a:pPr>
            <a:r>
              <a:rPr lang="da-DK" sz="2000" i="1" dirty="0"/>
              <a:t>How Computers Misunderstand the World</a:t>
            </a:r>
          </a:p>
          <a:p>
            <a:pPr marL="0" indent="0" algn="r">
              <a:buNone/>
            </a:pPr>
            <a:r>
              <a:rPr lang="da-DK" sz="2000" i="1" dirty="0"/>
              <a:t>MIT Press, 2018, p. 85</a:t>
            </a:r>
            <a:r>
              <a:rPr lang="da-DK" sz="2000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707695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5B7BB7-6A35-F082-07A1-2E6C16BCA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Øvelser - primære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A9A0532-A53A-9B83-ACF6-AF114B1E4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Write a recursive method with the following signature: </a:t>
            </a:r>
            <a:r>
              <a:rPr lang="en-US" dirty="0">
                <a:latin typeface="Courier"/>
              </a:rPr>
              <a:t>int </a:t>
            </a:r>
            <a:r>
              <a:rPr lang="en-US" dirty="0" err="1">
                <a:latin typeface="Courier"/>
              </a:rPr>
              <a:t>logTwo</a:t>
            </a:r>
            <a:r>
              <a:rPr lang="en-US" dirty="0">
                <a:latin typeface="Courier"/>
              </a:rPr>
              <a:t>(int N) </a:t>
            </a:r>
            <a:r>
              <a:rPr lang="en-US" dirty="0"/>
              <a:t>The algorithm returns the base 2 algorithm of N, and it is a precondition that N is a positive integer and a power of 2. Called with N = 32 it returns 5, and with N = 4096 it returns 12.</a:t>
            </a:r>
          </a:p>
          <a:p>
            <a:r>
              <a:rPr lang="en-US" dirty="0"/>
              <a:t>Write a recursive method that takes a string and a char as parameters and returns the number of times the char occurs in the string. Called with “banana” the method returns 3. 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33135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Øvelser - primære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251520" y="1600200"/>
            <a:ext cx="8712968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a-DK" dirty="0"/>
              <a:t>Løs følgende opgaver med </a:t>
            </a:r>
            <a:r>
              <a:rPr lang="da-DK" dirty="0" err="1"/>
              <a:t>rekursion</a:t>
            </a:r>
            <a:r>
              <a:rPr lang="da-DK" dirty="0"/>
              <a:t>:</a:t>
            </a:r>
          </a:p>
          <a:p>
            <a:pPr marL="40005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sum(int n);  	 //returns the sum of the first 				 	 //n odd natural numbers</a:t>
            </a:r>
            <a:endParaRPr lang="da-DK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evenSquares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(int n);//returns the sum of the first n</a:t>
            </a:r>
          </a:p>
          <a:p>
            <a:pPr marL="40005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	    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//even numbers’ squares </a:t>
            </a:r>
          </a:p>
          <a:p>
            <a:pPr marL="40005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</a:p>
          <a:p>
            <a:pPr marL="400050" lvl="1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fib(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n);	 //returns the nth Fibonacci number </a:t>
            </a:r>
          </a:p>
          <a:p>
            <a:pPr marL="400050" lvl="1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bool linear(string s, char c,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l);</a:t>
            </a:r>
          </a:p>
          <a:p>
            <a:pPr marL="40005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//returns true if string s with the length l contains</a:t>
            </a:r>
          </a:p>
          <a:p>
            <a:pPr marL="40005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//char c, otherwise false.</a:t>
            </a:r>
          </a:p>
          <a:p>
            <a:pPr marL="400050" lvl="1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bool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binarySearch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(int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[], int value)</a:t>
            </a:r>
          </a:p>
          <a:p>
            <a:pPr marL="40005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//returns true if value is in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otherwise false</a:t>
            </a:r>
          </a:p>
          <a:p>
            <a:pPr marL="40005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//the elements in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are sorted  </a:t>
            </a:r>
          </a:p>
          <a:p>
            <a:pPr marL="400050" lvl="1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endParaRPr lang="da-DK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827540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Øvelser - sekundære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28800"/>
                <a:ext cx="8229600" cy="4824536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da-DK" dirty="0"/>
                  <a:t>Induktionsbeviser:</a:t>
                </a:r>
              </a:p>
              <a:p>
                <a:pPr marL="914400" lvl="1" indent="-514350">
                  <a:buFont typeface="+mj-lt"/>
                  <a:buAutoNum type="arabicPeriod"/>
                </a:pPr>
                <a:r>
                  <a:rPr lang="da-DK" dirty="0">
                    <a:latin typeface="+mj-lt"/>
                  </a:rPr>
                  <a:t>Summen af de første n ulige naturlige tal 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da-DK" i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da-DK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da-DK" dirty="0">
                  <a:latin typeface="+mj-lt"/>
                </a:endParaRPr>
              </a:p>
              <a:p>
                <a:pPr marL="914400" lvl="1" indent="-514350">
                  <a:buFont typeface="+mj-lt"/>
                  <a:buAutoNum type="arabicPeriod"/>
                </a:pPr>
                <a:r>
                  <a:rPr lang="da-DK" dirty="0">
                    <a:latin typeface="+mj-lt"/>
                  </a:rPr>
                  <a:t>Summen af de første n kubiktal er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da-DK" i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da-DK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a-DK" dirty="0">
                    <a:latin typeface="+mj-lt"/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da-DK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da-DK" b="0" i="0" smtClean="0">
                                <a:latin typeface="Cambria Math" panose="02040503050406030204" pitchFamily="18" charset="0"/>
                              </a:rPr>
                              <m:t>+1)</m:t>
                            </m:r>
                          </m:e>
                          <m:sup>
                            <m:r>
                              <a:rPr lang="da-DK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da-DK" b="0" dirty="0">
                  <a:latin typeface="+mj-lt"/>
                </a:endParaRPr>
              </a:p>
              <a:p>
                <a:pPr marL="91440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da-DK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da-DK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da-DK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da-DK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da-DK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a-DK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(2</m:t>
                            </m:r>
                            <m:r>
                              <a:rPr lang="da-DK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da-DK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−1)(2</m:t>
                            </m:r>
                            <m:r>
                              <a:rPr lang="da-DK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da-DK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+1)</m:t>
                            </m:r>
                          </m:den>
                        </m:f>
                      </m:e>
                    </m:nary>
                    <m:r>
                      <a:rPr lang="da-DK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num>
                      <m:den>
                        <m:r>
                          <a:rPr lang="da-DK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da-DK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da-DK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da-DK" dirty="0">
                  <a:latin typeface="+mj-lt"/>
                </a:endParaRPr>
              </a:p>
              <a:p>
                <a:pPr marL="91440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∗4+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∗5 (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≥12;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≥0)</m:t>
                    </m:r>
                  </m:oMath>
                </a14:m>
                <a:endParaRPr lang="da-DK" dirty="0">
                  <a:latin typeface="+mj-lt"/>
                </a:endParaRPr>
              </a:p>
              <a:p>
                <a:pPr marL="91440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da-DK" b="0" i="1" smtClean="0">
                        <a:latin typeface="Cambria Math" panose="02040503050406030204" pitchFamily="18" charset="0"/>
                      </a:rPr>
                      <m:t> −1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dividerbar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a-DK" dirty="0">
                    <a:latin typeface="+mj-lt"/>
                  </a:rPr>
                  <a:t>6 for n &gt; 0</a:t>
                </a:r>
              </a:p>
              <a:p>
                <a:pPr marL="400050" lvl="1" indent="0">
                  <a:buNone/>
                </a:pPr>
                <a:r>
                  <a:rPr lang="da-DK" dirty="0">
                    <a:latin typeface="+mj-lt"/>
                  </a:rPr>
                  <a:t>De to sidste er lidt drilagtige. </a:t>
                </a:r>
                <a:r>
                  <a:rPr lang="da-DK" dirty="0">
                    <a:latin typeface="+mj-lt"/>
                    <a:sym typeface="Wingdings" panose="05000000000000000000" pitchFamily="2" charset="2"/>
                  </a:rPr>
                  <a:t></a:t>
                </a:r>
                <a:endParaRPr lang="da-DK" dirty="0">
                  <a:latin typeface="+mj-lt"/>
                </a:endParaRPr>
              </a:p>
              <a:p>
                <a:pPr marL="914400" lvl="1" indent="-514350">
                  <a:buFont typeface="+mj-lt"/>
                  <a:buAutoNum type="arabicPeriod"/>
                </a:pPr>
                <a:endParaRPr lang="da-DK" dirty="0"/>
              </a:p>
              <a:p>
                <a:pPr marL="914400" lvl="1" indent="-514350">
                  <a:buFont typeface="+mj-lt"/>
                  <a:buAutoNum type="arabicPeriod"/>
                </a:pPr>
                <a:endParaRPr lang="da-DK" dirty="0"/>
              </a:p>
              <a:p>
                <a:pPr marL="514350" indent="-514350">
                  <a:lnSpc>
                    <a:spcPct val="150000"/>
                  </a:lnSpc>
                  <a:buNone/>
                </a:pPr>
                <a:r>
                  <a:rPr lang="da-DK" sz="2400" b="1" dirty="0">
                    <a:latin typeface="Courier" pitchFamily="49" charset="0"/>
                  </a:rPr>
                  <a:t>	</a:t>
                </a:r>
                <a:endParaRPr lang="da-DK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28800"/>
                <a:ext cx="8229600" cy="4824536"/>
              </a:xfrm>
              <a:blipFill>
                <a:blip r:embed="rId3"/>
                <a:stretch>
                  <a:fillRect l="-1704" t="-328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3868098"/>
      </p:ext>
    </p:extLst>
  </p:cSld>
  <p:clrMapOvr>
    <a:masterClrMapping/>
  </p:clrMapOvr>
</p:sld>
</file>

<file path=ppt/theme/theme1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23121</TotalTime>
  <Words>2671</Words>
  <Application>Microsoft Office PowerPoint</Application>
  <PresentationFormat>Skærmshow (4:3)</PresentationFormat>
  <Paragraphs>378</Paragraphs>
  <Slides>51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7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51</vt:i4>
      </vt:variant>
    </vt:vector>
  </HeadingPairs>
  <TitlesOfParts>
    <vt:vector size="59" baseType="lpstr">
      <vt:lpstr>Arial</vt:lpstr>
      <vt:lpstr>Calibri</vt:lpstr>
      <vt:lpstr>Cambria Math</vt:lpstr>
      <vt:lpstr>Courier</vt:lpstr>
      <vt:lpstr>Courier New</vt:lpstr>
      <vt:lpstr>Times New Roman</vt:lpstr>
      <vt:lpstr>Wingdings</vt:lpstr>
      <vt:lpstr>Kontortema</vt:lpstr>
      <vt:lpstr>ADA Algoritmer &amp; Datastrukturer</vt:lpstr>
      <vt:lpstr>CV – Ole Dolriis</vt:lpstr>
      <vt:lpstr>Instruktorer</vt:lpstr>
      <vt:lpstr>Uddannelser</vt:lpstr>
      <vt:lpstr>Fra kursusbeskrivelsen</vt:lpstr>
      <vt:lpstr>Praktisk</vt:lpstr>
      <vt:lpstr>Forudsætninger</vt:lpstr>
      <vt:lpstr>Spørgsmål</vt:lpstr>
      <vt:lpstr>Råd</vt:lpstr>
      <vt:lpstr>Lærebøger</vt:lpstr>
      <vt:lpstr>Om lærebøgerne</vt:lpstr>
      <vt:lpstr>Mere om lærebøgerne</vt:lpstr>
      <vt:lpstr>Giv lærebogen en chance …..</vt:lpstr>
      <vt:lpstr>Foreløbig pensumliste  </vt:lpstr>
      <vt:lpstr>Schedule</vt:lpstr>
      <vt:lpstr>Citat</vt:lpstr>
      <vt:lpstr>Udviklingsværktøjer (IDE)</vt:lpstr>
      <vt:lpstr>Om programmering</vt:lpstr>
      <vt:lpstr>Hvad er en algoritme?</vt:lpstr>
      <vt:lpstr>Semantisk overvejelse</vt:lpstr>
      <vt:lpstr>Et typisk problem, som kan løses af en algoritme</vt:lpstr>
      <vt:lpstr>Hvad er en datastruktur?</vt:lpstr>
      <vt:lpstr>Data struktur - graph</vt:lpstr>
      <vt:lpstr>Et graf-problem  Broerne i Königsberg</vt:lpstr>
      <vt:lpstr>CharGPT og andre LLMs</vt:lpstr>
      <vt:lpstr>Hvad så med ChatGPT?</vt:lpstr>
      <vt:lpstr>Matematikken</vt:lpstr>
      <vt:lpstr>Induktionsbeviser</vt:lpstr>
      <vt:lpstr>Hvorfor totals-logaritmer?</vt:lpstr>
      <vt:lpstr>Rekursion – en metode der kalder sig selv</vt:lpstr>
      <vt:lpstr>Mere rekursion</vt:lpstr>
      <vt:lpstr>Fordele ved anvendelse af rekursion</vt:lpstr>
      <vt:lpstr>Endnu et eksempel på rekursion</vt:lpstr>
      <vt:lpstr>Verifikation</vt:lpstr>
      <vt:lpstr>N angiver antallet af elementer  </vt:lpstr>
      <vt:lpstr>Tommelfingerregler</vt:lpstr>
      <vt:lpstr>Forskellige tilfælde</vt:lpstr>
      <vt:lpstr>Det næste skridt</vt:lpstr>
      <vt:lpstr>Hvad kendetegner AI?</vt:lpstr>
      <vt:lpstr>Et old school eksempel: ekspertsystemer</vt:lpstr>
      <vt:lpstr>”Den var på størrelse med en måge og lignede en måge.”</vt:lpstr>
      <vt:lpstr>”Dens hoved var sort”</vt:lpstr>
      <vt:lpstr>”Dens ryg var sort”</vt:lpstr>
      <vt:lpstr>”Dens næb var rødt”</vt:lpstr>
      <vt:lpstr>En AI metode eller to</vt:lpstr>
      <vt:lpstr>Relevant litteratur (2023)</vt:lpstr>
      <vt:lpstr>Relevant litteratur (2018)</vt:lpstr>
      <vt:lpstr>Dagens citat</vt:lpstr>
      <vt:lpstr>Øvelser - primære</vt:lpstr>
      <vt:lpstr>Øvelser - primære</vt:lpstr>
      <vt:lpstr>Øvelser - sekundære</vt:lpstr>
    </vt:vector>
  </TitlesOfParts>
  <Company>Syddansk Unversitet - University of Southern Denmark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ADA, VPR</dc:title>
  <dc:creator>Ole Dolriis</dc:creator>
  <cp:lastModifiedBy>Ole Dolriis</cp:lastModifiedBy>
  <cp:revision>298</cp:revision>
  <dcterms:created xsi:type="dcterms:W3CDTF">2011-08-08T09:41:33Z</dcterms:created>
  <dcterms:modified xsi:type="dcterms:W3CDTF">2025-09-05T07:18:02Z</dcterms:modified>
</cp:coreProperties>
</file>