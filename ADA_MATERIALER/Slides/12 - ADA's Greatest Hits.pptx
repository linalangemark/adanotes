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3" r:id="rId6"/>
    <p:sldId id="275" r:id="rId7"/>
    <p:sldId id="265" r:id="rId8"/>
    <p:sldId id="278" r:id="rId9"/>
    <p:sldId id="280" r:id="rId10"/>
    <p:sldId id="257" r:id="rId11"/>
    <p:sldId id="282" r:id="rId12"/>
    <p:sldId id="283" r:id="rId13"/>
    <p:sldId id="284" r:id="rId14"/>
    <p:sldId id="277" r:id="rId15"/>
    <p:sldId id="285" r:id="rId16"/>
    <p:sldId id="279" r:id="rId17"/>
    <p:sldId id="286" r:id="rId18"/>
    <p:sldId id="287" r:id="rId19"/>
    <p:sldId id="288" r:id="rId20"/>
    <p:sldId id="270" r:id="rId21"/>
    <p:sldId id="296" r:id="rId22"/>
    <p:sldId id="297" r:id="rId23"/>
    <p:sldId id="258" r:id="rId24"/>
    <p:sldId id="298" r:id="rId25"/>
    <p:sldId id="299" r:id="rId26"/>
    <p:sldId id="262" r:id="rId27"/>
    <p:sldId id="281" r:id="rId28"/>
    <p:sldId id="300" r:id="rId29"/>
    <p:sldId id="312" r:id="rId30"/>
    <p:sldId id="268" r:id="rId31"/>
    <p:sldId id="292" r:id="rId32"/>
    <p:sldId id="294" r:id="rId33"/>
    <p:sldId id="313" r:id="rId34"/>
    <p:sldId id="314" r:id="rId35"/>
    <p:sldId id="315" r:id="rId36"/>
    <p:sldId id="316" r:id="rId37"/>
    <p:sldId id="317" r:id="rId38"/>
    <p:sldId id="306" r:id="rId39"/>
    <p:sldId id="305" r:id="rId40"/>
    <p:sldId id="318" r:id="rId41"/>
    <p:sldId id="276" r:id="rId42"/>
    <p:sldId id="320" r:id="rId43"/>
    <p:sldId id="321" r:id="rId44"/>
    <p:sldId id="322" r:id="rId45"/>
    <p:sldId id="289" r:id="rId46"/>
    <p:sldId id="290" r:id="rId47"/>
    <p:sldId id="291" r:id="rId48"/>
    <p:sldId id="323" r:id="rId49"/>
    <p:sldId id="332" r:id="rId50"/>
    <p:sldId id="333" r:id="rId51"/>
    <p:sldId id="307" r:id="rId52"/>
    <p:sldId id="308" r:id="rId53"/>
    <p:sldId id="334" r:id="rId5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D9CC5C-C6CB-450C-A359-89D519CA0D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7A013F03-9026-454C-B766-C4BA7D096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/>
              <a:t>Klik for at redigere undertiteltypografien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8BA08322-9D7C-487A-B508-924197AAE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C67440EB-3766-451A-B9CF-1178C60E7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E80D9CD9-320B-4148-972D-B63B8F4E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4630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47D73C-DE97-4997-876E-01C84DBF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1297C0D-3A9F-4F7B-981F-64A0BDAF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857C28B-DC27-4C68-99E7-C23D246D5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166DAD7-6B2C-45B6-98BF-87B769E3D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D9142A7-931B-45B1-988E-BCE7D7AF6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25182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6564D9-22A1-4874-BE57-B7A7BD62F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E2E806F1-201D-42F2-B37C-58925B28C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3AAC54A-143A-41CF-B96E-23226A37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15D4369-58CA-4072-8449-C66DD0FFE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F2F702E-FEE0-4C11-9F03-BF924F4F8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8553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31C4ED-9C34-4EF9-8190-C8AEC4224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EEBBF28-C8E0-4B26-934D-9047180D3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604F23F6-06C2-476B-BC3B-0E9E5E8A45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9C092EA2-5ED3-4073-A55B-D68E064B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2F0C3FDF-10EF-4D92-811A-49CAAA21F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5B165A4-874A-40E8-A8A2-1CB890A4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607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E338B-EF9E-46E6-9F44-0198BEA62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433764F7-96BB-4F67-B26A-61D0AB8DB9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5ABAD19C-4D5A-48D9-BE46-997EF1423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5" name="Pladsholder til tekst 4">
            <a:extLst>
              <a:ext uri="{FF2B5EF4-FFF2-40B4-BE49-F238E27FC236}">
                <a16:creationId xmlns:a16="http://schemas.microsoft.com/office/drawing/2014/main" id="{ECF020FF-FD14-4CBF-B21A-EFD4E24938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Pladsholder til indhold 5">
            <a:extLst>
              <a:ext uri="{FF2B5EF4-FFF2-40B4-BE49-F238E27FC236}">
                <a16:creationId xmlns:a16="http://schemas.microsoft.com/office/drawing/2014/main" id="{75F06D06-55EE-4CC7-9809-B003488CCC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7" name="Pladsholder til dato 6">
            <a:extLst>
              <a:ext uri="{FF2B5EF4-FFF2-40B4-BE49-F238E27FC236}">
                <a16:creationId xmlns:a16="http://schemas.microsoft.com/office/drawing/2014/main" id="{BC3FE486-726B-4A5D-A3BC-28071C173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8" name="Pladsholder til sidefod 7">
            <a:extLst>
              <a:ext uri="{FF2B5EF4-FFF2-40B4-BE49-F238E27FC236}">
                <a16:creationId xmlns:a16="http://schemas.microsoft.com/office/drawing/2014/main" id="{E8DE3644-A7D2-47CD-8E90-88C8EA49E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Pladsholder til slidenummer 8">
            <a:extLst>
              <a:ext uri="{FF2B5EF4-FFF2-40B4-BE49-F238E27FC236}">
                <a16:creationId xmlns:a16="http://schemas.microsoft.com/office/drawing/2014/main" id="{89B2A582-FE34-4003-8B56-38D7DCE3E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61737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4450FC-6080-404F-9FC5-D60FF9D5D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dato 2">
            <a:extLst>
              <a:ext uri="{FF2B5EF4-FFF2-40B4-BE49-F238E27FC236}">
                <a16:creationId xmlns:a16="http://schemas.microsoft.com/office/drawing/2014/main" id="{82CB21B8-B129-4767-BE9A-68410BA5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4" name="Pladsholder til sidefod 3">
            <a:extLst>
              <a:ext uri="{FF2B5EF4-FFF2-40B4-BE49-F238E27FC236}">
                <a16:creationId xmlns:a16="http://schemas.microsoft.com/office/drawing/2014/main" id="{1933C214-6166-4D9B-81CB-3B241E41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EB150337-0AA4-4660-AC8A-679F06B5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43012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ato 1">
            <a:extLst>
              <a:ext uri="{FF2B5EF4-FFF2-40B4-BE49-F238E27FC236}">
                <a16:creationId xmlns:a16="http://schemas.microsoft.com/office/drawing/2014/main" id="{10E31BD6-89AD-4126-90D3-5BCD265B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3" name="Pladsholder til sidefod 2">
            <a:extLst>
              <a:ext uri="{FF2B5EF4-FFF2-40B4-BE49-F238E27FC236}">
                <a16:creationId xmlns:a16="http://schemas.microsoft.com/office/drawing/2014/main" id="{82CA5CDC-14BE-4A28-AE94-380FA311E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43068CF3-57D6-494C-A38F-47546A9E0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7844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ED8C0B-C732-4430-9502-320757D7C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4C06433C-81BC-4D22-875C-45A3D09A0F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7C95309B-B545-4D8F-994B-06D2133C6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48B8ADE9-B9E6-4F97-B356-6B9ECAAF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7E49F078-2C8F-4AD0-95E7-F10E30E96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D96CC255-031C-4A52-B830-F30FD5549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4060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578A80-99EC-4C3A-82CC-92F0A6B62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billede 2">
            <a:extLst>
              <a:ext uri="{FF2B5EF4-FFF2-40B4-BE49-F238E27FC236}">
                <a16:creationId xmlns:a16="http://schemas.microsoft.com/office/drawing/2014/main" id="{ED21CDEF-F781-40E2-92E1-7DD1D7ECB0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Pladsholder til tekst 3">
            <a:extLst>
              <a:ext uri="{FF2B5EF4-FFF2-40B4-BE49-F238E27FC236}">
                <a16:creationId xmlns:a16="http://schemas.microsoft.com/office/drawing/2014/main" id="{568B3E13-9F86-4291-A152-34FB79B43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Pladsholder til dato 4">
            <a:extLst>
              <a:ext uri="{FF2B5EF4-FFF2-40B4-BE49-F238E27FC236}">
                <a16:creationId xmlns:a16="http://schemas.microsoft.com/office/drawing/2014/main" id="{0E69A9FD-7611-4ADC-A9F9-9BE4E5506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6" name="Pladsholder til sidefod 5">
            <a:extLst>
              <a:ext uri="{FF2B5EF4-FFF2-40B4-BE49-F238E27FC236}">
                <a16:creationId xmlns:a16="http://schemas.microsoft.com/office/drawing/2014/main" id="{06F54799-36B6-4243-B3E6-295D0B034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Pladsholder til slidenummer 6">
            <a:extLst>
              <a:ext uri="{FF2B5EF4-FFF2-40B4-BE49-F238E27FC236}">
                <a16:creationId xmlns:a16="http://schemas.microsoft.com/office/drawing/2014/main" id="{5A73D749-62FD-4C7B-B700-143C4859C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093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5B481-447D-4AF5-9D54-0815FBCF5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1D1732BF-FB8C-427D-89EE-0A0FE3DF0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5CE0EB52-98E3-4AC7-BA9D-EA9F0E5FD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6321B5AE-D692-4E71-84CA-C6537E198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847748F8-9BEF-4F1D-96C8-26A179F7B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175806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et titel 1">
            <a:extLst>
              <a:ext uri="{FF2B5EF4-FFF2-40B4-BE49-F238E27FC236}">
                <a16:creationId xmlns:a16="http://schemas.microsoft.com/office/drawing/2014/main" id="{4FD054B5-7DB5-47F6-A966-88710B72F5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lodret titel 2">
            <a:extLst>
              <a:ext uri="{FF2B5EF4-FFF2-40B4-BE49-F238E27FC236}">
                <a16:creationId xmlns:a16="http://schemas.microsoft.com/office/drawing/2014/main" id="{3BA38A9D-0B96-4F7B-AD9E-CE650606B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B4BA9156-D6D3-4997-9916-0AA41E0A8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F3E0F386-0135-4BF8-886F-9B11B7A0B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048BDDC0-4EF9-4C9D-87B4-1EAAB3170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033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A89AAA03-8D8F-4DF0-AF6F-6DA7AB04C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8D91AE4E-715C-48BD-A547-946B5311D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D05B5AED-AB55-4D1F-A891-BEE4DFCC0D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1B97DD-DEC9-4466-BBD4-0CA5E5694F8F}" type="datetimeFigureOut">
              <a:rPr lang="da-DK" smtClean="0"/>
              <a:t>05-12-2025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438D0451-AC50-486E-AE8C-81E4E120E7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5C5996E5-69DC-4456-8886-9BC5172756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0B2FE-058B-498F-A0CD-616111DF89C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1424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BFFAA-D7BD-4F99-BCA1-76EE79A32A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Algoritmer &amp; Datastrukturer</a:t>
            </a:r>
            <a:br>
              <a:rPr lang="da-DK" dirty="0"/>
            </a:br>
            <a:r>
              <a:rPr lang="da-DK" dirty="0" err="1"/>
              <a:t>Greatest</a:t>
            </a:r>
            <a:r>
              <a:rPr lang="da-DK" dirty="0"/>
              <a:t> Hits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38502252-B1FE-4D54-B9A0-4119E618DEC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5. december 2025</a:t>
            </a:r>
          </a:p>
        </p:txBody>
      </p:sp>
    </p:spTree>
    <p:extLst>
      <p:ext uri="{BB962C8B-B14F-4D97-AF65-F5344CB8AC3E}">
        <p14:creationId xmlns:p14="http://schemas.microsoft.com/office/powerpoint/2010/main" val="224650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Recursion</a:t>
            </a:r>
            <a:r>
              <a:rPr lang="da-DK" dirty="0"/>
              <a:t> – a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calls</a:t>
            </a:r>
            <a:r>
              <a:rPr lang="da-DK" dirty="0"/>
              <a:t> </a:t>
            </a:r>
            <a:r>
              <a:rPr lang="da-DK" dirty="0" err="1"/>
              <a:t>itself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800" dirty="0">
                <a:latin typeface="Courier" pitchFamily="49" charset="0"/>
              </a:rPr>
              <a:t>    public static </a:t>
            </a:r>
            <a:r>
              <a:rPr lang="en-US" sz="1800" dirty="0" err="1">
                <a:latin typeface="Courier" pitchFamily="49" charset="0"/>
              </a:rPr>
              <a:t>int</a:t>
            </a:r>
            <a:r>
              <a:rPr lang="en-US" sz="1800" dirty="0">
                <a:latin typeface="Courier" pitchFamily="49" charset="0"/>
              </a:rPr>
              <a:t> f(</a:t>
            </a:r>
            <a:r>
              <a:rPr lang="en-US" sz="1800" dirty="0" err="1">
                <a:latin typeface="Courier" pitchFamily="49" charset="0"/>
              </a:rPr>
              <a:t>int</a:t>
            </a:r>
            <a:r>
              <a:rPr lang="en-US" sz="1800" dirty="0">
                <a:latin typeface="Courier" pitchFamily="49" charset="0"/>
              </a:rPr>
              <a:t> x)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{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if (x == 0)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    return 0;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else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        return 2*f(x-1) + x*x;</a:t>
            </a:r>
          </a:p>
          <a:p>
            <a:pPr>
              <a:buNone/>
            </a:pPr>
            <a:r>
              <a:rPr lang="en-US" sz="1800" dirty="0">
                <a:latin typeface="Courier" pitchFamily="49" charset="0"/>
              </a:rPr>
              <a:t>    }</a:t>
            </a:r>
          </a:p>
          <a:p>
            <a:pPr>
              <a:buNone/>
            </a:pPr>
            <a:endParaRPr lang="en-US" sz="1800" dirty="0">
              <a:latin typeface="Courier" pitchFamily="49" charset="0"/>
            </a:endParaRPr>
          </a:p>
          <a:p>
            <a:r>
              <a:rPr lang="da-DK" dirty="0"/>
              <a:t>Base</a:t>
            </a:r>
          </a:p>
          <a:p>
            <a:r>
              <a:rPr lang="da-DK" dirty="0" err="1"/>
              <a:t>Making</a:t>
            </a:r>
            <a:r>
              <a:rPr lang="da-DK" dirty="0"/>
              <a:t> </a:t>
            </a:r>
            <a:r>
              <a:rPr lang="da-DK" dirty="0" err="1"/>
              <a:t>progress</a:t>
            </a:r>
            <a:r>
              <a:rPr lang="da-DK" dirty="0"/>
              <a:t> </a:t>
            </a:r>
            <a:r>
              <a:rPr lang="da-DK" dirty="0" err="1"/>
              <a:t>towards</a:t>
            </a:r>
            <a:r>
              <a:rPr lang="da-DK" dirty="0"/>
              <a:t> base case</a:t>
            </a:r>
          </a:p>
          <a:p>
            <a:r>
              <a:rPr lang="da-DK" dirty="0"/>
              <a:t>The problem is </a:t>
            </a:r>
            <a:r>
              <a:rPr lang="da-DK" dirty="0" err="1"/>
              <a:t>reduced</a:t>
            </a:r>
            <a:r>
              <a:rPr lang="da-DK" dirty="0"/>
              <a:t> on the </a:t>
            </a:r>
            <a:r>
              <a:rPr lang="da-DK" dirty="0" err="1"/>
              <a:t>way</a:t>
            </a:r>
            <a:r>
              <a:rPr lang="da-DK" dirty="0"/>
              <a:t> </a:t>
            </a:r>
            <a:r>
              <a:rPr lang="da-DK" dirty="0" err="1"/>
              <a:t>down</a:t>
            </a:r>
            <a:r>
              <a:rPr lang="da-DK" dirty="0"/>
              <a:t> (</a:t>
            </a:r>
            <a:r>
              <a:rPr lang="da-DK" i="1" dirty="0" err="1"/>
              <a:t>divide</a:t>
            </a:r>
            <a:r>
              <a:rPr lang="da-DK" dirty="0"/>
              <a:t>)</a:t>
            </a:r>
          </a:p>
          <a:p>
            <a:r>
              <a:rPr lang="da-DK" dirty="0"/>
              <a:t>A solution is </a:t>
            </a:r>
            <a:r>
              <a:rPr lang="da-DK" dirty="0" err="1"/>
              <a:t>generated</a:t>
            </a:r>
            <a:r>
              <a:rPr lang="da-DK" dirty="0"/>
              <a:t> on the </a:t>
            </a:r>
            <a:r>
              <a:rPr lang="da-DK" dirty="0" err="1"/>
              <a:t>way</a:t>
            </a:r>
            <a:r>
              <a:rPr lang="da-DK" dirty="0"/>
              <a:t> back up (</a:t>
            </a:r>
            <a:r>
              <a:rPr lang="da-DK" i="1" dirty="0" err="1"/>
              <a:t>conquer</a:t>
            </a:r>
            <a:r>
              <a:rPr lang="da-DK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More </a:t>
            </a:r>
            <a:r>
              <a:rPr lang="da-DK" dirty="0" err="1"/>
              <a:t>recursion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1600201"/>
            <a:ext cx="8507288" cy="452596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	  public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static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void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printOut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n)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if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 (n &gt;= 10)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printOut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(n / 10);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da-DK" sz="1800" dirty="0" err="1">
                <a:latin typeface="Courier New" pitchFamily="49" charset="0"/>
                <a:cs typeface="Courier New" pitchFamily="49" charset="0"/>
              </a:rPr>
              <a:t>System.out.print</a:t>
            </a:r>
            <a:r>
              <a:rPr lang="da-DK" sz="1800" dirty="0">
                <a:latin typeface="Courier New" pitchFamily="49" charset="0"/>
                <a:cs typeface="Courier New" pitchFamily="49" charset="0"/>
              </a:rPr>
              <a:t>(n % 10);</a:t>
            </a:r>
          </a:p>
          <a:p>
            <a:pPr>
              <a:buNone/>
            </a:pPr>
            <a:r>
              <a:rPr lang="da-DK" sz="1800" dirty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buNone/>
            </a:pPr>
            <a:endParaRPr lang="da-DK" sz="1800" dirty="0">
              <a:latin typeface="Courier New" pitchFamily="49" charset="0"/>
              <a:cs typeface="Courier New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Base case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Work </a:t>
            </a:r>
            <a:r>
              <a:rPr lang="da-DK" dirty="0" err="1">
                <a:cs typeface="Courier New" pitchFamily="49" charset="0"/>
              </a:rPr>
              <a:t>towards</a:t>
            </a:r>
            <a:r>
              <a:rPr lang="da-DK" dirty="0">
                <a:cs typeface="Courier New" pitchFamily="49" charset="0"/>
              </a:rPr>
              <a:t> the base case.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>
                <a:cs typeface="Courier New" pitchFamily="49" charset="0"/>
              </a:rPr>
              <a:t>Design </a:t>
            </a:r>
            <a:r>
              <a:rPr lang="da-DK" dirty="0" err="1">
                <a:cs typeface="Courier New" pitchFamily="49" charset="0"/>
              </a:rPr>
              <a:t>rule</a:t>
            </a:r>
            <a:r>
              <a:rPr lang="da-DK" dirty="0">
                <a:cs typeface="Courier New" pitchFamily="49" charset="0"/>
              </a:rPr>
              <a:t>: </a:t>
            </a:r>
            <a:r>
              <a:rPr lang="da-DK" dirty="0" err="1">
                <a:cs typeface="Courier New" pitchFamily="49" charset="0"/>
              </a:rPr>
              <a:t>assume</a:t>
            </a:r>
            <a:r>
              <a:rPr lang="da-DK" dirty="0">
                <a:cs typeface="Courier New" pitchFamily="49" charset="0"/>
              </a:rPr>
              <a:t> </a:t>
            </a:r>
            <a:r>
              <a:rPr lang="da-DK" dirty="0" err="1">
                <a:cs typeface="Courier New" pitchFamily="49" charset="0"/>
              </a:rPr>
              <a:t>that</a:t>
            </a:r>
            <a:r>
              <a:rPr lang="da-DK" dirty="0">
                <a:cs typeface="Courier New" pitchFamily="49" charset="0"/>
              </a:rPr>
              <a:t> the </a:t>
            </a:r>
            <a:r>
              <a:rPr lang="da-DK" dirty="0" err="1">
                <a:cs typeface="Courier New" pitchFamily="49" charset="0"/>
              </a:rPr>
              <a:t>recursive</a:t>
            </a:r>
            <a:r>
              <a:rPr lang="da-DK" dirty="0">
                <a:cs typeface="Courier New" pitchFamily="49" charset="0"/>
              </a:rPr>
              <a:t> step </a:t>
            </a:r>
            <a:r>
              <a:rPr lang="da-DK" dirty="0" err="1">
                <a:cs typeface="Courier New" pitchFamily="49" charset="0"/>
              </a:rPr>
              <a:t>works</a:t>
            </a:r>
            <a:r>
              <a:rPr lang="da-DK" dirty="0">
                <a:cs typeface="Courier New" pitchFamily="49" charset="0"/>
              </a:rPr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da-DK" dirty="0" err="1">
                <a:cs typeface="Courier New" pitchFamily="49" charset="0"/>
              </a:rPr>
              <a:t>Avoid</a:t>
            </a:r>
            <a:r>
              <a:rPr lang="da-DK" dirty="0">
                <a:cs typeface="Courier New" pitchFamily="49" charset="0"/>
              </a:rPr>
              <a:t> </a:t>
            </a:r>
            <a:r>
              <a:rPr lang="da-DK" dirty="0" err="1">
                <a:cs typeface="Courier New" pitchFamily="49" charset="0"/>
              </a:rPr>
              <a:t>solving</a:t>
            </a:r>
            <a:r>
              <a:rPr lang="da-DK" dirty="0">
                <a:cs typeface="Courier New" pitchFamily="49" charset="0"/>
              </a:rPr>
              <a:t> the same </a:t>
            </a:r>
            <a:r>
              <a:rPr lang="da-DK" dirty="0" err="1">
                <a:cs typeface="Courier New" pitchFamily="49" charset="0"/>
              </a:rPr>
              <a:t>instance</a:t>
            </a:r>
            <a:r>
              <a:rPr lang="da-DK" dirty="0">
                <a:cs typeface="Courier New" pitchFamily="49" charset="0"/>
              </a:rPr>
              <a:t> of the problem </a:t>
            </a:r>
            <a:r>
              <a:rPr lang="da-DK" dirty="0" err="1">
                <a:cs typeface="Courier New" pitchFamily="49" charset="0"/>
              </a:rPr>
              <a:t>repeatedly</a:t>
            </a:r>
            <a:r>
              <a:rPr lang="da-DK" dirty="0">
                <a:cs typeface="Courier New" pitchFamily="49" charset="0"/>
              </a:rPr>
              <a:t> (</a:t>
            </a:r>
            <a:r>
              <a:rPr lang="da-DK" dirty="0" err="1">
                <a:cs typeface="Courier New" pitchFamily="49" charset="0"/>
              </a:rPr>
              <a:t>remember</a:t>
            </a:r>
            <a:r>
              <a:rPr lang="da-DK" dirty="0">
                <a:cs typeface="Courier New" pitchFamily="49" charset="0"/>
              </a:rPr>
              <a:t> </a:t>
            </a:r>
            <a:r>
              <a:rPr lang="da-DK" dirty="0" err="1">
                <a:cs typeface="Courier New" pitchFamily="49" charset="0"/>
              </a:rPr>
              <a:t>recursive</a:t>
            </a:r>
            <a:r>
              <a:rPr lang="da-DK" dirty="0">
                <a:cs typeface="Courier New" pitchFamily="49" charset="0"/>
              </a:rPr>
              <a:t> </a:t>
            </a:r>
            <a:r>
              <a:rPr lang="da-DK" dirty="0" err="1">
                <a:cs typeface="Courier New" pitchFamily="49" charset="0"/>
              </a:rPr>
              <a:t>Fibonacci</a:t>
            </a:r>
            <a:r>
              <a:rPr lang="da-DK" dirty="0">
                <a:cs typeface="Courier New" pitchFamily="49" charset="0"/>
              </a:rPr>
              <a:t>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/>
              <a:t>Advantages of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recursion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a-DK" dirty="0"/>
              <a:t>	</a:t>
            </a:r>
            <a:r>
              <a:rPr lang="da-DK" dirty="0" err="1"/>
              <a:t>You</a:t>
            </a:r>
            <a:r>
              <a:rPr lang="da-DK" dirty="0"/>
              <a:t> do not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keep</a:t>
            </a:r>
            <a:r>
              <a:rPr lang="da-DK" dirty="0"/>
              <a:t> </a:t>
            </a:r>
            <a:r>
              <a:rPr lang="da-DK" dirty="0" err="1"/>
              <a:t>track</a:t>
            </a:r>
            <a:r>
              <a:rPr lang="da-DK" dirty="0"/>
              <a:t> of all the </a:t>
            </a:r>
            <a:r>
              <a:rPr lang="da-DK" dirty="0" err="1"/>
              <a:t>recursive</a:t>
            </a:r>
            <a:r>
              <a:rPr lang="da-DK" dirty="0"/>
              <a:t> </a:t>
            </a:r>
            <a:r>
              <a:rPr lang="da-DK" dirty="0" err="1"/>
              <a:t>calls</a:t>
            </a:r>
            <a:r>
              <a:rPr lang="da-DK" dirty="0"/>
              <a:t>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a </a:t>
            </a:r>
            <a:r>
              <a:rPr lang="da-DK" dirty="0" err="1"/>
              <a:t>complicated</a:t>
            </a:r>
            <a:r>
              <a:rPr lang="da-DK" dirty="0"/>
              <a:t> </a:t>
            </a:r>
            <a:r>
              <a:rPr lang="da-DK" dirty="0" err="1"/>
              <a:t>exercise</a:t>
            </a:r>
            <a:r>
              <a:rPr lang="da-DK" dirty="0"/>
              <a:t>.</a:t>
            </a:r>
          </a:p>
          <a:p>
            <a:pPr>
              <a:buNone/>
            </a:pPr>
            <a:r>
              <a:rPr lang="da-DK" dirty="0"/>
              <a:t>	This is </a:t>
            </a:r>
            <a:r>
              <a:rPr lang="da-DK" dirty="0" err="1"/>
              <a:t>being</a:t>
            </a:r>
            <a:r>
              <a:rPr lang="da-DK" dirty="0"/>
              <a:t> </a:t>
            </a:r>
            <a:r>
              <a:rPr lang="da-DK" dirty="0" err="1"/>
              <a:t>handled</a:t>
            </a:r>
            <a:r>
              <a:rPr lang="da-DK" dirty="0"/>
              <a:t> by </a:t>
            </a:r>
            <a:r>
              <a:rPr lang="da-DK" dirty="0" err="1"/>
              <a:t>mechanisms</a:t>
            </a:r>
            <a:r>
              <a:rPr lang="da-DK" dirty="0"/>
              <a:t> in the operating system,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control</a:t>
            </a:r>
            <a:r>
              <a:rPr lang="da-DK" dirty="0"/>
              <a:t> the </a:t>
            </a:r>
            <a:r>
              <a:rPr lang="da-DK" i="1" dirty="0" err="1"/>
              <a:t>nested</a:t>
            </a:r>
            <a:r>
              <a:rPr lang="da-DK" i="1" dirty="0"/>
              <a:t>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calls</a:t>
            </a:r>
            <a:r>
              <a:rPr lang="da-DK" dirty="0"/>
              <a:t> with </a:t>
            </a:r>
            <a:r>
              <a:rPr lang="da-DK" i="1" dirty="0" err="1"/>
              <a:t>activationrecords</a:t>
            </a:r>
            <a:r>
              <a:rPr lang="da-DK" dirty="0"/>
              <a:t> in the </a:t>
            </a:r>
            <a:r>
              <a:rPr lang="da-DK" dirty="0" err="1"/>
              <a:t>runtime-stack</a:t>
            </a:r>
            <a:r>
              <a:rPr lang="da-DK" dirty="0"/>
              <a:t>. </a:t>
            </a:r>
          </a:p>
          <a:p>
            <a:pPr>
              <a:buNone/>
            </a:pPr>
            <a:r>
              <a:rPr lang="da-DK" dirty="0"/>
              <a:t>	</a:t>
            </a:r>
            <a:r>
              <a:rPr lang="da-DK" dirty="0" err="1"/>
              <a:t>Some</a:t>
            </a:r>
            <a:r>
              <a:rPr lang="da-DK" dirty="0"/>
              <a:t> </a:t>
            </a:r>
            <a:r>
              <a:rPr lang="da-DK" dirty="0" err="1"/>
              <a:t>also</a:t>
            </a:r>
            <a:r>
              <a:rPr lang="da-DK" dirty="0"/>
              <a:t> </a:t>
            </a:r>
            <a:r>
              <a:rPr lang="da-DK" dirty="0" err="1"/>
              <a:t>claim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recursive</a:t>
            </a:r>
            <a:r>
              <a:rPr lang="da-DK" dirty="0"/>
              <a:t> </a:t>
            </a:r>
            <a:r>
              <a:rPr lang="da-DK" dirty="0" err="1"/>
              <a:t>methods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easier</a:t>
            </a:r>
            <a:r>
              <a:rPr lang="da-DK" dirty="0"/>
              <a:t> to understand </a:t>
            </a:r>
            <a:r>
              <a:rPr lang="da-DK" dirty="0" err="1"/>
              <a:t>than</a:t>
            </a:r>
            <a:r>
              <a:rPr lang="da-DK" dirty="0"/>
              <a:t> iterative </a:t>
            </a:r>
            <a:r>
              <a:rPr lang="da-DK" dirty="0" err="1"/>
              <a:t>ones</a:t>
            </a:r>
            <a:r>
              <a:rPr lang="da-DK" dirty="0"/>
              <a:t>. </a:t>
            </a:r>
            <a:r>
              <a:rPr lang="da-DK" dirty="0" err="1"/>
              <a:t>Others</a:t>
            </a:r>
            <a:r>
              <a:rPr lang="da-DK" dirty="0"/>
              <a:t> </a:t>
            </a:r>
            <a:r>
              <a:rPr lang="da-DK" dirty="0" err="1"/>
              <a:t>disagree</a:t>
            </a:r>
            <a:r>
              <a:rPr lang="da-DK" dirty="0"/>
              <a:t>. </a:t>
            </a:r>
          </a:p>
          <a:p>
            <a:pPr>
              <a:buNone/>
            </a:pPr>
            <a:endParaRPr lang="da-DK" dirty="0"/>
          </a:p>
          <a:p>
            <a:pPr>
              <a:buNone/>
            </a:pPr>
            <a:endParaRPr lang="da-DK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Verification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da-DK" dirty="0"/>
              <a:t>	</a:t>
            </a:r>
            <a:r>
              <a:rPr lang="da-DK" dirty="0" err="1"/>
              <a:t>Recursive</a:t>
            </a:r>
            <a:r>
              <a:rPr lang="da-DK" dirty="0"/>
              <a:t> </a:t>
            </a:r>
            <a:r>
              <a:rPr lang="da-DK" dirty="0" err="1"/>
              <a:t>algorithms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rare </a:t>
            </a:r>
            <a:r>
              <a:rPr lang="da-DK" dirty="0" err="1"/>
              <a:t>examples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it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proven</a:t>
            </a:r>
            <a:r>
              <a:rPr lang="da-DK" dirty="0"/>
              <a:t> </a:t>
            </a:r>
            <a:r>
              <a:rPr lang="da-DK" dirty="0" err="1"/>
              <a:t>mathematically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a program is </a:t>
            </a:r>
            <a:r>
              <a:rPr lang="da-DK" dirty="0" err="1"/>
              <a:t>flawless</a:t>
            </a:r>
            <a:r>
              <a:rPr lang="da-DK" dirty="0"/>
              <a:t>. This is </a:t>
            </a:r>
            <a:r>
              <a:rPr lang="da-DK" dirty="0" err="1"/>
              <a:t>because</a:t>
            </a:r>
            <a:r>
              <a:rPr lang="da-DK" dirty="0"/>
              <a:t> of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i="1" dirty="0" err="1"/>
              <a:t>inductive</a:t>
            </a:r>
            <a:r>
              <a:rPr lang="da-DK" dirty="0"/>
              <a:t> nature.</a:t>
            </a:r>
          </a:p>
          <a:p>
            <a:pPr>
              <a:buNone/>
            </a:pPr>
            <a:r>
              <a:rPr lang="da-DK" dirty="0"/>
              <a:t>	With </a:t>
            </a:r>
            <a:r>
              <a:rPr lang="da-DK" dirty="0" err="1"/>
              <a:t>larger</a:t>
            </a:r>
            <a:r>
              <a:rPr lang="da-DK" dirty="0"/>
              <a:t> programs </a:t>
            </a:r>
            <a:r>
              <a:rPr lang="da-DK" dirty="0" err="1"/>
              <a:t>comprehensive</a:t>
            </a:r>
            <a:r>
              <a:rPr lang="da-DK" dirty="0"/>
              <a:t> </a:t>
            </a:r>
            <a:r>
              <a:rPr lang="da-DK" dirty="0" err="1"/>
              <a:t>verification</a:t>
            </a:r>
            <a:r>
              <a:rPr lang="da-DK" dirty="0"/>
              <a:t> is </a:t>
            </a:r>
            <a:r>
              <a:rPr lang="da-DK" dirty="0" err="1"/>
              <a:t>practically</a:t>
            </a:r>
            <a:r>
              <a:rPr lang="da-DK" dirty="0"/>
              <a:t> </a:t>
            </a:r>
            <a:r>
              <a:rPr lang="da-DK" dirty="0" err="1"/>
              <a:t>impossible</a:t>
            </a:r>
            <a:r>
              <a:rPr lang="da-DK" dirty="0"/>
              <a:t> in </a:t>
            </a:r>
            <a:r>
              <a:rPr lang="da-DK" dirty="0" err="1"/>
              <a:t>accordance</a:t>
            </a:r>
            <a:r>
              <a:rPr lang="da-DK" dirty="0"/>
              <a:t> with the </a:t>
            </a:r>
            <a:r>
              <a:rPr lang="da-DK" dirty="0" err="1"/>
              <a:t>claim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i="1" dirty="0"/>
              <a:t>a program is </a:t>
            </a:r>
            <a:r>
              <a:rPr lang="da-DK" i="1" dirty="0" err="1"/>
              <a:t>only</a:t>
            </a:r>
            <a:r>
              <a:rPr lang="da-DK" i="1" dirty="0"/>
              <a:t> </a:t>
            </a:r>
            <a:r>
              <a:rPr lang="da-DK" i="1" dirty="0" err="1"/>
              <a:t>flawless</a:t>
            </a:r>
            <a:r>
              <a:rPr lang="da-DK" i="1" dirty="0"/>
              <a:t> </a:t>
            </a:r>
            <a:r>
              <a:rPr lang="da-DK" i="1" dirty="0" err="1"/>
              <a:t>until</a:t>
            </a:r>
            <a:r>
              <a:rPr lang="da-DK" i="1" dirty="0"/>
              <a:t> </a:t>
            </a:r>
            <a:r>
              <a:rPr lang="da-DK" i="1" dirty="0" err="1"/>
              <a:t>you</a:t>
            </a:r>
            <a:r>
              <a:rPr lang="da-DK" i="1" dirty="0"/>
              <a:t> find the </a:t>
            </a:r>
            <a:r>
              <a:rPr lang="da-DK" i="1" dirty="0" err="1"/>
              <a:t>next</a:t>
            </a:r>
            <a:r>
              <a:rPr lang="da-DK" i="1" dirty="0"/>
              <a:t> </a:t>
            </a:r>
            <a:r>
              <a:rPr lang="da-DK" i="1" dirty="0" err="1"/>
              <a:t>error</a:t>
            </a:r>
            <a:r>
              <a:rPr lang="da-DK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03512" y="980728"/>
            <a:ext cx="8856984" cy="864096"/>
          </a:xfrm>
        </p:spPr>
        <p:txBody>
          <a:bodyPr>
            <a:normAutofit fontScale="90000"/>
          </a:bodyPr>
          <a:lstStyle/>
          <a:p>
            <a:pPr algn="ctr"/>
            <a:r>
              <a:rPr lang="da-DK" dirty="0"/>
              <a:t>N</a:t>
            </a:r>
            <a:br>
              <a:rPr lang="da-DK" dirty="0"/>
            </a:br>
            <a:r>
              <a:rPr lang="da-DK" dirty="0"/>
              <a:t>is </a:t>
            </a:r>
            <a:r>
              <a:rPr lang="da-DK" dirty="0" err="1"/>
              <a:t>used</a:t>
            </a:r>
            <a:r>
              <a:rPr lang="da-DK" dirty="0"/>
              <a:t> to </a:t>
            </a:r>
            <a:r>
              <a:rPr lang="da-DK" dirty="0" err="1"/>
              <a:t>denote</a:t>
            </a:r>
            <a:r>
              <a:rPr lang="da-DK" dirty="0"/>
              <a:t> the </a:t>
            </a:r>
            <a:r>
              <a:rPr lang="da-DK" dirty="0" err="1"/>
              <a:t>number</a:t>
            </a:r>
            <a:r>
              <a:rPr lang="da-DK" dirty="0"/>
              <a:t> of elements</a:t>
            </a:r>
            <a:br>
              <a:rPr lang="da-DK" dirty="0"/>
            </a:br>
            <a:br>
              <a:rPr lang="da-DK" dirty="0"/>
            </a:b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3071664" y="2924945"/>
            <a:ext cx="7139136" cy="3201219"/>
          </a:xfrm>
        </p:spPr>
        <p:txBody>
          <a:bodyPr/>
          <a:lstStyle/>
          <a:p>
            <a:r>
              <a:rPr lang="da-DK" dirty="0"/>
              <a:t>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sorted</a:t>
            </a:r>
            <a:endParaRPr lang="da-DK" dirty="0"/>
          </a:p>
          <a:p>
            <a:r>
              <a:rPr lang="da-DK" dirty="0"/>
              <a:t>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inserted</a:t>
            </a:r>
            <a:r>
              <a:rPr lang="da-DK" dirty="0"/>
              <a:t> </a:t>
            </a:r>
            <a:r>
              <a:rPr lang="da-DK" dirty="0" err="1"/>
              <a:t>into</a:t>
            </a:r>
            <a:r>
              <a:rPr lang="da-DK" dirty="0"/>
              <a:t> a list</a:t>
            </a:r>
          </a:p>
          <a:p>
            <a:r>
              <a:rPr lang="da-DK" dirty="0"/>
              <a:t>(nodes/</a:t>
            </a:r>
            <a:r>
              <a:rPr lang="da-DK" dirty="0" err="1"/>
              <a:t>edges</a:t>
            </a:r>
            <a:r>
              <a:rPr lang="da-DK" dirty="0"/>
              <a:t>) in a </a:t>
            </a:r>
            <a:r>
              <a:rPr lang="da-DK" dirty="0" err="1"/>
              <a:t>graph</a:t>
            </a:r>
            <a:endParaRPr lang="da-DK" dirty="0"/>
          </a:p>
          <a:p>
            <a:r>
              <a:rPr lang="da-DK" dirty="0"/>
              <a:t>in a list/array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traversed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55556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Rules</a:t>
            </a:r>
            <a:r>
              <a:rPr lang="da-DK" dirty="0"/>
              <a:t> of </a:t>
            </a:r>
            <a:r>
              <a:rPr lang="da-DK" dirty="0" err="1"/>
              <a:t>thumb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2351584" y="2276873"/>
            <a:ext cx="7859216" cy="3849291"/>
          </a:xfrm>
        </p:spPr>
        <p:txBody>
          <a:bodyPr>
            <a:normAutofit/>
          </a:bodyPr>
          <a:lstStyle/>
          <a:p>
            <a:r>
              <a:rPr lang="da-DK" dirty="0" err="1"/>
              <a:t>Halving</a:t>
            </a:r>
            <a:r>
              <a:rPr lang="da-DK" dirty="0"/>
              <a:t> problem:			O(log N)</a:t>
            </a:r>
          </a:p>
          <a:p>
            <a:r>
              <a:rPr lang="da-DK" dirty="0"/>
              <a:t>One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-loop: 			O(N)</a:t>
            </a:r>
          </a:p>
          <a:p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-loops in </a:t>
            </a:r>
            <a:r>
              <a:rPr lang="da-DK" dirty="0" err="1"/>
              <a:t>sequence</a:t>
            </a:r>
            <a:r>
              <a:rPr lang="da-DK" dirty="0"/>
              <a:t>: 	O(N)</a:t>
            </a:r>
          </a:p>
          <a:p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-loop with </a:t>
            </a:r>
            <a:r>
              <a:rPr lang="da-DK" dirty="0" err="1"/>
              <a:t>halving</a:t>
            </a:r>
            <a:r>
              <a:rPr lang="da-DK" dirty="0"/>
              <a:t>:		O(N log N)</a:t>
            </a:r>
          </a:p>
          <a:p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nested</a:t>
            </a:r>
            <a:r>
              <a:rPr lang="da-DK" dirty="0"/>
              <a:t>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-loops: 		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  <a:p>
            <a:r>
              <a:rPr lang="da-DK" dirty="0"/>
              <a:t>Three </a:t>
            </a:r>
            <a:r>
              <a:rPr lang="da-DK" dirty="0" err="1"/>
              <a:t>nested</a:t>
            </a:r>
            <a:r>
              <a:rPr lang="da-DK" dirty="0"/>
              <a:t> 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for</a:t>
            </a:r>
            <a:r>
              <a:rPr lang="da-DK" dirty="0"/>
              <a:t>-loops: 	O(N</a:t>
            </a:r>
            <a:r>
              <a:rPr lang="da-DK" baseline="30000" dirty="0"/>
              <a:t>3</a:t>
            </a:r>
            <a:r>
              <a:rPr lang="da-DK" dirty="0"/>
              <a:t>) </a:t>
            </a:r>
          </a:p>
          <a:p>
            <a:r>
              <a:rPr lang="da-DK" dirty="0"/>
              <a:t>Check all </a:t>
            </a:r>
            <a:r>
              <a:rPr lang="da-DK" dirty="0" err="1"/>
              <a:t>combinations</a:t>
            </a:r>
            <a:r>
              <a:rPr lang="da-DK" dirty="0"/>
              <a:t>: 	O(2</a:t>
            </a:r>
            <a:r>
              <a:rPr lang="da-DK" baseline="30000" dirty="0"/>
              <a:t>N</a:t>
            </a:r>
            <a:r>
              <a:rPr lang="da-DK" dirty="0"/>
              <a:t>)</a:t>
            </a:r>
          </a:p>
          <a:p>
            <a:endParaRPr lang="da-DK" dirty="0"/>
          </a:p>
          <a:p>
            <a:endParaRPr lang="da-DK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1C4E56-AD71-4C3D-8AA1-B52EEA3E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Different</a:t>
            </a:r>
            <a:r>
              <a:rPr lang="da-DK" dirty="0"/>
              <a:t> cases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8D33E5B-E187-46F2-AEAF-13C184F82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dirty="0"/>
              <a:t>Best</a:t>
            </a:r>
          </a:p>
          <a:p>
            <a:pPr marL="0" indent="0" algn="ctr">
              <a:buNone/>
            </a:pPr>
            <a:r>
              <a:rPr lang="da-DK" dirty="0"/>
              <a:t>Average</a:t>
            </a:r>
          </a:p>
          <a:p>
            <a:pPr marL="0" indent="0" algn="ctr">
              <a:buNone/>
            </a:pPr>
            <a:r>
              <a:rPr lang="da-DK" dirty="0" err="1"/>
              <a:t>Worst</a:t>
            </a:r>
            <a:endParaRPr lang="da-DK" dirty="0"/>
          </a:p>
          <a:p>
            <a:pPr marL="0" indent="0" algn="ctr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99640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8F71A-5DBA-4FD3-AC10-DDA78300E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</a:t>
            </a:r>
            <a:r>
              <a:rPr lang="da-DK" dirty="0" err="1"/>
              <a:t>next</a:t>
            </a:r>
            <a:r>
              <a:rPr lang="da-DK" dirty="0"/>
              <a:t> step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0374340-2ADA-443D-BC32-26C0A9F6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 algn="ctr">
              <a:buNone/>
            </a:pPr>
            <a:r>
              <a:rPr lang="da-DK" sz="4000" dirty="0" err="1"/>
              <a:t>Algorithms</a:t>
            </a:r>
            <a:endParaRPr lang="da-DK" sz="4000" dirty="0"/>
          </a:p>
          <a:p>
            <a:pPr marL="0" indent="0" algn="ctr">
              <a:buNone/>
            </a:pPr>
            <a:r>
              <a:rPr lang="da-DK" sz="4000" dirty="0"/>
              <a:t> vs.</a:t>
            </a:r>
          </a:p>
          <a:p>
            <a:pPr marL="0" indent="0" algn="ctr">
              <a:buNone/>
            </a:pPr>
            <a:r>
              <a:rPr lang="da-DK" sz="4000" dirty="0"/>
              <a:t> </a:t>
            </a:r>
            <a:r>
              <a:rPr lang="da-DK" sz="4000" dirty="0" err="1"/>
              <a:t>Artificial</a:t>
            </a:r>
            <a:r>
              <a:rPr lang="da-DK" sz="4000" dirty="0"/>
              <a:t> Intelligence</a:t>
            </a:r>
          </a:p>
        </p:txBody>
      </p:sp>
    </p:spTree>
    <p:extLst>
      <p:ext uri="{BB962C8B-B14F-4D97-AF65-F5344CB8AC3E}">
        <p14:creationId xmlns:p14="http://schemas.microsoft.com/office/powerpoint/2010/main" val="455775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Hashing</a:t>
            </a:r>
            <a:r>
              <a:rPr lang="da-DK" dirty="0"/>
              <a:t> </a:t>
            </a:r>
            <a:r>
              <a:rPr lang="da-DK"/>
              <a:t>– briefly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Abstract datatype, </a:t>
            </a:r>
            <a:r>
              <a:rPr lang="da-DK" dirty="0" err="1"/>
              <a:t>where</a:t>
            </a:r>
            <a:r>
              <a:rPr lang="da-DK" dirty="0"/>
              <a:t> </a:t>
            </a:r>
            <a:r>
              <a:rPr lang="da-DK" dirty="0" err="1"/>
              <a:t>objects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fetched</a:t>
            </a:r>
            <a:r>
              <a:rPr lang="da-DK" dirty="0"/>
              <a:t> and </a:t>
            </a:r>
            <a:r>
              <a:rPr lang="da-DK" dirty="0" err="1"/>
              <a:t>stored</a:t>
            </a:r>
            <a:r>
              <a:rPr lang="da-DK" dirty="0"/>
              <a:t> in </a:t>
            </a:r>
            <a:r>
              <a:rPr lang="da-DK" dirty="0" err="1"/>
              <a:t>constant</a:t>
            </a:r>
            <a:r>
              <a:rPr lang="da-DK" dirty="0"/>
              <a:t> time – O(1) – or </a:t>
            </a:r>
            <a:r>
              <a:rPr lang="da-DK" dirty="0" err="1"/>
              <a:t>almost</a:t>
            </a:r>
            <a:r>
              <a:rPr lang="da-DK" dirty="0"/>
              <a:t>.</a:t>
            </a:r>
          </a:p>
          <a:p>
            <a:r>
              <a:rPr lang="da-DK" dirty="0" err="1"/>
              <a:t>Requires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each</a:t>
            </a:r>
            <a:r>
              <a:rPr lang="da-DK" dirty="0"/>
              <a:t> </a:t>
            </a:r>
            <a:r>
              <a:rPr lang="da-DK" dirty="0" err="1"/>
              <a:t>object</a:t>
            </a:r>
            <a:r>
              <a:rPr lang="da-DK" dirty="0"/>
              <a:t> has a </a:t>
            </a:r>
            <a:r>
              <a:rPr lang="da-DK" dirty="0" err="1"/>
              <a:t>unique</a:t>
            </a:r>
            <a:r>
              <a:rPr lang="da-DK" dirty="0"/>
              <a:t> </a:t>
            </a:r>
            <a:r>
              <a:rPr lang="da-DK" dirty="0" err="1"/>
              <a:t>key</a:t>
            </a:r>
            <a:r>
              <a:rPr lang="da-DK" dirty="0"/>
              <a:t>; </a:t>
            </a:r>
            <a:r>
              <a:rPr lang="da-DK" dirty="0" err="1"/>
              <a:t>otherwise</a:t>
            </a:r>
            <a:r>
              <a:rPr lang="da-DK" dirty="0"/>
              <a:t> </a:t>
            </a:r>
            <a:r>
              <a:rPr lang="da-DK" dirty="0" err="1"/>
              <a:t>retrieval</a:t>
            </a:r>
            <a:r>
              <a:rPr lang="da-DK" dirty="0"/>
              <a:t> is </a:t>
            </a:r>
            <a:r>
              <a:rPr lang="da-DK" dirty="0" err="1"/>
              <a:t>impossible</a:t>
            </a:r>
            <a:r>
              <a:rPr lang="da-DK" dirty="0"/>
              <a:t>.</a:t>
            </a:r>
          </a:p>
          <a:p>
            <a:r>
              <a:rPr lang="da-DK" dirty="0"/>
              <a:t>The </a:t>
            </a:r>
            <a:r>
              <a:rPr lang="da-DK" dirty="0" err="1"/>
              <a:t>objects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stored</a:t>
            </a:r>
            <a:r>
              <a:rPr lang="da-DK" dirty="0"/>
              <a:t> in an array with the </a:t>
            </a:r>
            <a:r>
              <a:rPr lang="da-DK" dirty="0" err="1"/>
              <a:t>size</a:t>
            </a:r>
            <a:r>
              <a:rPr lang="da-DK" dirty="0"/>
              <a:t> of a prime </a:t>
            </a:r>
            <a:r>
              <a:rPr lang="da-DK" dirty="0" err="1"/>
              <a:t>number</a:t>
            </a:r>
            <a:r>
              <a:rPr lang="da-DK" dirty="0"/>
              <a:t> (</a:t>
            </a:r>
            <a:r>
              <a:rPr lang="da-DK" dirty="0" err="1"/>
              <a:t>probing</a:t>
            </a:r>
            <a:r>
              <a:rPr lang="da-DK" dirty="0"/>
              <a:t>).</a:t>
            </a:r>
          </a:p>
          <a:p>
            <a:r>
              <a:rPr lang="da-DK" dirty="0"/>
              <a:t>High performance </a:t>
            </a:r>
            <a:r>
              <a:rPr lang="da-DK" dirty="0" err="1"/>
              <a:t>requires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</a:t>
            </a:r>
            <a:r>
              <a:rPr lang="da-DK" dirty="0" err="1"/>
              <a:t>objects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distributed</a:t>
            </a:r>
            <a:r>
              <a:rPr lang="da-DK" dirty="0"/>
              <a:t> </a:t>
            </a:r>
            <a:r>
              <a:rPr lang="da-DK" dirty="0" err="1"/>
              <a:t>uniformly</a:t>
            </a:r>
            <a:r>
              <a:rPr lang="da-DK" dirty="0"/>
              <a:t> in the array.</a:t>
            </a:r>
          </a:p>
          <a:p>
            <a:r>
              <a:rPr lang="da-DK" dirty="0"/>
              <a:t>The load factor is </a:t>
            </a:r>
            <a:r>
              <a:rPr lang="da-DK" dirty="0" err="1"/>
              <a:t>denoted</a:t>
            </a:r>
            <a:r>
              <a:rPr lang="da-DK" dirty="0"/>
              <a:t> </a:t>
            </a:r>
            <a:r>
              <a:rPr lang="el-GR" dirty="0"/>
              <a:t>λ</a:t>
            </a:r>
            <a:r>
              <a:rPr lang="da-DK" dirty="0"/>
              <a:t> and is </a:t>
            </a:r>
            <a:r>
              <a:rPr lang="da-DK" dirty="0" err="1"/>
              <a:t>equal</a:t>
            </a:r>
            <a:r>
              <a:rPr lang="da-DK" dirty="0"/>
              <a:t> to the </a:t>
            </a:r>
            <a:r>
              <a:rPr lang="da-DK" dirty="0" err="1"/>
              <a:t>number</a:t>
            </a:r>
            <a:r>
              <a:rPr lang="da-DK" dirty="0"/>
              <a:t> of elements in the </a:t>
            </a:r>
            <a:r>
              <a:rPr lang="da-DK" dirty="0" err="1"/>
              <a:t>table</a:t>
            </a:r>
            <a:r>
              <a:rPr lang="da-DK" dirty="0"/>
              <a:t> </a:t>
            </a:r>
            <a:r>
              <a:rPr lang="da-DK" dirty="0" err="1"/>
              <a:t>divided</a:t>
            </a:r>
            <a:r>
              <a:rPr lang="da-DK" dirty="0"/>
              <a:t> by the </a:t>
            </a:r>
            <a:r>
              <a:rPr lang="da-DK" dirty="0" err="1"/>
              <a:t>table</a:t>
            </a:r>
            <a:r>
              <a:rPr lang="da-DK" dirty="0"/>
              <a:t> </a:t>
            </a:r>
            <a:r>
              <a:rPr lang="da-DK" dirty="0" err="1"/>
              <a:t>size</a:t>
            </a:r>
            <a:r>
              <a:rPr lang="da-DK" dirty="0"/>
              <a:t>, </a:t>
            </a:r>
            <a:r>
              <a:rPr lang="da-DK" dirty="0" err="1"/>
              <a:t>thus</a:t>
            </a:r>
            <a:r>
              <a:rPr lang="da-DK" dirty="0"/>
              <a:t> </a:t>
            </a:r>
            <a:r>
              <a:rPr lang="da-DK" dirty="0" err="1"/>
              <a:t>always</a:t>
            </a:r>
            <a:r>
              <a:rPr lang="da-DK" dirty="0"/>
              <a:t> &lt;= 1.00.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90A796-EC63-4E30-911F-F57D184CD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Hashing</a:t>
            </a:r>
            <a:r>
              <a:rPr lang="da-DK" dirty="0"/>
              <a:t>	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6F2AB8CE-628C-4775-9EB3-56AEA1D649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… is a </a:t>
            </a:r>
            <a:r>
              <a:rPr lang="da-DK" dirty="0" err="1"/>
              <a:t>typical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 of a </a:t>
            </a:r>
            <a:r>
              <a:rPr lang="da-DK" b="1" i="1" dirty="0" err="1"/>
              <a:t>tradeoff</a:t>
            </a:r>
            <a:r>
              <a:rPr lang="da-DK" i="1" dirty="0"/>
              <a:t>,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means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get</a:t>
            </a:r>
            <a:r>
              <a:rPr lang="da-DK" dirty="0"/>
              <a:t> </a:t>
            </a:r>
            <a:r>
              <a:rPr lang="da-DK" dirty="0" err="1"/>
              <a:t>something</a:t>
            </a:r>
            <a:r>
              <a:rPr lang="da-DK" dirty="0"/>
              <a:t> by </a:t>
            </a:r>
            <a:r>
              <a:rPr lang="da-DK" dirty="0" err="1"/>
              <a:t>giving</a:t>
            </a:r>
            <a:r>
              <a:rPr lang="da-DK" dirty="0"/>
              <a:t> up </a:t>
            </a:r>
            <a:r>
              <a:rPr lang="da-DK" dirty="0" err="1"/>
              <a:t>something</a:t>
            </a:r>
            <a:r>
              <a:rPr lang="da-DK" dirty="0"/>
              <a:t> </a:t>
            </a:r>
            <a:r>
              <a:rPr lang="da-DK" dirty="0" err="1"/>
              <a:t>else</a:t>
            </a:r>
            <a:r>
              <a:rPr lang="da-DK" dirty="0"/>
              <a:t>.</a:t>
            </a:r>
          </a:p>
          <a:p>
            <a:pPr marL="0" indent="0" algn="just">
              <a:buNone/>
            </a:pPr>
            <a:r>
              <a:rPr lang="da-DK" dirty="0"/>
              <a:t>In </a:t>
            </a:r>
            <a:r>
              <a:rPr lang="da-DK" dirty="0" err="1"/>
              <a:t>this</a:t>
            </a:r>
            <a:r>
              <a:rPr lang="da-DK" dirty="0"/>
              <a:t> case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gain</a:t>
            </a:r>
            <a:r>
              <a:rPr lang="da-DK" dirty="0"/>
              <a:t> </a:t>
            </a:r>
            <a:r>
              <a:rPr lang="da-DK" i="1" dirty="0"/>
              <a:t>speed </a:t>
            </a:r>
            <a:r>
              <a:rPr lang="da-DK" dirty="0"/>
              <a:t>by </a:t>
            </a:r>
            <a:r>
              <a:rPr lang="da-DK" dirty="0" err="1"/>
              <a:t>giving</a:t>
            </a:r>
            <a:r>
              <a:rPr lang="da-DK" dirty="0"/>
              <a:t> up </a:t>
            </a:r>
            <a:r>
              <a:rPr lang="da-DK" i="1" dirty="0" err="1"/>
              <a:t>space</a:t>
            </a:r>
            <a:r>
              <a:rPr lang="da-DK" dirty="0"/>
              <a:t>.</a:t>
            </a:r>
          </a:p>
          <a:p>
            <a:pPr marL="0" indent="0" algn="just">
              <a:buNone/>
            </a:pPr>
            <a:r>
              <a:rPr lang="da-DK" dirty="0"/>
              <a:t>Most </a:t>
            </a:r>
            <a:r>
              <a:rPr lang="da-DK" dirty="0" err="1"/>
              <a:t>hashing</a:t>
            </a:r>
            <a:r>
              <a:rPr lang="da-DK" dirty="0"/>
              <a:t> </a:t>
            </a:r>
            <a:r>
              <a:rPr lang="da-DK" dirty="0" err="1"/>
              <a:t>implementations</a:t>
            </a:r>
            <a:r>
              <a:rPr lang="da-DK" dirty="0"/>
              <a:t> </a:t>
            </a:r>
            <a:r>
              <a:rPr lang="da-DK" dirty="0" err="1"/>
              <a:t>require</a:t>
            </a:r>
            <a:r>
              <a:rPr lang="da-DK" dirty="0"/>
              <a:t> at </a:t>
            </a:r>
            <a:r>
              <a:rPr lang="da-DK" dirty="0" err="1"/>
              <a:t>least</a:t>
            </a:r>
            <a:r>
              <a:rPr lang="da-DK" dirty="0"/>
              <a:t> </a:t>
            </a:r>
            <a:r>
              <a:rPr lang="da-DK" dirty="0" err="1"/>
              <a:t>twice</a:t>
            </a:r>
            <a:r>
              <a:rPr lang="da-DK" dirty="0"/>
              <a:t> as </a:t>
            </a:r>
            <a:r>
              <a:rPr lang="da-DK" dirty="0" err="1"/>
              <a:t>much</a:t>
            </a:r>
            <a:r>
              <a:rPr lang="da-DK" dirty="0"/>
              <a:t> </a:t>
            </a:r>
            <a:r>
              <a:rPr lang="da-DK" dirty="0" err="1"/>
              <a:t>space</a:t>
            </a:r>
            <a:r>
              <a:rPr lang="da-DK" dirty="0"/>
              <a:t> as the </a:t>
            </a:r>
            <a:r>
              <a:rPr lang="da-DK" dirty="0" err="1"/>
              <a:t>actual</a:t>
            </a:r>
            <a:r>
              <a:rPr lang="da-DK" dirty="0"/>
              <a:t> data </a:t>
            </a:r>
            <a:r>
              <a:rPr lang="da-DK" dirty="0" err="1"/>
              <a:t>takes</a:t>
            </a:r>
            <a:r>
              <a:rPr lang="da-DK" dirty="0"/>
              <a:t> up, in </a:t>
            </a:r>
            <a:r>
              <a:rPr lang="da-DK" dirty="0" err="1"/>
              <a:t>order</a:t>
            </a:r>
            <a:r>
              <a:rPr lang="da-DK" dirty="0"/>
              <a:t> to </a:t>
            </a:r>
            <a:r>
              <a:rPr lang="da-DK" dirty="0" err="1"/>
              <a:t>obtain</a:t>
            </a:r>
            <a:r>
              <a:rPr lang="da-DK" dirty="0"/>
              <a:t> the </a:t>
            </a:r>
            <a:r>
              <a:rPr lang="da-DK" dirty="0" err="1"/>
              <a:t>constant</a:t>
            </a:r>
            <a:r>
              <a:rPr lang="da-DK" dirty="0"/>
              <a:t> time speed for </a:t>
            </a:r>
            <a:r>
              <a:rPr lang="da-DK" dirty="0" err="1"/>
              <a:t>inserting</a:t>
            </a:r>
            <a:r>
              <a:rPr lang="da-DK" dirty="0"/>
              <a:t> and </a:t>
            </a:r>
            <a:r>
              <a:rPr lang="da-DK" dirty="0" err="1"/>
              <a:t>fetching</a:t>
            </a:r>
            <a:r>
              <a:rPr lang="da-DK" dirty="0"/>
              <a:t> data.</a:t>
            </a:r>
            <a:endParaRPr lang="da-DK" i="1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69144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Hashings</a:t>
            </a:r>
            <a:r>
              <a:rPr lang="da-DK" dirty="0"/>
              <a:t> problem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No matter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good</a:t>
            </a:r>
            <a:r>
              <a:rPr lang="da-DK" dirty="0"/>
              <a:t> a hash </a:t>
            </a:r>
            <a:r>
              <a:rPr lang="da-DK" dirty="0" err="1"/>
              <a:t>funtionen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choose</a:t>
            </a:r>
            <a:r>
              <a:rPr lang="da-DK" dirty="0"/>
              <a:t>, it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occur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two</a:t>
            </a:r>
            <a:r>
              <a:rPr lang="da-DK" dirty="0"/>
              <a:t> </a:t>
            </a:r>
            <a:r>
              <a:rPr lang="da-DK" dirty="0" err="1"/>
              <a:t>objects</a:t>
            </a:r>
            <a:r>
              <a:rPr lang="da-DK" dirty="0"/>
              <a:t> hash to the same </a:t>
            </a:r>
            <a:r>
              <a:rPr lang="da-DK" dirty="0" err="1"/>
              <a:t>index</a:t>
            </a:r>
            <a:r>
              <a:rPr lang="da-DK" dirty="0"/>
              <a:t> in the array.</a:t>
            </a:r>
          </a:p>
          <a:p>
            <a:r>
              <a:rPr lang="da-DK" dirty="0"/>
              <a:t>This is </a:t>
            </a:r>
            <a:r>
              <a:rPr lang="da-DK" dirty="0" err="1"/>
              <a:t>called</a:t>
            </a:r>
            <a:r>
              <a:rPr lang="da-DK" dirty="0"/>
              <a:t> a </a:t>
            </a:r>
            <a:r>
              <a:rPr lang="da-DK" i="1" dirty="0" err="1"/>
              <a:t>collision</a:t>
            </a:r>
            <a:r>
              <a:rPr lang="da-DK" i="1" dirty="0"/>
              <a:t>.</a:t>
            </a:r>
          </a:p>
          <a:p>
            <a:r>
              <a:rPr lang="da-DK" dirty="0" err="1"/>
              <a:t>Collisions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overcome</a:t>
            </a:r>
            <a:r>
              <a:rPr lang="da-DK" dirty="0"/>
              <a:t> in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ways</a:t>
            </a:r>
            <a:r>
              <a:rPr lang="da-DK" dirty="0"/>
              <a:t>:</a:t>
            </a:r>
          </a:p>
          <a:p>
            <a:pPr lvl="1"/>
            <a:r>
              <a:rPr lang="da-DK" dirty="0"/>
              <a:t>Separate </a:t>
            </a:r>
            <a:r>
              <a:rPr lang="da-DK" dirty="0" err="1"/>
              <a:t>chaining</a:t>
            </a:r>
            <a:endParaRPr lang="da-DK" dirty="0"/>
          </a:p>
          <a:p>
            <a:pPr lvl="1"/>
            <a:r>
              <a:rPr lang="da-DK" dirty="0"/>
              <a:t>Linear </a:t>
            </a:r>
            <a:r>
              <a:rPr lang="da-DK" dirty="0" err="1"/>
              <a:t>probing</a:t>
            </a:r>
            <a:endParaRPr lang="da-DK" dirty="0"/>
          </a:p>
          <a:p>
            <a:pPr lvl="1"/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endParaRPr lang="da-DK" dirty="0"/>
          </a:p>
          <a:p>
            <a:pPr lvl="1"/>
            <a:r>
              <a:rPr lang="da-DK" dirty="0"/>
              <a:t>Double </a:t>
            </a:r>
            <a:r>
              <a:rPr lang="da-DK" dirty="0" err="1"/>
              <a:t>hashing</a:t>
            </a:r>
            <a:endParaRPr lang="da-DK" dirty="0"/>
          </a:p>
          <a:p>
            <a:r>
              <a:rPr lang="da-DK" dirty="0" err="1"/>
              <a:t>These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rather</a:t>
            </a:r>
            <a:r>
              <a:rPr lang="da-DK" dirty="0"/>
              <a:t> simple </a:t>
            </a:r>
            <a:r>
              <a:rPr lang="da-DK" dirty="0" err="1"/>
              <a:t>strategies</a:t>
            </a:r>
            <a:r>
              <a:rPr lang="da-DK" dirty="0"/>
              <a:t>. More </a:t>
            </a:r>
            <a:r>
              <a:rPr lang="da-DK" dirty="0" err="1"/>
              <a:t>complex</a:t>
            </a:r>
            <a:r>
              <a:rPr lang="da-DK" dirty="0"/>
              <a:t> </a:t>
            </a:r>
            <a:r>
              <a:rPr lang="da-DK" dirty="0" err="1"/>
              <a:t>ones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follow</a:t>
            </a:r>
            <a:r>
              <a:rPr lang="da-DK"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</a:t>
            </a:r>
            <a:r>
              <a:rPr lang="da-DK" i="1" dirty="0" err="1"/>
              <a:t>TableSize</a:t>
            </a:r>
            <a:r>
              <a:rPr lang="da-DK" dirty="0"/>
              <a:t> is a prime </a:t>
            </a:r>
            <a:r>
              <a:rPr lang="da-DK" dirty="0" err="1"/>
              <a:t>greater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3 and the load factor is </a:t>
            </a:r>
            <a:r>
              <a:rPr lang="da-DK" dirty="0" err="1"/>
              <a:t>less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0.5, a </a:t>
            </a:r>
            <a:r>
              <a:rPr lang="da-DK" dirty="0" err="1"/>
              <a:t>vacant</a:t>
            </a:r>
            <a:r>
              <a:rPr lang="da-DK" dirty="0"/>
              <a:t> spot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found</a:t>
            </a:r>
            <a:r>
              <a:rPr lang="da-DK" dirty="0"/>
              <a:t>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quadratic</a:t>
            </a:r>
            <a:r>
              <a:rPr lang="da-DK" dirty="0"/>
              <a:t> </a:t>
            </a:r>
            <a:r>
              <a:rPr lang="da-DK" dirty="0" err="1"/>
              <a:t>probing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7481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Hopscotch-hashing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An </a:t>
            </a:r>
            <a:r>
              <a:rPr lang="da-DK" dirty="0" err="1"/>
              <a:t>improval</a:t>
            </a:r>
            <a:r>
              <a:rPr lang="da-DK" dirty="0"/>
              <a:t> of </a:t>
            </a:r>
            <a:r>
              <a:rPr lang="da-DK" i="1" dirty="0" err="1"/>
              <a:t>linear</a:t>
            </a:r>
            <a:r>
              <a:rPr lang="da-DK" i="1" dirty="0"/>
              <a:t> </a:t>
            </a:r>
            <a:r>
              <a:rPr lang="da-DK" i="1" dirty="0" err="1"/>
              <a:t>probing</a:t>
            </a:r>
            <a:r>
              <a:rPr lang="da-DK" dirty="0"/>
              <a:t>.</a:t>
            </a:r>
          </a:p>
          <a:p>
            <a:r>
              <a:rPr lang="da-DK" dirty="0"/>
              <a:t>In </a:t>
            </a:r>
            <a:r>
              <a:rPr lang="da-DK" dirty="0" err="1"/>
              <a:t>certain</a:t>
            </a:r>
            <a:r>
              <a:rPr lang="da-DK" dirty="0"/>
              <a:t> </a:t>
            </a:r>
            <a:r>
              <a:rPr lang="da-DK" dirty="0" err="1"/>
              <a:t>modern</a:t>
            </a:r>
            <a:r>
              <a:rPr lang="da-DK" dirty="0"/>
              <a:t> </a:t>
            </a:r>
            <a:r>
              <a:rPr lang="da-DK" dirty="0" err="1"/>
              <a:t>architechtures</a:t>
            </a:r>
            <a:r>
              <a:rPr lang="da-DK" dirty="0"/>
              <a:t>  </a:t>
            </a:r>
            <a:r>
              <a:rPr lang="da-DK" dirty="0" err="1"/>
              <a:t>proximity</a:t>
            </a:r>
            <a:r>
              <a:rPr lang="da-DK" dirty="0"/>
              <a:t> is more </a:t>
            </a:r>
            <a:r>
              <a:rPr lang="da-DK" dirty="0" err="1"/>
              <a:t>important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the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probes</a:t>
            </a:r>
            <a:r>
              <a:rPr lang="da-DK" dirty="0"/>
              <a:t>.</a:t>
            </a:r>
          </a:p>
          <a:p>
            <a:r>
              <a:rPr lang="da-DK" dirty="0" err="1"/>
              <a:t>Hardly</a:t>
            </a:r>
            <a:r>
              <a:rPr lang="da-DK" dirty="0"/>
              <a:t> </a:t>
            </a:r>
            <a:r>
              <a:rPr lang="da-DK" dirty="0" err="1"/>
              <a:t>no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for </a:t>
            </a:r>
            <a:r>
              <a:rPr lang="da-DK" dirty="0" err="1"/>
              <a:t>rehashing</a:t>
            </a:r>
            <a:r>
              <a:rPr lang="da-DK" dirty="0"/>
              <a:t> if </a:t>
            </a:r>
            <a:r>
              <a:rPr lang="el-GR" dirty="0"/>
              <a:t>λ</a:t>
            </a:r>
            <a:r>
              <a:rPr lang="da-DK" dirty="0"/>
              <a:t> &lt; 0,5.</a:t>
            </a:r>
          </a:p>
          <a:p>
            <a:r>
              <a:rPr lang="da-DK" dirty="0"/>
              <a:t>Is </a:t>
            </a:r>
            <a:r>
              <a:rPr lang="da-DK" dirty="0" err="1"/>
              <a:t>superior</a:t>
            </a:r>
            <a:r>
              <a:rPr lang="da-DK" dirty="0"/>
              <a:t> to </a:t>
            </a:r>
            <a:r>
              <a:rPr lang="da-DK" dirty="0" err="1"/>
              <a:t>Cuckoo-hashing</a:t>
            </a:r>
            <a:r>
              <a:rPr lang="da-DK" dirty="0"/>
              <a:t> on most parameters.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696917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Hopscotch</a:t>
            </a:r>
            <a:r>
              <a:rPr lang="da-DK" dirty="0"/>
              <a:t> </a:t>
            </a:r>
            <a:r>
              <a:rPr lang="da-DK" dirty="0" err="1"/>
              <a:t>example</a:t>
            </a:r>
            <a:endParaRPr lang="da-DK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2400" y="1740870"/>
            <a:ext cx="6807200" cy="42446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5939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Hopscotch</a:t>
            </a:r>
            <a:r>
              <a:rPr lang="da-DK" dirty="0"/>
              <a:t> </a:t>
            </a:r>
            <a:r>
              <a:rPr lang="da-DK" dirty="0" err="1"/>
              <a:t>example</a:t>
            </a:r>
            <a:endParaRPr lang="da-DK" dirty="0"/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7608" y="2924944"/>
            <a:ext cx="6807200" cy="37817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2902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Priority</a:t>
            </a:r>
            <a:r>
              <a:rPr lang="da-DK" dirty="0"/>
              <a:t> </a:t>
            </a:r>
            <a:r>
              <a:rPr lang="da-DK" dirty="0" err="1"/>
              <a:t>queue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1600201"/>
            <a:ext cx="8507288" cy="4525963"/>
          </a:xfrm>
        </p:spPr>
        <p:txBody>
          <a:bodyPr>
            <a:normAutofit/>
          </a:bodyPr>
          <a:lstStyle/>
          <a:p>
            <a:r>
              <a:rPr lang="da-DK" dirty="0"/>
              <a:t>Background: the </a:t>
            </a:r>
            <a:r>
              <a:rPr lang="da-DK" dirty="0" err="1"/>
              <a:t>need</a:t>
            </a:r>
            <a:r>
              <a:rPr lang="da-DK" dirty="0"/>
              <a:t> to </a:t>
            </a:r>
            <a:r>
              <a:rPr lang="da-DK" dirty="0" err="1"/>
              <a:t>execute</a:t>
            </a:r>
            <a:r>
              <a:rPr lang="da-DK" dirty="0"/>
              <a:t> </a:t>
            </a:r>
            <a:r>
              <a:rPr lang="da-DK" dirty="0" err="1"/>
              <a:t>queues</a:t>
            </a:r>
            <a:r>
              <a:rPr lang="da-DK" dirty="0"/>
              <a:t> by a </a:t>
            </a:r>
            <a:r>
              <a:rPr lang="da-DK" dirty="0" err="1"/>
              <a:t>different</a:t>
            </a:r>
            <a:r>
              <a:rPr lang="da-DK" dirty="0"/>
              <a:t> </a:t>
            </a:r>
            <a:r>
              <a:rPr lang="da-DK" dirty="0" err="1"/>
              <a:t>principle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FIFO.</a:t>
            </a:r>
          </a:p>
          <a:p>
            <a:r>
              <a:rPr lang="da-DK" dirty="0" err="1"/>
              <a:t>Examples</a:t>
            </a:r>
            <a:r>
              <a:rPr lang="da-DK" dirty="0"/>
              <a:t>: printjobs, CPU-</a:t>
            </a:r>
            <a:r>
              <a:rPr lang="da-DK" dirty="0" err="1"/>
              <a:t>scheduling</a:t>
            </a:r>
            <a:r>
              <a:rPr lang="da-DK" dirty="0"/>
              <a:t>, </a:t>
            </a:r>
            <a:r>
              <a:rPr lang="da-DK" dirty="0" err="1"/>
              <a:t>urgent</a:t>
            </a:r>
            <a:r>
              <a:rPr lang="da-DK" dirty="0"/>
              <a:t> </a:t>
            </a:r>
            <a:r>
              <a:rPr lang="da-DK" dirty="0" err="1"/>
              <a:t>orders</a:t>
            </a:r>
            <a:r>
              <a:rPr lang="da-DK" dirty="0"/>
              <a:t>.</a:t>
            </a:r>
          </a:p>
          <a:p>
            <a:r>
              <a:rPr lang="da-DK" dirty="0" err="1"/>
              <a:t>Necessary</a:t>
            </a:r>
            <a:r>
              <a:rPr lang="da-DK" dirty="0"/>
              <a:t> operations: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insert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>
                <a:latin typeface="Calibri" panose="020F0502020204030204" pitchFamily="34" charset="0"/>
                <a:cs typeface="Courier New" pitchFamily="49" charset="0"/>
              </a:rPr>
              <a:t>and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deleteMin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da-DK" dirty="0">
                <a:latin typeface="+mj-lt"/>
                <a:cs typeface="Courier New" pitchFamily="49" charset="0"/>
              </a:rPr>
              <a:t>Elegant ADT </a:t>
            </a:r>
            <a:r>
              <a:rPr lang="da-DK" dirty="0" err="1">
                <a:latin typeface="+mj-lt"/>
                <a:cs typeface="Courier New" pitchFamily="49" charset="0"/>
              </a:rPr>
              <a:t>can</a:t>
            </a:r>
            <a:r>
              <a:rPr lang="da-DK" dirty="0">
                <a:latin typeface="+mj-lt"/>
                <a:cs typeface="Courier New" pitchFamily="49" charset="0"/>
              </a:rPr>
              <a:t> </a:t>
            </a:r>
            <a:r>
              <a:rPr lang="da-DK" dirty="0" err="1">
                <a:latin typeface="+mj-lt"/>
                <a:cs typeface="Courier New" pitchFamily="49" charset="0"/>
              </a:rPr>
              <a:t>ensure</a:t>
            </a:r>
            <a:r>
              <a:rPr lang="da-DK" dirty="0">
                <a:latin typeface="+mj-lt"/>
                <a:cs typeface="Courier New" pitchFamily="49" charset="0"/>
              </a:rPr>
              <a:t>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insert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da-DK" dirty="0">
                <a:latin typeface="Calibri" panose="020F0502020204030204" pitchFamily="34" charset="0"/>
                <a:cs typeface="Courier New" pitchFamily="49" charset="0"/>
              </a:rPr>
              <a:t>with</a:t>
            </a:r>
            <a:r>
              <a:rPr lang="da-DK" dirty="0">
                <a:latin typeface="+mj-lt"/>
                <a:cs typeface="Courier New" pitchFamily="49" charset="0"/>
              </a:rPr>
              <a:t> O(log N) as </a:t>
            </a:r>
            <a:r>
              <a:rPr lang="da-DK" dirty="0" err="1">
                <a:latin typeface="+mj-lt"/>
                <a:cs typeface="Courier New" pitchFamily="49" charset="0"/>
              </a:rPr>
              <a:t>opposed</a:t>
            </a:r>
            <a:r>
              <a:rPr lang="da-DK" dirty="0">
                <a:latin typeface="+mj-lt"/>
                <a:cs typeface="Courier New" pitchFamily="49" charset="0"/>
              </a:rPr>
              <a:t> to </a:t>
            </a:r>
            <a:r>
              <a:rPr lang="da-DK" dirty="0" err="1">
                <a:latin typeface="+mj-lt"/>
                <a:cs typeface="Courier New" pitchFamily="49" charset="0"/>
              </a:rPr>
              <a:t>anticipated</a:t>
            </a:r>
            <a:r>
              <a:rPr lang="da-DK" dirty="0">
                <a:latin typeface="+mj-lt"/>
                <a:cs typeface="Courier New" pitchFamily="49" charset="0"/>
              </a:rPr>
              <a:t> O(N).</a:t>
            </a:r>
            <a:endParaRPr lang="da-DK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282154"/>
          </a:xfrm>
        </p:spPr>
        <p:txBody>
          <a:bodyPr>
            <a:normAutofit fontScale="90000"/>
          </a:bodyPr>
          <a:lstStyle/>
          <a:p>
            <a:r>
              <a:rPr lang="da-DK" dirty="0" err="1"/>
              <a:t>Priority</a:t>
            </a:r>
            <a:r>
              <a:rPr lang="da-DK" dirty="0"/>
              <a:t> </a:t>
            </a:r>
            <a:r>
              <a:rPr lang="da-DK" dirty="0" err="1"/>
              <a:t>queue</a:t>
            </a:r>
            <a:r>
              <a:rPr lang="da-DK" dirty="0"/>
              <a:t> – </a:t>
            </a:r>
            <a:r>
              <a:rPr lang="da-DK" dirty="0" err="1"/>
              <a:t>complete</a:t>
            </a:r>
            <a:r>
              <a:rPr lang="da-DK" dirty="0"/>
              <a:t> </a:t>
            </a:r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tree</a:t>
            </a:r>
            <a:br>
              <a:rPr lang="da-DK" dirty="0"/>
            </a:br>
            <a:r>
              <a:rPr lang="da-DK" sz="2400" dirty="0"/>
              <a:t>elements </a:t>
            </a:r>
            <a:r>
              <a:rPr lang="da-DK" sz="2400" dirty="0" err="1"/>
              <a:t>are</a:t>
            </a:r>
            <a:r>
              <a:rPr lang="da-DK" sz="2400" dirty="0"/>
              <a:t> </a:t>
            </a:r>
            <a:r>
              <a:rPr lang="da-DK" sz="2400" dirty="0" err="1"/>
              <a:t>added</a:t>
            </a:r>
            <a:r>
              <a:rPr lang="da-DK" sz="2400" dirty="0"/>
              <a:t> from </a:t>
            </a:r>
            <a:r>
              <a:rPr lang="da-DK" sz="2400" dirty="0" err="1"/>
              <a:t>left</a:t>
            </a:r>
            <a:r>
              <a:rPr lang="da-DK" sz="2400" dirty="0"/>
              <a:t> to right at the </a:t>
            </a:r>
            <a:r>
              <a:rPr lang="da-DK" sz="2400" dirty="0" err="1"/>
              <a:t>lowest</a:t>
            </a:r>
            <a:r>
              <a:rPr lang="da-DK" sz="2400" dirty="0"/>
              <a:t> </a:t>
            </a:r>
            <a:r>
              <a:rPr lang="da-DK" sz="2400" dirty="0" err="1"/>
              <a:t>level</a:t>
            </a:r>
            <a:endParaRPr lang="da-DK" dirty="0"/>
          </a:p>
        </p:txBody>
      </p:sp>
      <p:pic>
        <p:nvPicPr>
          <p:cNvPr id="2050" name="Picture 2" descr="C:\Dokumenter\Arbejde\E2011\ADA5\Figurer, kapitel 1-6\0321395670_pt1\ch06\ch06gif\fig06_0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28913" y="1805781"/>
            <a:ext cx="6734175" cy="4114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Implementation</a:t>
            </a:r>
            <a:endParaRPr lang="da-DK" dirty="0"/>
          </a:p>
        </p:txBody>
      </p:sp>
      <p:pic>
        <p:nvPicPr>
          <p:cNvPr id="3074" name="Picture 2" descr="C:\Dokumenter\Arbejde\E2011\ADA5\Figurer, kapitel 1-6\0321395670_pt1\ch06\ch06gif\fig06_03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3471505"/>
            <a:ext cx="8229600" cy="78335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Courier New" pitchFamily="49" charset="0"/>
                <a:cs typeface="Courier New" pitchFamily="49" charset="0"/>
              </a:rPr>
              <a:t>buildHeap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199" y="2204865"/>
            <a:ext cx="8734425" cy="3921299"/>
          </a:xfrm>
        </p:spPr>
        <p:txBody>
          <a:bodyPr/>
          <a:lstStyle/>
          <a:p>
            <a:r>
              <a:rPr lang="da-DK" dirty="0" err="1"/>
              <a:t>Suppose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have a list (an array) of </a:t>
            </a:r>
            <a:r>
              <a:rPr lang="da-DK" dirty="0" err="1"/>
              <a:t>unsorted</a:t>
            </a:r>
            <a:r>
              <a:rPr lang="da-DK" dirty="0"/>
              <a:t> </a:t>
            </a:r>
            <a:r>
              <a:rPr lang="da-DK" dirty="0" err="1"/>
              <a:t>numbers</a:t>
            </a:r>
            <a:r>
              <a:rPr lang="da-DK" dirty="0"/>
              <a:t>.</a:t>
            </a:r>
          </a:p>
          <a:p>
            <a:r>
              <a:rPr lang="da-DK" dirty="0"/>
              <a:t>Make a </a:t>
            </a:r>
            <a:r>
              <a:rPr lang="da-DK" dirty="0" err="1"/>
              <a:t>complete</a:t>
            </a:r>
            <a:r>
              <a:rPr lang="da-DK" dirty="0"/>
              <a:t> </a:t>
            </a:r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tree</a:t>
            </a:r>
            <a:r>
              <a:rPr lang="da-DK" dirty="0"/>
              <a:t> of all the elements.</a:t>
            </a:r>
          </a:p>
          <a:p>
            <a:r>
              <a:rPr lang="da-DK" dirty="0"/>
              <a:t>Call </a:t>
            </a:r>
            <a:r>
              <a:rPr lang="da-DK" dirty="0" err="1">
                <a:latin typeface="Courier New" pitchFamily="49" charset="0"/>
                <a:cs typeface="Courier New" pitchFamily="49" charset="0"/>
              </a:rPr>
              <a:t>percolateDown</a:t>
            </a:r>
            <a:r>
              <a:rPr lang="da-DK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da-DK" dirty="0">
                <a:cs typeface="Courier New" pitchFamily="49" charset="0"/>
              </a:rPr>
              <a:t>for all the nodes under the </a:t>
            </a:r>
            <a:r>
              <a:rPr lang="da-DK" dirty="0" err="1">
                <a:cs typeface="Courier New" pitchFamily="49" charset="0"/>
              </a:rPr>
              <a:t>root</a:t>
            </a:r>
            <a:r>
              <a:rPr lang="da-DK" dirty="0">
                <a:cs typeface="Courier New" pitchFamily="49" charset="0"/>
              </a:rPr>
              <a:t> </a:t>
            </a:r>
            <a:r>
              <a:rPr lang="da-DK" dirty="0" err="1">
                <a:cs typeface="Courier New" pitchFamily="49" charset="0"/>
              </a:rPr>
              <a:t>starting</a:t>
            </a:r>
            <a:r>
              <a:rPr lang="da-DK" dirty="0">
                <a:cs typeface="Courier New" pitchFamily="49" charset="0"/>
              </a:rPr>
              <a:t> with the </a:t>
            </a:r>
            <a:r>
              <a:rPr lang="da-DK" i="1" dirty="0" err="1">
                <a:cs typeface="Courier New" pitchFamily="49" charset="0"/>
              </a:rPr>
              <a:t>rightmost</a:t>
            </a:r>
            <a:r>
              <a:rPr lang="da-DK" i="1" dirty="0">
                <a:cs typeface="Courier New" pitchFamily="49" charset="0"/>
              </a:rPr>
              <a:t> </a:t>
            </a:r>
            <a:r>
              <a:rPr lang="da-DK" i="1" dirty="0" err="1">
                <a:cs typeface="Courier New" pitchFamily="49" charset="0"/>
              </a:rPr>
              <a:t>deepest</a:t>
            </a:r>
            <a:r>
              <a:rPr lang="da-DK" i="1" dirty="0">
                <a:cs typeface="Courier New" pitchFamily="49" charset="0"/>
              </a:rPr>
              <a:t> </a:t>
            </a:r>
            <a:r>
              <a:rPr lang="da-DK" i="1" dirty="0" err="1">
                <a:cs typeface="Courier New" pitchFamily="49" charset="0"/>
              </a:rPr>
              <a:t>which</a:t>
            </a:r>
            <a:r>
              <a:rPr lang="da-DK" i="1" dirty="0">
                <a:cs typeface="Courier New" pitchFamily="49" charset="0"/>
              </a:rPr>
              <a:t> is not a </a:t>
            </a:r>
            <a:r>
              <a:rPr lang="da-DK" i="1" dirty="0" err="1">
                <a:cs typeface="Courier New" pitchFamily="49" charset="0"/>
              </a:rPr>
              <a:t>leaf</a:t>
            </a:r>
            <a:r>
              <a:rPr lang="da-DK" dirty="0">
                <a:cs typeface="Courier New" pitchFamily="49" charset="0"/>
              </a:rPr>
              <a:t>.</a:t>
            </a:r>
          </a:p>
          <a:p>
            <a:r>
              <a:rPr lang="da-DK" dirty="0"/>
              <a:t>Building the </a:t>
            </a:r>
            <a:r>
              <a:rPr lang="da-DK" dirty="0" err="1"/>
              <a:t>heap</a:t>
            </a:r>
            <a:r>
              <a:rPr lang="da-DK" dirty="0"/>
              <a:t> is O(N).</a:t>
            </a:r>
            <a:endParaRPr lang="da-DK" dirty="0">
              <a:cs typeface="Courier New" pitchFamily="49" charset="0"/>
            </a:endParaRPr>
          </a:p>
          <a:p>
            <a:pPr>
              <a:buNone/>
            </a:pPr>
            <a:endParaRPr lang="da-DK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D819BC2-4616-4631-9DB2-2914D28C6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Why</a:t>
            </a:r>
            <a:r>
              <a:rPr lang="da-DK" dirty="0"/>
              <a:t> is </a:t>
            </a:r>
            <a:r>
              <a:rPr lang="da-DK" i="1" dirty="0" err="1"/>
              <a:t>buildHeap</a:t>
            </a:r>
            <a:r>
              <a:rPr lang="da-DK" dirty="0"/>
              <a:t>() </a:t>
            </a:r>
            <a:r>
              <a:rPr lang="da-DK" dirty="0" err="1"/>
              <a:t>important</a:t>
            </a:r>
            <a:r>
              <a:rPr lang="da-DK" dirty="0"/>
              <a:t>?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416E5C-5FB1-4B57-B463-C1E43257E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Sorting</a:t>
            </a:r>
            <a:r>
              <a:rPr lang="da-DK" dirty="0"/>
              <a:t> is an </a:t>
            </a:r>
            <a:r>
              <a:rPr lang="da-DK" dirty="0" err="1"/>
              <a:t>extremely</a:t>
            </a:r>
            <a:r>
              <a:rPr lang="da-DK" dirty="0"/>
              <a:t> </a:t>
            </a:r>
            <a:r>
              <a:rPr lang="da-DK" dirty="0" err="1"/>
              <a:t>important</a:t>
            </a:r>
            <a:r>
              <a:rPr lang="da-DK" dirty="0"/>
              <a:t> </a:t>
            </a:r>
            <a:r>
              <a:rPr lang="da-DK" dirty="0" err="1"/>
              <a:t>exercise</a:t>
            </a:r>
            <a:r>
              <a:rPr lang="da-DK" dirty="0"/>
              <a:t>.</a:t>
            </a:r>
          </a:p>
          <a:p>
            <a:r>
              <a:rPr lang="da-DK" dirty="0"/>
              <a:t>Trivial </a:t>
            </a:r>
            <a:r>
              <a:rPr lang="da-DK" dirty="0" err="1"/>
              <a:t>sorting</a:t>
            </a:r>
            <a:r>
              <a:rPr lang="da-DK" dirty="0"/>
              <a:t> </a:t>
            </a:r>
            <a:r>
              <a:rPr lang="da-DK" dirty="0" err="1"/>
              <a:t>algorithms</a:t>
            </a:r>
            <a:r>
              <a:rPr lang="da-DK" dirty="0"/>
              <a:t> have </a:t>
            </a:r>
            <a:r>
              <a:rPr lang="da-DK" dirty="0" err="1"/>
              <a:t>quadratic</a:t>
            </a:r>
            <a:r>
              <a:rPr lang="da-DK" dirty="0"/>
              <a:t> time </a:t>
            </a:r>
            <a:r>
              <a:rPr lang="da-DK" dirty="0" err="1"/>
              <a:t>complexity</a:t>
            </a:r>
            <a:r>
              <a:rPr lang="da-DK" dirty="0"/>
              <a:t>.</a:t>
            </a:r>
          </a:p>
          <a:p>
            <a:r>
              <a:rPr lang="da-DK" dirty="0"/>
              <a:t>Using </a:t>
            </a:r>
            <a:r>
              <a:rPr lang="da-DK" dirty="0" err="1"/>
              <a:t>buildHeap</a:t>
            </a:r>
            <a:r>
              <a:rPr lang="da-DK" dirty="0"/>
              <a:t>()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achieve</a:t>
            </a:r>
            <a:r>
              <a:rPr lang="da-DK" dirty="0"/>
              <a:t> O(N log N).</a:t>
            </a:r>
          </a:p>
          <a:p>
            <a:r>
              <a:rPr lang="da-DK" dirty="0"/>
              <a:t>First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build</a:t>
            </a:r>
            <a:r>
              <a:rPr lang="da-DK" dirty="0"/>
              <a:t> a </a:t>
            </a:r>
            <a:r>
              <a:rPr lang="da-DK" dirty="0" err="1"/>
              <a:t>heap</a:t>
            </a:r>
            <a:r>
              <a:rPr lang="da-DK" dirty="0"/>
              <a:t> from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unsorted</a:t>
            </a:r>
            <a:r>
              <a:rPr lang="da-DK" dirty="0"/>
              <a:t> </a:t>
            </a:r>
            <a:r>
              <a:rPr lang="da-DK" dirty="0" err="1"/>
              <a:t>numbers</a:t>
            </a:r>
            <a:r>
              <a:rPr lang="da-DK" dirty="0"/>
              <a:t>.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takes</a:t>
            </a:r>
            <a:r>
              <a:rPr lang="da-DK" dirty="0"/>
              <a:t> N operations.</a:t>
            </a:r>
          </a:p>
          <a:p>
            <a:r>
              <a:rPr lang="da-DK" dirty="0" err="1"/>
              <a:t>Then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call</a:t>
            </a:r>
            <a:r>
              <a:rPr lang="da-DK" dirty="0"/>
              <a:t> </a:t>
            </a:r>
            <a:r>
              <a:rPr lang="da-DK" dirty="0" err="1"/>
              <a:t>deleteMin</a:t>
            </a:r>
            <a:r>
              <a:rPr lang="da-DK" dirty="0"/>
              <a:t>() on all elements.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takes</a:t>
            </a:r>
            <a:r>
              <a:rPr lang="da-DK" dirty="0"/>
              <a:t> N log N operations. And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numbers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sorted</a:t>
            </a:r>
            <a:r>
              <a:rPr lang="da-DK" dirty="0"/>
              <a:t>.</a:t>
            </a:r>
          </a:p>
          <a:p>
            <a:r>
              <a:rPr lang="da-DK" dirty="0"/>
              <a:t>N + N log(N) -&gt; O(N log N).</a:t>
            </a:r>
          </a:p>
        </p:txBody>
      </p:sp>
    </p:spTree>
    <p:extLst>
      <p:ext uri="{BB962C8B-B14F-4D97-AF65-F5344CB8AC3E}">
        <p14:creationId xmlns:p14="http://schemas.microsoft.com/office/powerpoint/2010/main" val="3533558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Inversion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847527" y="1600201"/>
            <a:ext cx="9191947" cy="4525963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da-DK" dirty="0"/>
              <a:t>	</a:t>
            </a:r>
            <a:r>
              <a:rPr lang="da-DK" dirty="0" err="1"/>
              <a:t>Take</a:t>
            </a:r>
            <a:r>
              <a:rPr lang="da-DK" dirty="0"/>
              <a:t> a look at </a:t>
            </a:r>
            <a:r>
              <a:rPr lang="da-DK" dirty="0" err="1"/>
              <a:t>this</a:t>
            </a:r>
            <a:r>
              <a:rPr lang="da-DK" dirty="0"/>
              <a:t> list of </a:t>
            </a:r>
            <a:r>
              <a:rPr lang="da-DK" dirty="0" err="1"/>
              <a:t>integers</a:t>
            </a:r>
            <a:r>
              <a:rPr lang="da-DK" dirty="0"/>
              <a:t>: </a:t>
            </a:r>
          </a:p>
          <a:p>
            <a:pPr algn="ctr">
              <a:buNone/>
            </a:pPr>
            <a:r>
              <a:rPr lang="da-DK" dirty="0"/>
              <a:t>34, 8, 64, 51, 32, 21</a:t>
            </a:r>
          </a:p>
          <a:p>
            <a:pPr>
              <a:buNone/>
            </a:pPr>
            <a:r>
              <a:rPr lang="da-DK" dirty="0"/>
              <a:t>	The </a:t>
            </a:r>
            <a:r>
              <a:rPr lang="da-DK" dirty="0" err="1"/>
              <a:t>numbers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clearly</a:t>
            </a:r>
            <a:r>
              <a:rPr lang="da-DK" dirty="0"/>
              <a:t> </a:t>
            </a:r>
            <a:r>
              <a:rPr lang="da-DK" dirty="0" err="1"/>
              <a:t>unsorted</a:t>
            </a:r>
            <a:r>
              <a:rPr lang="da-DK" dirty="0"/>
              <a:t> so </a:t>
            </a:r>
            <a:r>
              <a:rPr lang="da-DK" dirty="0" err="1"/>
              <a:t>let’s</a:t>
            </a:r>
            <a:r>
              <a:rPr lang="da-DK" dirty="0"/>
              <a:t> </a:t>
            </a:r>
            <a:r>
              <a:rPr lang="da-DK" dirty="0" err="1"/>
              <a:t>see</a:t>
            </a:r>
            <a:r>
              <a:rPr lang="da-DK" dirty="0"/>
              <a:t> 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measure out just </a:t>
            </a:r>
            <a:r>
              <a:rPr lang="da-DK" dirty="0" err="1"/>
              <a:t>how</a:t>
            </a:r>
            <a:r>
              <a:rPr lang="da-DK" dirty="0"/>
              <a:t> </a:t>
            </a:r>
            <a:r>
              <a:rPr lang="da-DK" dirty="0" err="1"/>
              <a:t>unsorted</a:t>
            </a:r>
            <a:r>
              <a:rPr lang="da-DK" dirty="0"/>
              <a:t> </a:t>
            </a:r>
            <a:r>
              <a:rPr lang="da-DK" dirty="0" err="1"/>
              <a:t>they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.</a:t>
            </a:r>
          </a:p>
          <a:p>
            <a:pPr>
              <a:buNone/>
            </a:pPr>
            <a:r>
              <a:rPr lang="da-DK" dirty="0"/>
              <a:t>	To </a:t>
            </a:r>
            <a:r>
              <a:rPr lang="da-DK" dirty="0" err="1"/>
              <a:t>assist</a:t>
            </a:r>
            <a:r>
              <a:rPr lang="da-DK" dirty="0"/>
              <a:t> </a:t>
            </a:r>
            <a:r>
              <a:rPr lang="da-DK" dirty="0" err="1"/>
              <a:t>us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define</a:t>
            </a:r>
            <a:r>
              <a:rPr lang="da-DK" dirty="0"/>
              <a:t> a </a:t>
            </a:r>
            <a:r>
              <a:rPr lang="da-DK" dirty="0" err="1"/>
              <a:t>concept</a:t>
            </a:r>
            <a:r>
              <a:rPr lang="da-DK" dirty="0"/>
              <a:t>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i="1" dirty="0"/>
              <a:t>inversion</a:t>
            </a:r>
            <a:r>
              <a:rPr lang="da-DK" dirty="0"/>
              <a:t>. An inversion is an </a:t>
            </a:r>
            <a:r>
              <a:rPr lang="da-DK" dirty="0" err="1"/>
              <a:t>ordered</a:t>
            </a:r>
            <a:r>
              <a:rPr lang="da-DK" dirty="0"/>
              <a:t> pair of </a:t>
            </a:r>
            <a:r>
              <a:rPr lang="da-DK" dirty="0" err="1"/>
              <a:t>numbers</a:t>
            </a:r>
            <a:r>
              <a:rPr lang="da-DK" dirty="0"/>
              <a:t> (</a:t>
            </a:r>
            <a:r>
              <a:rPr lang="da-DK" dirty="0" err="1"/>
              <a:t>i,j</a:t>
            </a:r>
            <a:r>
              <a:rPr lang="da-DK" dirty="0"/>
              <a:t>), for </a:t>
            </a:r>
            <a:r>
              <a:rPr lang="da-DK" dirty="0" err="1"/>
              <a:t>which</a:t>
            </a:r>
            <a:r>
              <a:rPr lang="da-DK" dirty="0"/>
              <a:t> i &lt; j, but a[i] &gt; a[j].</a:t>
            </a:r>
          </a:p>
          <a:p>
            <a:pPr>
              <a:buNone/>
            </a:pPr>
            <a:r>
              <a:rPr lang="da-DK" dirty="0"/>
              <a:t>	In </a:t>
            </a:r>
            <a:r>
              <a:rPr lang="da-DK" dirty="0" err="1"/>
              <a:t>our</a:t>
            </a:r>
            <a:r>
              <a:rPr lang="da-DK" dirty="0"/>
              <a:t> </a:t>
            </a:r>
            <a:r>
              <a:rPr lang="da-DK" dirty="0" err="1"/>
              <a:t>example</a:t>
            </a:r>
            <a:r>
              <a:rPr lang="da-DK" dirty="0"/>
              <a:t> the </a:t>
            </a:r>
            <a:r>
              <a:rPr lang="da-DK" dirty="0" err="1"/>
              <a:t>following</a:t>
            </a:r>
            <a:r>
              <a:rPr lang="da-DK" dirty="0"/>
              <a:t> inversions </a:t>
            </a:r>
            <a:r>
              <a:rPr lang="da-DK" dirty="0" err="1"/>
              <a:t>occur</a:t>
            </a:r>
            <a:r>
              <a:rPr lang="da-DK" dirty="0"/>
              <a:t>:</a:t>
            </a:r>
          </a:p>
          <a:p>
            <a:pPr>
              <a:buNone/>
            </a:pPr>
            <a:r>
              <a:rPr lang="da-DK" dirty="0"/>
              <a:t> </a:t>
            </a:r>
          </a:p>
          <a:p>
            <a:pPr>
              <a:buNone/>
            </a:pPr>
            <a:r>
              <a:rPr lang="da-DK" dirty="0"/>
              <a:t>(34,8) (34,32) (34,21) (64,51) (64,32) (64,21) (51,32) (51,21) (32,21)</a:t>
            </a:r>
          </a:p>
          <a:p>
            <a:endParaRPr lang="da-DK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Sorting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The more inversions the list </a:t>
            </a:r>
            <a:r>
              <a:rPr lang="da-DK" dirty="0" err="1"/>
              <a:t>contains</a:t>
            </a:r>
            <a:r>
              <a:rPr lang="da-DK" dirty="0"/>
              <a:t>, the more </a:t>
            </a:r>
            <a:r>
              <a:rPr lang="da-DK" dirty="0" err="1"/>
              <a:t>unsorted</a:t>
            </a:r>
            <a:r>
              <a:rPr lang="da-DK" dirty="0"/>
              <a:t> it is. </a:t>
            </a:r>
          </a:p>
          <a:p>
            <a:r>
              <a:rPr lang="da-DK" dirty="0"/>
              <a:t>The </a:t>
            </a:r>
            <a:r>
              <a:rPr lang="da-DK" dirty="0" err="1"/>
              <a:t>discipline</a:t>
            </a:r>
            <a:r>
              <a:rPr lang="da-DK" dirty="0"/>
              <a:t> of </a:t>
            </a:r>
            <a:r>
              <a:rPr lang="da-DK" dirty="0" err="1"/>
              <a:t>sorting</a:t>
            </a:r>
            <a:r>
              <a:rPr lang="da-DK" dirty="0"/>
              <a:t> is to </a:t>
            </a:r>
            <a:r>
              <a:rPr lang="da-DK" dirty="0" err="1"/>
              <a:t>reduce</a:t>
            </a:r>
            <a:r>
              <a:rPr lang="da-DK" dirty="0"/>
              <a:t> the </a:t>
            </a:r>
            <a:r>
              <a:rPr lang="da-DK" dirty="0" err="1"/>
              <a:t>number</a:t>
            </a:r>
            <a:r>
              <a:rPr lang="da-DK" dirty="0"/>
              <a:t> of inversions in a list of </a:t>
            </a:r>
            <a:r>
              <a:rPr lang="da-DK" dirty="0" err="1"/>
              <a:t>integers</a:t>
            </a:r>
            <a:r>
              <a:rPr lang="da-DK" dirty="0"/>
              <a:t> to </a:t>
            </a:r>
            <a:r>
              <a:rPr lang="da-DK" dirty="0" err="1"/>
              <a:t>zero</a:t>
            </a:r>
            <a:r>
              <a:rPr lang="da-DK" dirty="0"/>
              <a:t>.</a:t>
            </a:r>
          </a:p>
          <a:p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More </a:t>
            </a:r>
            <a:r>
              <a:rPr lang="da-DK" dirty="0" err="1"/>
              <a:t>about</a:t>
            </a:r>
            <a:r>
              <a:rPr lang="da-DK" dirty="0"/>
              <a:t> inversions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The average </a:t>
            </a:r>
            <a:r>
              <a:rPr lang="da-DK" dirty="0" err="1"/>
              <a:t>number</a:t>
            </a:r>
            <a:r>
              <a:rPr lang="da-DK" dirty="0"/>
              <a:t> of inversions in a list of N </a:t>
            </a:r>
            <a:r>
              <a:rPr lang="da-DK" dirty="0" err="1"/>
              <a:t>distinct</a:t>
            </a:r>
            <a:r>
              <a:rPr lang="da-DK" dirty="0"/>
              <a:t> </a:t>
            </a:r>
            <a:r>
              <a:rPr lang="da-DK" dirty="0" err="1"/>
              <a:t>integers</a:t>
            </a:r>
            <a:r>
              <a:rPr lang="da-DK" dirty="0"/>
              <a:t> is N(N-1)/4.</a:t>
            </a:r>
          </a:p>
          <a:p>
            <a:r>
              <a:rPr lang="da-DK" dirty="0"/>
              <a:t>If </a:t>
            </a:r>
            <a:r>
              <a:rPr lang="da-DK" dirty="0" err="1"/>
              <a:t>one</a:t>
            </a:r>
            <a:r>
              <a:rPr lang="da-DK" dirty="0"/>
              <a:t> operation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eliminate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inversion, </a:t>
            </a:r>
            <a:r>
              <a:rPr lang="da-DK" dirty="0" err="1"/>
              <a:t>that</a:t>
            </a:r>
            <a:r>
              <a:rPr lang="da-DK" dirty="0"/>
              <a:t> kind of </a:t>
            </a:r>
            <a:r>
              <a:rPr lang="da-DK" dirty="0" err="1"/>
              <a:t>sorting</a:t>
            </a:r>
            <a:r>
              <a:rPr lang="da-DK" dirty="0"/>
              <a:t> must have </a:t>
            </a:r>
            <a:r>
              <a:rPr lang="da-DK" dirty="0" err="1"/>
              <a:t>quadratic</a:t>
            </a:r>
            <a:r>
              <a:rPr lang="da-DK" dirty="0"/>
              <a:t> time </a:t>
            </a:r>
            <a:r>
              <a:rPr lang="da-DK" dirty="0" err="1"/>
              <a:t>complexity</a:t>
            </a:r>
            <a:r>
              <a:rPr lang="da-DK" dirty="0"/>
              <a:t>.</a:t>
            </a:r>
          </a:p>
          <a:p>
            <a:r>
              <a:rPr lang="da-DK" dirty="0"/>
              <a:t>If more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inversion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removed in </a:t>
            </a:r>
            <a:r>
              <a:rPr lang="da-DK" dirty="0" err="1"/>
              <a:t>one</a:t>
            </a:r>
            <a:r>
              <a:rPr lang="da-DK" dirty="0"/>
              <a:t> operation,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might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do </a:t>
            </a:r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quadratic</a:t>
            </a:r>
            <a:r>
              <a:rPr lang="da-DK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276873"/>
            <a:ext cx="8229600" cy="3849291"/>
          </a:xfrm>
        </p:spPr>
        <p:txBody>
          <a:bodyPr/>
          <a:lstStyle/>
          <a:p>
            <a:pPr algn="ctr">
              <a:buNone/>
            </a:pPr>
            <a:r>
              <a:rPr lang="da-DK" sz="4000" err="1"/>
              <a:t>Insertionsort</a:t>
            </a:r>
            <a:endParaRPr lang="da-DK" sz="4000"/>
          </a:p>
          <a:p>
            <a:pPr algn="ctr">
              <a:buNone/>
            </a:pPr>
            <a:r>
              <a:rPr lang="da-DK" sz="4000" err="1"/>
              <a:t>Selectionsort</a:t>
            </a:r>
            <a:endParaRPr lang="da-DK" sz="4000"/>
          </a:p>
          <a:p>
            <a:pPr algn="ctr">
              <a:buNone/>
            </a:pPr>
            <a:r>
              <a:rPr lang="da-DK" sz="4000" err="1"/>
              <a:t>Bubblesort</a:t>
            </a:r>
            <a:endParaRPr lang="da-DK" sz="4000"/>
          </a:p>
          <a:p>
            <a:pPr algn="ctr">
              <a:buNone/>
            </a:pPr>
            <a:endParaRPr lang="da-DK" sz="4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O(N </a:t>
            </a:r>
            <a:r>
              <a:rPr lang="da-DK" dirty="0" err="1"/>
              <a:t>logN</a:t>
            </a:r>
            <a:r>
              <a:rPr lang="da-DK" dirty="0"/>
              <a:t>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da-DK" sz="4000"/>
              <a:t>Mergesort</a:t>
            </a:r>
          </a:p>
          <a:p>
            <a:pPr algn="ctr">
              <a:buNone/>
            </a:pPr>
            <a:r>
              <a:rPr lang="da-DK" sz="4000"/>
              <a:t>Heapsort</a:t>
            </a:r>
          </a:p>
          <a:p>
            <a:pPr algn="ctr">
              <a:buNone/>
            </a:pPr>
            <a:r>
              <a:rPr lang="da-DK" sz="4000"/>
              <a:t>Quicksort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>
                <a:latin typeface="Times New Roman" pitchFamily="18" charset="0"/>
                <a:cs typeface="Times New Roman" pitchFamily="18" charset="0"/>
              </a:rPr>
              <a:t>bucketSort</a:t>
            </a:r>
            <a:r>
              <a:rPr lang="da-DK" dirty="0">
                <a:latin typeface="Times New Roman" pitchFamily="18" charset="0"/>
                <a:cs typeface="Times New Roman" pitchFamily="18" charset="0"/>
              </a:rPr>
              <a:t>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Under </a:t>
            </a:r>
            <a:r>
              <a:rPr lang="da-DK" dirty="0" err="1"/>
              <a:t>certain</a:t>
            </a:r>
            <a:r>
              <a:rPr lang="da-DK" dirty="0"/>
              <a:t> </a:t>
            </a:r>
            <a:r>
              <a:rPr lang="da-DK" dirty="0" err="1"/>
              <a:t>circumstances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do </a:t>
            </a:r>
            <a:r>
              <a:rPr lang="da-DK" dirty="0" err="1"/>
              <a:t>better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O(N log N).</a:t>
            </a:r>
          </a:p>
          <a:p>
            <a:r>
              <a:rPr lang="da-DK" dirty="0"/>
              <a:t>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need</a:t>
            </a:r>
            <a:r>
              <a:rPr lang="da-DK" dirty="0"/>
              <a:t> to sort positive </a:t>
            </a:r>
            <a:r>
              <a:rPr lang="da-DK" dirty="0" err="1"/>
              <a:t>integers</a:t>
            </a:r>
            <a:r>
              <a:rPr lang="da-DK" dirty="0"/>
              <a:t> with a </a:t>
            </a:r>
            <a:r>
              <a:rPr lang="da-DK" dirty="0" err="1"/>
              <a:t>maximum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 dirty="0"/>
              <a:t> M,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solve</a:t>
            </a:r>
            <a:r>
              <a:rPr lang="da-DK" dirty="0"/>
              <a:t> the problem by </a:t>
            </a:r>
            <a:r>
              <a:rPr lang="da-DK" dirty="0" err="1"/>
              <a:t>creating</a:t>
            </a:r>
            <a:r>
              <a:rPr lang="da-DK" dirty="0"/>
              <a:t> an array </a:t>
            </a:r>
            <a:r>
              <a:rPr lang="da-DK" dirty="0" err="1"/>
              <a:t>sized</a:t>
            </a:r>
            <a:r>
              <a:rPr lang="da-DK" dirty="0"/>
              <a:t> M. </a:t>
            </a:r>
          </a:p>
          <a:p>
            <a:r>
              <a:rPr lang="da-DK" dirty="0"/>
              <a:t>The </a:t>
            </a:r>
            <a:r>
              <a:rPr lang="da-DK" dirty="0" err="1"/>
              <a:t>numbers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read</a:t>
            </a:r>
            <a:r>
              <a:rPr lang="da-DK" dirty="0"/>
              <a:t> from </a:t>
            </a:r>
            <a:r>
              <a:rPr lang="da-DK" dirty="0" err="1"/>
              <a:t>one</a:t>
            </a:r>
            <a:r>
              <a:rPr lang="da-DK" dirty="0"/>
              <a:t> end to the </a:t>
            </a:r>
            <a:r>
              <a:rPr lang="da-DK" dirty="0" err="1"/>
              <a:t>other</a:t>
            </a:r>
            <a:r>
              <a:rPr lang="da-DK" dirty="0"/>
              <a:t> and </a:t>
            </a:r>
            <a:r>
              <a:rPr lang="da-DK" dirty="0" err="1"/>
              <a:t>reading</a:t>
            </a:r>
            <a:r>
              <a:rPr lang="da-DK" dirty="0"/>
              <a:t> </a:t>
            </a:r>
            <a:r>
              <a:rPr lang="da-DK" dirty="0" err="1"/>
              <a:t>value</a:t>
            </a:r>
            <a:r>
              <a:rPr lang="da-DK"/>
              <a:t> X, </a:t>
            </a:r>
            <a:r>
              <a:rPr lang="da-DK" dirty="0" err="1"/>
              <a:t>index</a:t>
            </a:r>
            <a:r>
              <a:rPr lang="da-DK" dirty="0"/>
              <a:t> X in M is </a:t>
            </a:r>
            <a:r>
              <a:rPr lang="da-DK" dirty="0" err="1"/>
              <a:t>incremented</a:t>
            </a:r>
            <a:r>
              <a:rPr lang="da-DK" dirty="0"/>
              <a:t> by </a:t>
            </a:r>
            <a:r>
              <a:rPr lang="da-DK" dirty="0" err="1"/>
              <a:t>one</a:t>
            </a:r>
            <a:r>
              <a:rPr lang="da-DK" dirty="0"/>
              <a:t>. </a:t>
            </a:r>
          </a:p>
          <a:p>
            <a:r>
              <a:rPr lang="da-DK" dirty="0" err="1"/>
              <a:t>When</a:t>
            </a:r>
            <a:r>
              <a:rPr lang="da-DK" dirty="0"/>
              <a:t> all the </a:t>
            </a:r>
            <a:r>
              <a:rPr lang="da-DK" dirty="0" err="1"/>
              <a:t>numbers</a:t>
            </a:r>
            <a:r>
              <a:rPr lang="da-DK" dirty="0"/>
              <a:t> have </a:t>
            </a:r>
            <a:r>
              <a:rPr lang="da-DK" dirty="0" err="1"/>
              <a:t>been</a:t>
            </a:r>
            <a:r>
              <a:rPr lang="da-DK" dirty="0"/>
              <a:t> </a:t>
            </a:r>
            <a:r>
              <a:rPr lang="da-DK" dirty="0" err="1"/>
              <a:t>read</a:t>
            </a:r>
            <a:r>
              <a:rPr lang="da-DK" dirty="0"/>
              <a:t>, the array is output in </a:t>
            </a:r>
            <a:r>
              <a:rPr lang="da-DK" dirty="0" err="1"/>
              <a:t>accordance</a:t>
            </a:r>
            <a:r>
              <a:rPr lang="da-DK" dirty="0"/>
              <a:t> with the </a:t>
            </a:r>
            <a:r>
              <a:rPr lang="da-DK" dirty="0" err="1"/>
              <a:t>number</a:t>
            </a:r>
            <a:r>
              <a:rPr lang="da-DK" dirty="0"/>
              <a:t> of </a:t>
            </a:r>
            <a:r>
              <a:rPr lang="da-DK" dirty="0" err="1"/>
              <a:t>occurrences</a:t>
            </a:r>
            <a:r>
              <a:rPr lang="da-DK" dirty="0"/>
              <a:t> in the </a:t>
            </a:r>
            <a:r>
              <a:rPr lang="da-DK" dirty="0" err="1"/>
              <a:t>indexes</a:t>
            </a:r>
            <a:r>
              <a:rPr lang="da-DK" dirty="0"/>
              <a:t>. </a:t>
            </a:r>
          </a:p>
          <a:p>
            <a:r>
              <a:rPr lang="da-DK" dirty="0"/>
              <a:t>Time </a:t>
            </a:r>
            <a:r>
              <a:rPr lang="da-DK" dirty="0" err="1"/>
              <a:t>complexity</a:t>
            </a:r>
            <a:r>
              <a:rPr lang="da-DK" dirty="0"/>
              <a:t> O(M+N) -&gt; O(N).</a:t>
            </a:r>
          </a:p>
        </p:txBody>
      </p:sp>
    </p:spTree>
    <p:extLst>
      <p:ext uri="{BB962C8B-B14F-4D97-AF65-F5344CB8AC3E}">
        <p14:creationId xmlns:p14="http://schemas.microsoft.com/office/powerpoint/2010/main" val="186706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Conclusion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/>
              <a:t>Inversions</a:t>
            </a:r>
          </a:p>
          <a:p>
            <a:r>
              <a:rPr lang="da-DK" dirty="0"/>
              <a:t>O(N</a:t>
            </a:r>
            <a:r>
              <a:rPr lang="da-DK" baseline="30000" dirty="0"/>
              <a:t>2</a:t>
            </a:r>
            <a:r>
              <a:rPr lang="da-DK" dirty="0"/>
              <a:t>)</a:t>
            </a:r>
          </a:p>
          <a:p>
            <a:r>
              <a:rPr lang="da-DK" dirty="0"/>
              <a:t>O(N log N)</a:t>
            </a:r>
          </a:p>
          <a:p>
            <a:r>
              <a:rPr lang="da-DK" dirty="0"/>
              <a:t>O(N)</a:t>
            </a:r>
          </a:p>
          <a:p>
            <a:r>
              <a:rPr lang="da-DK" dirty="0" err="1"/>
              <a:t>Choose</a:t>
            </a:r>
            <a:r>
              <a:rPr lang="da-DK" dirty="0"/>
              <a:t> the most </a:t>
            </a:r>
            <a:r>
              <a:rPr lang="da-DK" dirty="0" err="1"/>
              <a:t>appropriate</a:t>
            </a:r>
            <a:r>
              <a:rPr lang="da-DK" dirty="0"/>
              <a:t> </a:t>
            </a:r>
            <a:r>
              <a:rPr lang="da-DK" dirty="0" err="1"/>
              <a:t>considering</a:t>
            </a:r>
            <a:r>
              <a:rPr lang="da-DK" dirty="0"/>
              <a:t> the </a:t>
            </a:r>
            <a:r>
              <a:rPr lang="da-DK" dirty="0" err="1"/>
              <a:t>circumstances</a:t>
            </a:r>
            <a:r>
              <a:rPr lang="da-DK" dirty="0"/>
              <a:t>.</a:t>
            </a:r>
          </a:p>
          <a:p>
            <a:r>
              <a:rPr lang="da-DK" dirty="0"/>
              <a:t>The </a:t>
            </a:r>
            <a:r>
              <a:rPr lang="da-DK" dirty="0" err="1"/>
              <a:t>issue</a:t>
            </a:r>
            <a:r>
              <a:rPr lang="da-DK" dirty="0"/>
              <a:t> is in most cases not </a:t>
            </a:r>
            <a:r>
              <a:rPr lang="da-DK" dirty="0" err="1"/>
              <a:t>essential</a:t>
            </a:r>
            <a:r>
              <a:rPr lang="da-DK" dirty="0"/>
              <a:t> if </a:t>
            </a:r>
            <a:r>
              <a:rPr lang="da-DK" dirty="0" err="1"/>
              <a:t>there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less</a:t>
            </a:r>
            <a:r>
              <a:rPr lang="da-DK" dirty="0"/>
              <a:t> </a:t>
            </a:r>
            <a:r>
              <a:rPr lang="da-DK" dirty="0" err="1"/>
              <a:t>than</a:t>
            </a:r>
            <a:r>
              <a:rPr lang="da-DK" dirty="0"/>
              <a:t> 10,000 elements, and </a:t>
            </a:r>
            <a:r>
              <a:rPr lang="da-DK" dirty="0" err="1"/>
              <a:t>sorting</a:t>
            </a:r>
            <a:r>
              <a:rPr lang="da-DK" dirty="0"/>
              <a:t> </a:t>
            </a:r>
            <a:r>
              <a:rPr lang="da-DK" dirty="0" err="1"/>
              <a:t>thus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performed</a:t>
            </a:r>
            <a:r>
              <a:rPr lang="da-DK" dirty="0"/>
              <a:t> in </a:t>
            </a:r>
            <a:r>
              <a:rPr lang="da-DK" dirty="0" err="1"/>
              <a:t>memory</a:t>
            </a:r>
            <a:r>
              <a:rPr lang="da-DK" dirty="0"/>
              <a:t>.</a:t>
            </a:r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1524001" y="43934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696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Introduction</a:t>
            </a:r>
            <a:r>
              <a:rPr lang="da-DK" dirty="0"/>
              <a:t> to </a:t>
            </a:r>
            <a:r>
              <a:rPr lang="da-DK" dirty="0" err="1"/>
              <a:t>trees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Linked</a:t>
            </a:r>
            <a:r>
              <a:rPr lang="da-DK" dirty="0"/>
              <a:t> lists with </a:t>
            </a:r>
            <a:r>
              <a:rPr lang="da-DK" dirty="0" err="1"/>
              <a:t>their</a:t>
            </a:r>
            <a:r>
              <a:rPr lang="da-DK" dirty="0"/>
              <a:t> </a:t>
            </a:r>
            <a:r>
              <a:rPr lang="da-DK" dirty="0" err="1"/>
              <a:t>linear</a:t>
            </a:r>
            <a:r>
              <a:rPr lang="da-DK" dirty="0"/>
              <a:t> </a:t>
            </a:r>
            <a:r>
              <a:rPr lang="da-DK" dirty="0" err="1"/>
              <a:t>access</a:t>
            </a:r>
            <a:r>
              <a:rPr lang="da-DK" dirty="0"/>
              <a:t> time </a:t>
            </a:r>
            <a:r>
              <a:rPr lang="da-DK" dirty="0" err="1"/>
              <a:t>are</a:t>
            </a:r>
            <a:r>
              <a:rPr lang="da-DK" dirty="0"/>
              <a:t> not </a:t>
            </a:r>
            <a:r>
              <a:rPr lang="da-DK" dirty="0" err="1"/>
              <a:t>feasible</a:t>
            </a:r>
            <a:r>
              <a:rPr lang="da-DK" dirty="0"/>
              <a:t> for large </a:t>
            </a:r>
            <a:r>
              <a:rPr lang="da-DK" dirty="0" err="1"/>
              <a:t>amounts</a:t>
            </a:r>
            <a:r>
              <a:rPr lang="da-DK" dirty="0"/>
              <a:t> of data.</a:t>
            </a:r>
          </a:p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could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a simple data </a:t>
            </a:r>
            <a:r>
              <a:rPr lang="da-DK" dirty="0" err="1"/>
              <a:t>structure</a:t>
            </a:r>
            <a:r>
              <a:rPr lang="da-DK" dirty="0"/>
              <a:t> with an </a:t>
            </a:r>
            <a:r>
              <a:rPr lang="da-DK" dirty="0" err="1"/>
              <a:t>access</a:t>
            </a:r>
            <a:r>
              <a:rPr lang="da-DK" dirty="0"/>
              <a:t> time of O(log N).</a:t>
            </a:r>
          </a:p>
          <a:p>
            <a:r>
              <a:rPr lang="da-DK" dirty="0"/>
              <a:t>An option is the </a:t>
            </a:r>
            <a:r>
              <a:rPr lang="da-DK" b="1" dirty="0" err="1"/>
              <a:t>binary</a:t>
            </a:r>
            <a:r>
              <a:rPr lang="da-DK" b="1" dirty="0"/>
              <a:t> </a:t>
            </a:r>
            <a:r>
              <a:rPr lang="da-DK" b="1" dirty="0" err="1"/>
              <a:t>search</a:t>
            </a:r>
            <a:r>
              <a:rPr lang="da-DK" b="1" dirty="0"/>
              <a:t> </a:t>
            </a:r>
            <a:r>
              <a:rPr lang="da-DK" b="1" dirty="0" err="1"/>
              <a:t>tree</a:t>
            </a:r>
            <a:r>
              <a:rPr lang="da-DK" dirty="0"/>
              <a:t>.</a:t>
            </a:r>
          </a:p>
          <a:p>
            <a:r>
              <a:rPr lang="da-DK" dirty="0"/>
              <a:t>In general </a:t>
            </a:r>
            <a:r>
              <a:rPr lang="da-DK" dirty="0" err="1"/>
              <a:t>trees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frequently</a:t>
            </a:r>
            <a:r>
              <a:rPr lang="da-DK" dirty="0"/>
              <a:t> </a:t>
            </a:r>
            <a:r>
              <a:rPr lang="da-DK" dirty="0" err="1"/>
              <a:t>used</a:t>
            </a:r>
            <a:r>
              <a:rPr lang="da-DK" dirty="0"/>
              <a:t> in computer </a:t>
            </a:r>
            <a:r>
              <a:rPr lang="da-DK" dirty="0" err="1"/>
              <a:t>applications</a:t>
            </a:r>
            <a:r>
              <a:rPr lang="da-DK" dirty="0"/>
              <a:t>.</a:t>
            </a:r>
          </a:p>
          <a:p>
            <a:r>
              <a:rPr lang="da-DK" dirty="0"/>
              <a:t>Collection </a:t>
            </a:r>
            <a:r>
              <a:rPr lang="da-DK" dirty="0" err="1"/>
              <a:t>classes</a:t>
            </a:r>
            <a:r>
              <a:rPr lang="da-DK" dirty="0"/>
              <a:t> </a:t>
            </a:r>
            <a:r>
              <a:rPr lang="da-DK" i="1" dirty="0"/>
              <a:t>set</a:t>
            </a:r>
            <a:r>
              <a:rPr lang="da-DK" dirty="0"/>
              <a:t> and </a:t>
            </a:r>
            <a:r>
              <a:rPr lang="da-DK" i="1" dirty="0" err="1"/>
              <a:t>map</a:t>
            </a:r>
            <a:r>
              <a:rPr lang="da-DK" dirty="0"/>
              <a:t> </a:t>
            </a:r>
            <a:r>
              <a:rPr lang="da-DK" dirty="0" err="1"/>
              <a:t>are</a:t>
            </a:r>
            <a:r>
              <a:rPr lang="da-DK" dirty="0"/>
              <a:t> </a:t>
            </a:r>
            <a:r>
              <a:rPr lang="da-DK" dirty="0" err="1"/>
              <a:t>based</a:t>
            </a:r>
            <a:r>
              <a:rPr lang="da-DK" dirty="0"/>
              <a:t> on </a:t>
            </a:r>
            <a:r>
              <a:rPr lang="da-DK" dirty="0" err="1"/>
              <a:t>trees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8647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tree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Definition: </a:t>
            </a:r>
            <a:r>
              <a:rPr lang="da-DK" i="1" dirty="0"/>
              <a:t>balance </a:t>
            </a:r>
            <a:r>
              <a:rPr lang="da-DK" i="1" dirty="0" err="1"/>
              <a:t>condition</a:t>
            </a:r>
            <a:r>
              <a:rPr lang="da-DK" i="1" dirty="0"/>
              <a:t> </a:t>
            </a:r>
            <a:r>
              <a:rPr lang="da-DK" dirty="0"/>
              <a:t>– the </a:t>
            </a:r>
            <a:r>
              <a:rPr lang="da-DK" dirty="0" err="1"/>
              <a:t>depth</a:t>
            </a:r>
            <a:r>
              <a:rPr lang="da-DK" dirty="0"/>
              <a:t> of the </a:t>
            </a:r>
            <a:r>
              <a:rPr lang="da-DK" dirty="0" err="1"/>
              <a:t>tree</a:t>
            </a:r>
            <a:r>
              <a:rPr lang="da-DK" dirty="0"/>
              <a:t> is O(log N).</a:t>
            </a:r>
          </a:p>
          <a:p>
            <a:r>
              <a:rPr lang="da-DK" dirty="0"/>
              <a:t>Thus the </a:t>
            </a:r>
            <a:r>
              <a:rPr lang="da-DK" dirty="0" err="1"/>
              <a:t>search</a:t>
            </a:r>
            <a:r>
              <a:rPr lang="da-DK" dirty="0"/>
              <a:t> time is </a:t>
            </a:r>
            <a:r>
              <a:rPr lang="da-DK" dirty="0" err="1"/>
              <a:t>likewise</a:t>
            </a:r>
            <a:r>
              <a:rPr lang="da-DK" dirty="0"/>
              <a:t> O(log N).</a:t>
            </a:r>
          </a:p>
          <a:p>
            <a:r>
              <a:rPr lang="da-DK" dirty="0"/>
              <a:t>This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ruined</a:t>
            </a:r>
            <a:r>
              <a:rPr lang="da-DK" dirty="0"/>
              <a:t> if the </a:t>
            </a:r>
            <a:r>
              <a:rPr lang="da-DK" dirty="0" err="1"/>
              <a:t>tree</a:t>
            </a:r>
            <a:r>
              <a:rPr lang="da-DK" dirty="0"/>
              <a:t> </a:t>
            </a:r>
            <a:r>
              <a:rPr lang="da-DK" dirty="0" err="1"/>
              <a:t>becomes</a:t>
            </a:r>
            <a:r>
              <a:rPr lang="da-DK" dirty="0"/>
              <a:t> </a:t>
            </a:r>
            <a:r>
              <a:rPr lang="da-DK" dirty="0" err="1"/>
              <a:t>left</a:t>
            </a:r>
            <a:r>
              <a:rPr lang="da-DK" dirty="0"/>
              <a:t>- or right-heavy due to </a:t>
            </a:r>
            <a:r>
              <a:rPr lang="da-DK" dirty="0" err="1"/>
              <a:t>consecutive</a:t>
            </a:r>
            <a:r>
              <a:rPr lang="da-DK" dirty="0"/>
              <a:t> </a:t>
            </a:r>
            <a:r>
              <a:rPr lang="da-DK" dirty="0" err="1"/>
              <a:t>deletions</a:t>
            </a:r>
            <a:r>
              <a:rPr lang="da-DK" dirty="0"/>
              <a:t> or </a:t>
            </a:r>
            <a:r>
              <a:rPr lang="da-DK" dirty="0" err="1"/>
              <a:t>insertions</a:t>
            </a:r>
            <a:r>
              <a:rPr lang="da-DK" dirty="0"/>
              <a:t>.</a:t>
            </a:r>
          </a:p>
          <a:p>
            <a:pPr>
              <a:buNone/>
            </a:pPr>
            <a:endParaRPr lang="da-D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Average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a-DK" dirty="0"/>
                  <a:t>The sum of the </a:t>
                </a:r>
                <a:r>
                  <a:rPr lang="da-DK" dirty="0" err="1"/>
                  <a:t>depths</a:t>
                </a:r>
                <a:r>
                  <a:rPr lang="da-DK" dirty="0"/>
                  <a:t> of all nodes is </a:t>
                </a:r>
                <a:r>
                  <a:rPr lang="da-DK" dirty="0" err="1"/>
                  <a:t>called</a:t>
                </a:r>
                <a:r>
                  <a:rPr lang="da-DK" dirty="0"/>
                  <a:t> the </a:t>
                </a:r>
                <a:r>
                  <a:rPr lang="da-DK" b="1" dirty="0" err="1"/>
                  <a:t>internal</a:t>
                </a:r>
                <a:r>
                  <a:rPr lang="da-DK" b="1" dirty="0"/>
                  <a:t> </a:t>
                </a:r>
                <a:r>
                  <a:rPr lang="da-DK" b="1" dirty="0" err="1"/>
                  <a:t>path</a:t>
                </a:r>
                <a:r>
                  <a:rPr lang="da-DK" b="1" dirty="0"/>
                  <a:t> </a:t>
                </a:r>
                <a:r>
                  <a:rPr lang="da-DK" b="1" dirty="0" err="1"/>
                  <a:t>length</a:t>
                </a:r>
                <a:r>
                  <a:rPr lang="da-DK" dirty="0"/>
                  <a:t> of the </a:t>
                </a:r>
                <a:r>
                  <a:rPr lang="da-DK" dirty="0" err="1"/>
                  <a:t>tree</a:t>
                </a:r>
                <a:r>
                  <a:rPr lang="da-DK" dirty="0"/>
                  <a:t> and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be</a:t>
                </a:r>
                <a:r>
                  <a:rPr lang="da-DK" dirty="0"/>
                  <a:t> </a:t>
                </a:r>
                <a:r>
                  <a:rPr lang="da-DK" dirty="0" err="1"/>
                  <a:t>denoted</a:t>
                </a:r>
                <a:r>
                  <a:rPr lang="da-DK" dirty="0"/>
                  <a:t> </a:t>
                </a:r>
                <a:r>
                  <a:rPr lang="da-DK" dirty="0" err="1"/>
                  <a:t>thus</a:t>
                </a:r>
                <a:endParaRPr lang="da-DK" dirty="0"/>
              </a:p>
              <a:p>
                <a:pPr marL="0" indent="0" algn="ctr">
                  <a:buNone/>
                </a:pPr>
                <a:r>
                  <a:rPr lang="da-DK" dirty="0"/>
                  <a:t>D(N) = D(i) + D(N – i – 1) + N – 1</a:t>
                </a:r>
              </a:p>
              <a:p>
                <a:pPr marL="0" indent="0">
                  <a:buNone/>
                </a:pPr>
                <a:r>
                  <a:rPr lang="da-DK" dirty="0" err="1"/>
                  <a:t>Where</a:t>
                </a:r>
                <a:r>
                  <a:rPr lang="da-DK" dirty="0"/>
                  <a:t> the </a:t>
                </a:r>
                <a:r>
                  <a:rPr lang="da-DK" dirty="0" err="1"/>
                  <a:t>two</a:t>
                </a:r>
                <a:r>
                  <a:rPr lang="da-DK" dirty="0"/>
                  <a:t> </a:t>
                </a:r>
                <a:r>
                  <a:rPr lang="da-DK" dirty="0" err="1"/>
                  <a:t>first</a:t>
                </a:r>
                <a:r>
                  <a:rPr lang="da-DK" dirty="0"/>
                  <a:t> items on the right side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left</a:t>
                </a:r>
                <a:r>
                  <a:rPr lang="da-DK" dirty="0"/>
                  <a:t> and right </a:t>
                </a:r>
                <a:r>
                  <a:rPr lang="da-DK" dirty="0" err="1"/>
                  <a:t>subtree</a:t>
                </a:r>
                <a:r>
                  <a:rPr lang="da-DK" dirty="0"/>
                  <a:t> as </a:t>
                </a:r>
                <a:r>
                  <a:rPr lang="da-DK" dirty="0" err="1"/>
                  <a:t>seen</a:t>
                </a:r>
                <a:r>
                  <a:rPr lang="da-DK" dirty="0"/>
                  <a:t> from the </a:t>
                </a:r>
                <a:r>
                  <a:rPr lang="da-DK" dirty="0" err="1"/>
                  <a:t>root</a:t>
                </a:r>
                <a:r>
                  <a:rPr lang="da-DK" dirty="0"/>
                  <a:t>.</a:t>
                </a:r>
              </a:p>
              <a:p>
                <a:pPr marL="0" indent="0">
                  <a:buNone/>
                </a:pPr>
                <a:r>
                  <a:rPr lang="da-DK" dirty="0"/>
                  <a:t>The average </a:t>
                </a:r>
                <a:r>
                  <a:rPr lang="da-DK" dirty="0" err="1"/>
                  <a:t>value</a:t>
                </a:r>
                <a:r>
                  <a:rPr lang="da-DK" dirty="0"/>
                  <a:t> of D(N)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be</a:t>
                </a:r>
                <a:r>
                  <a:rPr lang="da-DK" dirty="0"/>
                  <a:t> </a:t>
                </a:r>
                <a:r>
                  <a:rPr lang="da-DK" dirty="0" err="1"/>
                  <a:t>described</a:t>
                </a:r>
                <a:r>
                  <a:rPr lang="da-DK" dirty="0"/>
                  <a:t> as a  </a:t>
                </a:r>
                <a:r>
                  <a:rPr lang="da-DK" i="1" dirty="0" err="1"/>
                  <a:t>recurrence</a:t>
                </a:r>
                <a:r>
                  <a:rPr lang="da-DK" i="1" dirty="0"/>
                  <a:t>, </a:t>
                </a:r>
                <a:r>
                  <a:rPr lang="da-DK" dirty="0" err="1"/>
                  <a:t>like</a:t>
                </a:r>
                <a:r>
                  <a:rPr lang="da-DK" dirty="0"/>
                  <a:t> </a:t>
                </a:r>
                <a:r>
                  <a:rPr lang="da-DK" dirty="0" err="1"/>
                  <a:t>this</a:t>
                </a:r>
                <a:r>
                  <a:rPr lang="da-DK" dirty="0"/>
                  <a:t>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𝐷</m:t>
                      </m:r>
                      <m:r>
                        <a:rPr lang="da-DK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N</m:t>
                      </m:r>
                      <m:r>
                        <a:rPr lang="da-DK">
                          <a:latin typeface="Cambria Math"/>
                        </a:rPr>
                        <m:t>)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𝑗</m:t>
                          </m:r>
                          <m:r>
                            <a:rPr lang="da-DK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da-DK" i="1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d>
                            <m:dPr>
                              <m:begChr m:val="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da-DK" i="1">
                              <a:latin typeface="Cambria Math"/>
                            </a:rPr>
                            <m:t>+</m:t>
                          </m:r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 algn="ctr">
                  <a:buNone/>
                </a:pPr>
                <a:endParaRPr lang="da-DK" i="1" dirty="0"/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696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4621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Average case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dsholder til indhold 2"/>
              <p:cNvSpPr>
                <a:spLocks noGrp="1"/>
              </p:cNvSpPr>
              <p:nvPr>
                <p:ph idx="1"/>
              </p:nvPr>
            </p:nvSpPr>
            <p:spPr>
              <a:xfrm>
                <a:off x="1847528" y="1600201"/>
                <a:ext cx="864096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da-DK" dirty="0"/>
                  <a:t>It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be</a:t>
                </a:r>
                <a:r>
                  <a:rPr lang="da-DK" dirty="0"/>
                  <a:t> </a:t>
                </a:r>
                <a:r>
                  <a:rPr lang="da-DK" dirty="0" err="1"/>
                  <a:t>proven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endParaRPr lang="da-DK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a-DK" i="1">
                          <a:latin typeface="Cambria Math"/>
                        </a:rPr>
                        <m:t>𝐷</m:t>
                      </m:r>
                      <m:r>
                        <a:rPr lang="da-DK">
                          <a:latin typeface="Cambria Math"/>
                        </a:rPr>
                        <m:t>(</m:t>
                      </m:r>
                      <m:r>
                        <m:rPr>
                          <m:sty m:val="p"/>
                        </m:rPr>
                        <a:rPr lang="da-DK">
                          <a:latin typeface="Cambria Math"/>
                        </a:rPr>
                        <m:t>N</m:t>
                      </m:r>
                      <m:r>
                        <a:rPr lang="da-DK">
                          <a:latin typeface="Cambria Math"/>
                        </a:rPr>
                        <m:t>)</m:t>
                      </m:r>
                      <m:r>
                        <a:rPr lang="da-DK" i="1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a-DK" i="1">
                              <a:latin typeface="Cambria Math"/>
                            </a:rPr>
                            <m:t>2</m:t>
                          </m:r>
                        </m:num>
                        <m:den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</m:den>
                      </m:f>
                      <m:d>
                        <m:dPr>
                          <m:begChr m:val="["/>
                          <m:endChr m:val="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a-DK" i="1">
                              <a:latin typeface="Cambria Math"/>
                            </a:rPr>
                            <m:t> </m:t>
                          </m:r>
                        </m:e>
                      </m:d>
                      <m:nary>
                        <m:naryPr>
                          <m:chr m:val="∑"/>
                          <m:grow m:val="on"/>
                          <m:ctrlPr>
                            <a:rPr lang="da-DK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da-DK" i="1">
                              <a:latin typeface="Cambria Math"/>
                            </a:rPr>
                            <m:t>𝑗</m:t>
                          </m:r>
                          <m:r>
                            <a:rPr lang="da-DK" i="1">
                              <a:latin typeface="Cambria Math"/>
                            </a:rPr>
                            <m:t>=0</m:t>
                          </m:r>
                        </m:sub>
                        <m:sup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sup>
                        <m:e>
                          <m:r>
                            <a:rPr lang="da-DK" i="1">
                              <a:latin typeface="Cambria Math"/>
                            </a:rPr>
                            <m:t>𝐷</m:t>
                          </m:r>
                          <m:d>
                            <m:dPr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𝑗</m:t>
                              </m:r>
                            </m:e>
                          </m:d>
                          <m:d>
                            <m:dPr>
                              <m:begChr m:val=""/>
                              <m:endChr m:val="]"/>
                              <m:ctrlPr>
                                <a:rPr lang="da-DK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a-DK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  <m:r>
                            <a:rPr lang="da-DK" i="1">
                              <a:latin typeface="Cambria Math"/>
                            </a:rPr>
                            <m:t>+</m:t>
                          </m:r>
                          <m:r>
                            <a:rPr lang="da-DK" i="1">
                              <a:latin typeface="Cambria Math"/>
                            </a:rPr>
                            <m:t>𝑁</m:t>
                          </m:r>
                          <m:r>
                            <a:rPr lang="da-DK" i="1">
                              <a:latin typeface="Cambria Math"/>
                            </a:rPr>
                            <m:t>−1</m:t>
                          </m:r>
                        </m:e>
                      </m:nary>
                    </m:oMath>
                  </m:oMathPara>
                </a14:m>
                <a:endParaRPr lang="da-DK" dirty="0"/>
              </a:p>
              <a:p>
                <a:pPr marL="0" indent="0">
                  <a:buNone/>
                </a:pPr>
                <a:endParaRPr lang="da-DK" dirty="0"/>
              </a:p>
              <a:p>
                <a:pPr marL="0" indent="0">
                  <a:buNone/>
                </a:pPr>
                <a:r>
                  <a:rPr lang="da-DK" dirty="0"/>
                  <a:t>on is O(N log N), </a:t>
                </a:r>
                <a:r>
                  <a:rPr lang="da-DK" dirty="0" err="1"/>
                  <a:t>which</a:t>
                </a:r>
                <a:r>
                  <a:rPr lang="da-DK" dirty="0"/>
                  <a:t> </a:t>
                </a:r>
                <a:r>
                  <a:rPr lang="da-DK" dirty="0" err="1"/>
                  <a:t>means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</a:t>
                </a:r>
                <a:r>
                  <a:rPr lang="da-DK" b="1" dirty="0"/>
                  <a:t>the average </a:t>
                </a:r>
                <a:r>
                  <a:rPr lang="da-DK" b="1" dirty="0" err="1"/>
                  <a:t>depth</a:t>
                </a:r>
                <a:r>
                  <a:rPr lang="da-DK" b="1" dirty="0"/>
                  <a:t> over all nodes of a </a:t>
                </a:r>
                <a:r>
                  <a:rPr lang="da-DK" b="1" dirty="0" err="1"/>
                  <a:t>tree</a:t>
                </a:r>
                <a:r>
                  <a:rPr lang="da-DK" b="1" dirty="0"/>
                  <a:t> is O(log N)</a:t>
                </a:r>
                <a:r>
                  <a:rPr lang="da-DK" dirty="0"/>
                  <a:t>.</a:t>
                </a:r>
              </a:p>
              <a:p>
                <a:pPr marL="0" indent="0">
                  <a:buNone/>
                </a:pPr>
                <a:r>
                  <a:rPr lang="da-DK" dirty="0" err="1"/>
                  <a:t>Does</a:t>
                </a:r>
                <a:r>
                  <a:rPr lang="da-DK" dirty="0"/>
                  <a:t> it </a:t>
                </a:r>
                <a:r>
                  <a:rPr lang="da-DK" dirty="0" err="1"/>
                  <a:t>make</a:t>
                </a:r>
                <a:r>
                  <a:rPr lang="da-DK" dirty="0"/>
                  <a:t> </a:t>
                </a:r>
                <a:r>
                  <a:rPr lang="da-DK" dirty="0" err="1"/>
                  <a:t>sense</a:t>
                </a:r>
                <a:r>
                  <a:rPr lang="da-DK" dirty="0"/>
                  <a:t> under the </a:t>
                </a:r>
                <a:r>
                  <a:rPr lang="da-DK" dirty="0" err="1"/>
                  <a:t>assumption</a:t>
                </a:r>
                <a:r>
                  <a:rPr lang="da-DK" dirty="0"/>
                  <a:t> </a:t>
                </a:r>
                <a:r>
                  <a:rPr lang="da-DK" dirty="0" err="1"/>
                  <a:t>that</a:t>
                </a:r>
                <a:r>
                  <a:rPr lang="da-DK" dirty="0"/>
                  <a:t> all </a:t>
                </a:r>
                <a:r>
                  <a:rPr lang="da-DK" dirty="0" err="1"/>
                  <a:t>insertion</a:t>
                </a:r>
                <a:r>
                  <a:rPr lang="da-DK" dirty="0"/>
                  <a:t> </a:t>
                </a:r>
                <a:r>
                  <a:rPr lang="da-DK" dirty="0" err="1"/>
                  <a:t>sequences</a:t>
                </a:r>
                <a:r>
                  <a:rPr lang="da-DK" dirty="0"/>
                  <a:t> </a:t>
                </a:r>
                <a:r>
                  <a:rPr lang="da-DK" dirty="0" err="1"/>
                  <a:t>are</a:t>
                </a:r>
                <a:r>
                  <a:rPr lang="da-DK" dirty="0"/>
                  <a:t> </a:t>
                </a:r>
                <a:r>
                  <a:rPr lang="da-DK" dirty="0" err="1"/>
                  <a:t>equally</a:t>
                </a:r>
                <a:r>
                  <a:rPr lang="da-DK" dirty="0"/>
                  <a:t> </a:t>
                </a:r>
                <a:r>
                  <a:rPr lang="da-DK" dirty="0" err="1"/>
                  <a:t>likely</a:t>
                </a:r>
                <a:r>
                  <a:rPr lang="da-DK" dirty="0"/>
                  <a:t>?</a:t>
                </a:r>
              </a:p>
            </p:txBody>
          </p:sp>
        </mc:Choice>
        <mc:Fallback xmlns="">
          <p:sp>
            <p:nvSpPr>
              <p:cNvPr id="3" name="Pladsholder til indhold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47528" y="1600201"/>
                <a:ext cx="8640960" cy="4525963"/>
              </a:xfrm>
              <a:blipFill>
                <a:blip r:embed="rId2"/>
                <a:stretch>
                  <a:fillRect l="-1410" t="-229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3154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The AVL-</a:t>
            </a:r>
            <a:r>
              <a:rPr lang="da-DK" dirty="0" err="1"/>
              <a:t>tree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AVL ~ </a:t>
            </a:r>
            <a:r>
              <a:rPr lang="da-DK" dirty="0" err="1"/>
              <a:t>Adelson-Velskii</a:t>
            </a:r>
            <a:r>
              <a:rPr lang="da-DK" dirty="0"/>
              <a:t> &amp; </a:t>
            </a:r>
            <a:r>
              <a:rPr lang="da-DK" dirty="0" err="1"/>
              <a:t>Landis</a:t>
            </a:r>
            <a:r>
              <a:rPr lang="da-DK" dirty="0"/>
              <a:t>.</a:t>
            </a:r>
          </a:p>
          <a:p>
            <a:r>
              <a:rPr lang="da-DK" dirty="0"/>
              <a:t>An AVL-</a:t>
            </a:r>
            <a:r>
              <a:rPr lang="da-DK" dirty="0" err="1"/>
              <a:t>tree</a:t>
            </a:r>
            <a:r>
              <a:rPr lang="da-DK" dirty="0"/>
              <a:t> has a </a:t>
            </a:r>
            <a:r>
              <a:rPr lang="da-DK" i="1" dirty="0"/>
              <a:t>balance </a:t>
            </a:r>
            <a:r>
              <a:rPr lang="da-DK" i="1" dirty="0" err="1"/>
              <a:t>condition</a:t>
            </a:r>
            <a:r>
              <a:rPr lang="da-DK" i="1" dirty="0"/>
              <a:t>.</a:t>
            </a:r>
          </a:p>
          <a:p>
            <a:r>
              <a:rPr lang="da-DK" dirty="0" err="1"/>
              <a:t>That</a:t>
            </a:r>
            <a:r>
              <a:rPr lang="da-DK" dirty="0"/>
              <a:t> is, for </a:t>
            </a:r>
            <a:r>
              <a:rPr lang="da-DK" dirty="0" err="1"/>
              <a:t>every</a:t>
            </a:r>
            <a:r>
              <a:rPr lang="da-DK" dirty="0"/>
              <a:t> node in the </a:t>
            </a:r>
            <a:r>
              <a:rPr lang="da-DK" dirty="0" err="1"/>
              <a:t>tree</a:t>
            </a:r>
            <a:r>
              <a:rPr lang="da-DK" dirty="0"/>
              <a:t>, the variation of the </a:t>
            </a:r>
            <a:r>
              <a:rPr lang="da-DK" dirty="0" err="1"/>
              <a:t>height</a:t>
            </a:r>
            <a:r>
              <a:rPr lang="da-DK" dirty="0"/>
              <a:t> of </a:t>
            </a:r>
            <a:r>
              <a:rPr lang="da-DK" dirty="0" err="1"/>
              <a:t>left</a:t>
            </a:r>
            <a:r>
              <a:rPr lang="da-DK" dirty="0"/>
              <a:t> and right </a:t>
            </a:r>
            <a:r>
              <a:rPr lang="da-DK" dirty="0" err="1"/>
              <a:t>subtrees</a:t>
            </a:r>
            <a:r>
              <a:rPr lang="da-DK" dirty="0"/>
              <a:t> is </a:t>
            </a:r>
            <a:r>
              <a:rPr lang="da-DK" dirty="0" err="1"/>
              <a:t>no</a:t>
            </a:r>
            <a:r>
              <a:rPr lang="da-DK" dirty="0"/>
              <a:t> more </a:t>
            </a:r>
            <a:r>
              <a:rPr lang="da-DK" dirty="0" err="1"/>
              <a:t>than</a:t>
            </a:r>
            <a:r>
              <a:rPr lang="da-DK" dirty="0"/>
              <a:t> 1.</a:t>
            </a:r>
          </a:p>
          <a:p>
            <a:r>
              <a:rPr lang="da-DK" dirty="0" err="1"/>
              <a:t>Modification</a:t>
            </a:r>
            <a:r>
              <a:rPr lang="da-DK" dirty="0"/>
              <a:t> of the </a:t>
            </a:r>
            <a:r>
              <a:rPr lang="da-DK" dirty="0" err="1"/>
              <a:t>tree</a:t>
            </a:r>
            <a:r>
              <a:rPr lang="da-DK" dirty="0"/>
              <a:t> </a:t>
            </a:r>
            <a:r>
              <a:rPr lang="da-DK" dirty="0" err="1"/>
              <a:t>ensuring</a:t>
            </a:r>
            <a:r>
              <a:rPr lang="da-DK" dirty="0"/>
              <a:t> the balance </a:t>
            </a:r>
            <a:r>
              <a:rPr lang="da-DK" dirty="0" err="1"/>
              <a:t>condition</a:t>
            </a:r>
            <a:r>
              <a:rPr lang="da-DK" dirty="0"/>
              <a:t> is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i="1" dirty="0"/>
              <a:t>rotation.</a:t>
            </a:r>
          </a:p>
          <a:p>
            <a:r>
              <a:rPr lang="da-DK" dirty="0"/>
              <a:t>Difference </a:t>
            </a:r>
            <a:r>
              <a:rPr lang="da-DK" dirty="0" err="1"/>
              <a:t>between</a:t>
            </a:r>
            <a:r>
              <a:rPr lang="da-DK" dirty="0"/>
              <a:t> </a:t>
            </a:r>
            <a:r>
              <a:rPr lang="da-DK" dirty="0" err="1"/>
              <a:t>binary</a:t>
            </a:r>
            <a:r>
              <a:rPr lang="da-DK" dirty="0"/>
              <a:t> </a:t>
            </a:r>
            <a:r>
              <a:rPr lang="da-DK" dirty="0" err="1"/>
              <a:t>search</a:t>
            </a:r>
            <a:r>
              <a:rPr lang="da-DK" dirty="0"/>
              <a:t> </a:t>
            </a:r>
            <a:r>
              <a:rPr lang="da-DK" dirty="0" err="1"/>
              <a:t>tree</a:t>
            </a:r>
            <a:r>
              <a:rPr lang="da-DK" dirty="0"/>
              <a:t> (BST) and AVL-</a:t>
            </a:r>
            <a:r>
              <a:rPr lang="da-DK" dirty="0" err="1"/>
              <a:t>tree</a:t>
            </a:r>
            <a:r>
              <a:rPr lang="da-DK" dirty="0"/>
              <a:t>: BST: </a:t>
            </a:r>
            <a:r>
              <a:rPr lang="da-DK" b="1" dirty="0"/>
              <a:t>average</a:t>
            </a:r>
            <a:r>
              <a:rPr lang="da-DK" dirty="0"/>
              <a:t> </a:t>
            </a:r>
            <a:r>
              <a:rPr lang="da-DK" dirty="0" err="1"/>
              <a:t>depth</a:t>
            </a:r>
            <a:r>
              <a:rPr lang="da-DK" dirty="0"/>
              <a:t> is O(log n); AVL: </a:t>
            </a:r>
            <a:r>
              <a:rPr lang="da-DK" b="1" dirty="0" err="1"/>
              <a:t>maximum</a:t>
            </a:r>
            <a:r>
              <a:rPr lang="da-DK" dirty="0"/>
              <a:t> </a:t>
            </a:r>
            <a:r>
              <a:rPr lang="da-DK" dirty="0" err="1"/>
              <a:t>depth</a:t>
            </a:r>
            <a:r>
              <a:rPr lang="da-DK" dirty="0"/>
              <a:t> is O(log n).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AVL and non-AVL</a:t>
            </a:r>
          </a:p>
        </p:txBody>
      </p:sp>
      <p:pic>
        <p:nvPicPr>
          <p:cNvPr id="2050" name="Picture 2" descr="C:\Dokumenter\Arbejde\E2011\ADA5\Figurer, kapitel 1-6\0321395670_pt1\ch04\ch04gif\fig04_29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300229"/>
            <a:ext cx="8229600" cy="312590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Rotation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204865"/>
            <a:ext cx="8229600" cy="3921299"/>
          </a:xfrm>
        </p:spPr>
        <p:txBody>
          <a:bodyPr/>
          <a:lstStyle/>
          <a:p>
            <a:r>
              <a:rPr lang="da-DK" dirty="0" err="1"/>
              <a:t>After</a:t>
            </a:r>
            <a:r>
              <a:rPr lang="da-DK" dirty="0"/>
              <a:t> the </a:t>
            </a:r>
            <a:r>
              <a:rPr lang="da-DK" dirty="0" err="1"/>
              <a:t>insertion</a:t>
            </a:r>
            <a:r>
              <a:rPr lang="da-DK" dirty="0"/>
              <a:t> of a new node (</a:t>
            </a:r>
            <a:r>
              <a:rPr lang="da-DK" dirty="0" err="1"/>
              <a:t>e.g</a:t>
            </a:r>
            <a:r>
              <a:rPr lang="da-DK" dirty="0"/>
              <a:t>. 6 in </a:t>
            </a:r>
            <a:r>
              <a:rPr lang="da-DK" dirty="0" err="1"/>
              <a:t>previous</a:t>
            </a:r>
            <a:r>
              <a:rPr lang="da-DK" dirty="0"/>
              <a:t> slide), the </a:t>
            </a:r>
            <a:r>
              <a:rPr lang="da-DK" dirty="0" err="1"/>
              <a:t>tree</a:t>
            </a:r>
            <a:r>
              <a:rPr lang="da-DK" dirty="0"/>
              <a:t> </a:t>
            </a:r>
            <a:r>
              <a:rPr lang="da-DK" dirty="0" err="1"/>
              <a:t>may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unbalanced</a:t>
            </a:r>
            <a:r>
              <a:rPr lang="da-DK" dirty="0"/>
              <a:t>.</a:t>
            </a:r>
          </a:p>
          <a:p>
            <a:r>
              <a:rPr lang="da-DK" i="1" dirty="0"/>
              <a:t>Single rotation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solve</a:t>
            </a:r>
            <a:r>
              <a:rPr lang="da-DK" dirty="0"/>
              <a:t> the problem.</a:t>
            </a:r>
            <a:endParaRPr lang="da-DK" i="1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Single rotation</a:t>
            </a:r>
          </a:p>
        </p:txBody>
      </p:sp>
      <p:pic>
        <p:nvPicPr>
          <p:cNvPr id="3074" name="Picture 2" descr="C:\Dokumenter\Arbejde\E2011\ADA5\Figurer, kapitel 1-6\0321395670_pt1\ch04\ch04gif\fig04_32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2206939"/>
            <a:ext cx="8229600" cy="331248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Rotation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703512" y="1600201"/>
            <a:ext cx="8964488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da-DK" sz="3000" dirty="0"/>
              <a:t>The </a:t>
            </a:r>
            <a:r>
              <a:rPr lang="da-DK" sz="3000" dirty="0" err="1"/>
              <a:t>need</a:t>
            </a:r>
            <a:r>
              <a:rPr lang="da-DK" sz="3000" dirty="0"/>
              <a:t> for rotation </a:t>
            </a:r>
            <a:r>
              <a:rPr lang="da-DK" sz="3000" dirty="0" err="1"/>
              <a:t>may</a:t>
            </a:r>
            <a:r>
              <a:rPr lang="da-DK" sz="3000" dirty="0"/>
              <a:t> </a:t>
            </a:r>
            <a:r>
              <a:rPr lang="da-DK" sz="3000" dirty="0" err="1"/>
              <a:t>occur</a:t>
            </a:r>
            <a:r>
              <a:rPr lang="da-DK" sz="3000" dirty="0"/>
              <a:t> in </a:t>
            </a:r>
            <a:r>
              <a:rPr lang="da-DK" sz="3000" dirty="0" err="1"/>
              <a:t>four</a:t>
            </a:r>
            <a:r>
              <a:rPr lang="da-DK" sz="3000" dirty="0"/>
              <a:t> cases:</a:t>
            </a:r>
          </a:p>
          <a:p>
            <a:pPr>
              <a:buNone/>
            </a:pPr>
            <a:endParaRPr lang="da-DK" sz="3000" dirty="0"/>
          </a:p>
          <a:p>
            <a:pPr marL="514350" indent="-514350">
              <a:buFont typeface="+mj-lt"/>
              <a:buAutoNum type="arabicPeriod"/>
            </a:pPr>
            <a:r>
              <a:rPr lang="da-DK" sz="3000" dirty="0" err="1"/>
              <a:t>Insertion</a:t>
            </a:r>
            <a:r>
              <a:rPr lang="da-DK" sz="3000" dirty="0"/>
              <a:t> </a:t>
            </a:r>
            <a:r>
              <a:rPr lang="da-DK" sz="3000" dirty="0" err="1"/>
              <a:t>into</a:t>
            </a:r>
            <a:r>
              <a:rPr lang="da-DK" sz="3000" dirty="0"/>
              <a:t> the </a:t>
            </a:r>
            <a:r>
              <a:rPr lang="da-DK" sz="3000" dirty="0" err="1"/>
              <a:t>left</a:t>
            </a:r>
            <a:r>
              <a:rPr lang="da-DK" sz="3000" dirty="0"/>
              <a:t> </a:t>
            </a:r>
            <a:r>
              <a:rPr lang="da-DK" sz="3000" dirty="0" err="1"/>
              <a:t>subtree</a:t>
            </a:r>
            <a:r>
              <a:rPr lang="da-DK" sz="3000" dirty="0"/>
              <a:t> of the </a:t>
            </a:r>
            <a:r>
              <a:rPr lang="da-DK" sz="3000" dirty="0" err="1"/>
              <a:t>left</a:t>
            </a:r>
            <a:r>
              <a:rPr lang="da-DK" sz="3000" dirty="0"/>
              <a:t> </a:t>
            </a:r>
            <a:r>
              <a:rPr lang="da-DK" sz="3000" dirty="0" err="1"/>
              <a:t>child</a:t>
            </a:r>
            <a:r>
              <a:rPr lang="da-DK" sz="3000" dirty="0"/>
              <a:t> of α.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3000" dirty="0" err="1"/>
              <a:t>Insertion</a:t>
            </a:r>
            <a:r>
              <a:rPr lang="da-DK" sz="3000" dirty="0"/>
              <a:t> </a:t>
            </a:r>
            <a:r>
              <a:rPr lang="da-DK" sz="3000" dirty="0" err="1"/>
              <a:t>into</a:t>
            </a:r>
            <a:r>
              <a:rPr lang="da-DK" sz="3000" dirty="0"/>
              <a:t> the right </a:t>
            </a:r>
            <a:r>
              <a:rPr lang="da-DK" sz="3000" dirty="0" err="1"/>
              <a:t>subtree</a:t>
            </a:r>
            <a:r>
              <a:rPr lang="da-DK" sz="3000" dirty="0"/>
              <a:t> of the </a:t>
            </a:r>
            <a:r>
              <a:rPr lang="da-DK" sz="3000" dirty="0" err="1"/>
              <a:t>left</a:t>
            </a:r>
            <a:r>
              <a:rPr lang="da-DK" sz="3000" dirty="0"/>
              <a:t> </a:t>
            </a:r>
            <a:r>
              <a:rPr lang="da-DK" sz="3000" dirty="0" err="1"/>
              <a:t>child</a:t>
            </a:r>
            <a:r>
              <a:rPr lang="da-DK" sz="3000" dirty="0"/>
              <a:t> of α.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3000" dirty="0" err="1"/>
              <a:t>Insertion</a:t>
            </a:r>
            <a:r>
              <a:rPr lang="da-DK" sz="3000" dirty="0"/>
              <a:t> </a:t>
            </a:r>
            <a:r>
              <a:rPr lang="da-DK" sz="3000" dirty="0" err="1"/>
              <a:t>into</a:t>
            </a:r>
            <a:r>
              <a:rPr lang="da-DK" sz="3000" dirty="0"/>
              <a:t> the </a:t>
            </a:r>
            <a:r>
              <a:rPr lang="da-DK" sz="3000" dirty="0" err="1"/>
              <a:t>left</a:t>
            </a:r>
            <a:r>
              <a:rPr lang="da-DK" sz="3000" dirty="0"/>
              <a:t> </a:t>
            </a:r>
            <a:r>
              <a:rPr lang="da-DK" sz="3000" dirty="0" err="1"/>
              <a:t>subtree</a:t>
            </a:r>
            <a:r>
              <a:rPr lang="da-DK" sz="3000" dirty="0"/>
              <a:t> of the right </a:t>
            </a:r>
            <a:r>
              <a:rPr lang="da-DK" sz="3000" dirty="0" err="1"/>
              <a:t>child</a:t>
            </a:r>
            <a:r>
              <a:rPr lang="da-DK" sz="3000" dirty="0"/>
              <a:t> of α.</a:t>
            </a:r>
          </a:p>
          <a:p>
            <a:pPr marL="514350" indent="-514350">
              <a:buFont typeface="+mj-lt"/>
              <a:buAutoNum type="arabicPeriod"/>
            </a:pPr>
            <a:r>
              <a:rPr lang="da-DK" sz="3000" dirty="0" err="1"/>
              <a:t>Insertion</a:t>
            </a:r>
            <a:r>
              <a:rPr lang="da-DK" sz="3000" dirty="0"/>
              <a:t> </a:t>
            </a:r>
            <a:r>
              <a:rPr lang="da-DK" sz="3000" dirty="0" err="1"/>
              <a:t>into</a:t>
            </a:r>
            <a:r>
              <a:rPr lang="da-DK" sz="3000" dirty="0"/>
              <a:t> the right </a:t>
            </a:r>
            <a:r>
              <a:rPr lang="da-DK" sz="3000" dirty="0" err="1"/>
              <a:t>subtree</a:t>
            </a:r>
            <a:r>
              <a:rPr lang="da-DK" sz="3000" dirty="0"/>
              <a:t> of the right </a:t>
            </a:r>
            <a:r>
              <a:rPr lang="da-DK" sz="3000" dirty="0" err="1"/>
              <a:t>child</a:t>
            </a:r>
            <a:r>
              <a:rPr lang="da-DK" sz="3000" dirty="0"/>
              <a:t> of α.</a:t>
            </a:r>
          </a:p>
          <a:p>
            <a:pPr marL="514350" indent="-514350">
              <a:buFont typeface="+mj-lt"/>
              <a:buAutoNum type="arabicPeriod"/>
            </a:pPr>
            <a:endParaRPr lang="da-DK" sz="3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3370386"/>
          </a:xfrm>
        </p:spPr>
        <p:txBody>
          <a:bodyPr/>
          <a:lstStyle/>
          <a:p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705864" y="3933056"/>
            <a:ext cx="8928992" cy="269289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private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</a:t>
            </a:r>
            <a:r>
              <a:rPr lang="da-DK" sz="1600" dirty="0" err="1">
                <a:latin typeface="Courier" pitchFamily="49" charset="0"/>
              </a:rPr>
              <a:t>rotateWithLeftChild</a:t>
            </a:r>
            <a:r>
              <a:rPr lang="da-DK" sz="1600" dirty="0">
                <a:latin typeface="Courier" pitchFamily="49" charset="0"/>
              </a:rPr>
              <a:t>(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k2 )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AvlNode</a:t>
            </a:r>
            <a:r>
              <a:rPr lang="da-DK" sz="1600" dirty="0">
                <a:latin typeface="Courier" pitchFamily="49" charset="0"/>
              </a:rPr>
              <a:t>&lt;</a:t>
            </a:r>
            <a:r>
              <a:rPr lang="da-DK" sz="1600" dirty="0" err="1">
                <a:latin typeface="Courier" pitchFamily="49" charset="0"/>
              </a:rPr>
              <a:t>AnyType</a:t>
            </a:r>
            <a:r>
              <a:rPr lang="da-DK" sz="1600" dirty="0">
                <a:latin typeface="Courier" pitchFamily="49" charset="0"/>
              </a:rPr>
              <a:t>&gt; k1 = k2.left;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k2.left = k1.right;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k1.right = k2;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k2.height = </a:t>
            </a:r>
            <a:r>
              <a:rPr lang="da-DK" sz="1600" dirty="0" err="1">
                <a:latin typeface="Courier" pitchFamily="49" charset="0"/>
              </a:rPr>
              <a:t>Math.max</a:t>
            </a:r>
            <a:r>
              <a:rPr lang="da-DK" sz="1600" dirty="0">
                <a:latin typeface="Courier" pitchFamily="49" charset="0"/>
              </a:rPr>
              <a:t>(</a:t>
            </a:r>
            <a:r>
              <a:rPr lang="da-DK" sz="1600" dirty="0" err="1">
                <a:latin typeface="Courier" pitchFamily="49" charset="0"/>
              </a:rPr>
              <a:t>height</a:t>
            </a:r>
            <a:r>
              <a:rPr lang="da-DK" sz="1600" dirty="0">
                <a:latin typeface="Courier" pitchFamily="49" charset="0"/>
              </a:rPr>
              <a:t>(k2.left),</a:t>
            </a:r>
            <a:r>
              <a:rPr lang="da-DK" sz="1600" dirty="0" err="1">
                <a:latin typeface="Courier" pitchFamily="49" charset="0"/>
              </a:rPr>
              <a:t>height</a:t>
            </a:r>
            <a:r>
              <a:rPr lang="da-DK" sz="1600" dirty="0">
                <a:latin typeface="Courier" pitchFamily="49" charset="0"/>
              </a:rPr>
              <a:t>(k2.right) ) + 1;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k1.height = </a:t>
            </a:r>
            <a:r>
              <a:rPr lang="da-DK" sz="1600" dirty="0" err="1">
                <a:latin typeface="Courier" pitchFamily="49" charset="0"/>
              </a:rPr>
              <a:t>Math.max</a:t>
            </a:r>
            <a:r>
              <a:rPr lang="da-DK" sz="1600" dirty="0">
                <a:latin typeface="Courier" pitchFamily="49" charset="0"/>
              </a:rPr>
              <a:t>(</a:t>
            </a:r>
            <a:r>
              <a:rPr lang="da-DK" sz="1600" dirty="0" err="1">
                <a:latin typeface="Courier" pitchFamily="49" charset="0"/>
              </a:rPr>
              <a:t>height</a:t>
            </a:r>
            <a:r>
              <a:rPr lang="da-DK" sz="1600" dirty="0">
                <a:latin typeface="Courier" pitchFamily="49" charset="0"/>
              </a:rPr>
              <a:t>(k1.left),k2.height ) + 1;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    </a:t>
            </a:r>
            <a:r>
              <a:rPr lang="da-DK" sz="1600" dirty="0" err="1">
                <a:latin typeface="Courier" pitchFamily="49" charset="0"/>
              </a:rPr>
              <a:t>return</a:t>
            </a:r>
            <a:r>
              <a:rPr lang="da-DK" sz="1600" dirty="0">
                <a:latin typeface="Courier" pitchFamily="49" charset="0"/>
              </a:rPr>
              <a:t> k1;</a:t>
            </a:r>
          </a:p>
          <a:p>
            <a:pPr marL="0" indent="0">
              <a:buNone/>
            </a:pPr>
            <a:r>
              <a:rPr lang="da-DK" sz="1600" dirty="0">
                <a:latin typeface="Courier" pitchFamily="49" charset="0"/>
              </a:rPr>
              <a:t>    }</a:t>
            </a:r>
          </a:p>
        </p:txBody>
      </p:sp>
      <p:pic>
        <p:nvPicPr>
          <p:cNvPr id="1026" name="Picture 2" descr="C:\Users\od\Documents\Arbejde\2013-2\ADA5\Figurer, kapitel 1-6\0321395670_pt1\ch04\ch04gif\fig04_31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764705"/>
            <a:ext cx="8712968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98246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>
                <a:latin typeface="Courier"/>
              </a:rPr>
              <a:t>doubleWithLeftChild()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775520" y="2348881"/>
            <a:ext cx="8784976" cy="37772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a-DK" sz="2000" dirty="0">
                <a:latin typeface="Courier"/>
              </a:rPr>
              <a:t>    private </a:t>
            </a:r>
            <a:r>
              <a:rPr lang="da-DK" sz="2000" dirty="0" err="1">
                <a:latin typeface="Courier"/>
              </a:rPr>
              <a:t>AvlNode</a:t>
            </a:r>
            <a:r>
              <a:rPr lang="da-DK" sz="2000" dirty="0">
                <a:latin typeface="Courier"/>
              </a:rPr>
              <a:t>&lt;</a:t>
            </a:r>
            <a:r>
              <a:rPr lang="da-DK" sz="2000" dirty="0" err="1">
                <a:latin typeface="Courier"/>
              </a:rPr>
              <a:t>AnyType</a:t>
            </a:r>
            <a:r>
              <a:rPr lang="da-DK" sz="2000" dirty="0">
                <a:latin typeface="Courier"/>
              </a:rPr>
              <a:t>&gt; </a:t>
            </a:r>
            <a:r>
              <a:rPr lang="da-DK" sz="2000" dirty="0" err="1">
                <a:latin typeface="Courier"/>
              </a:rPr>
              <a:t>doubleWithLeftChild</a:t>
            </a:r>
            <a:r>
              <a:rPr lang="da-DK" sz="2000" dirty="0">
                <a:latin typeface="Courier"/>
              </a:rPr>
              <a:t>( 			</a:t>
            </a:r>
            <a:r>
              <a:rPr lang="da-DK" sz="2000" dirty="0" err="1">
                <a:latin typeface="Courier"/>
              </a:rPr>
              <a:t>AvlNode</a:t>
            </a:r>
            <a:r>
              <a:rPr lang="da-DK" sz="2000" dirty="0">
                <a:latin typeface="Courier"/>
              </a:rPr>
              <a:t>&lt;</a:t>
            </a:r>
            <a:r>
              <a:rPr lang="da-DK" sz="2000" dirty="0" err="1">
                <a:latin typeface="Courier"/>
              </a:rPr>
              <a:t>AnyType</a:t>
            </a:r>
            <a:r>
              <a:rPr lang="da-DK" sz="2000" dirty="0">
                <a:latin typeface="Courier"/>
              </a:rPr>
              <a:t>&gt; k3 )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{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    k3.left = </a:t>
            </a:r>
            <a:r>
              <a:rPr lang="da-DK" sz="2000" dirty="0" err="1">
                <a:latin typeface="Courier"/>
              </a:rPr>
              <a:t>rotateWithRightChild</a:t>
            </a:r>
            <a:r>
              <a:rPr lang="da-DK" sz="2000" dirty="0">
                <a:latin typeface="Courier"/>
              </a:rPr>
              <a:t>( k3.left );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    </a:t>
            </a:r>
            <a:r>
              <a:rPr lang="da-DK" sz="2000" dirty="0" err="1">
                <a:latin typeface="Courier"/>
              </a:rPr>
              <a:t>return</a:t>
            </a:r>
            <a:r>
              <a:rPr lang="da-DK" sz="2000" dirty="0">
                <a:latin typeface="Courier"/>
              </a:rPr>
              <a:t> </a:t>
            </a:r>
            <a:r>
              <a:rPr lang="da-DK" sz="2000" dirty="0" err="1">
                <a:latin typeface="Courier"/>
              </a:rPr>
              <a:t>rotateWithLeftChild</a:t>
            </a:r>
            <a:r>
              <a:rPr lang="da-DK" sz="2000" dirty="0">
                <a:latin typeface="Courier"/>
              </a:rPr>
              <a:t>( k3 );</a:t>
            </a:r>
          </a:p>
          <a:p>
            <a:pPr marL="0" indent="0">
              <a:buNone/>
            </a:pPr>
            <a:r>
              <a:rPr lang="da-DK" sz="2000" dirty="0">
                <a:latin typeface="Courier"/>
              </a:rPr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39311349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Graphs –</a:t>
            </a:r>
            <a:r>
              <a:rPr lang="da-DK" dirty="0" err="1"/>
              <a:t>weighted</a:t>
            </a:r>
            <a:r>
              <a:rPr lang="da-DK" dirty="0"/>
              <a:t>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- </a:t>
            </a:r>
            <a:r>
              <a:rPr lang="da-DK" dirty="0" err="1"/>
              <a:t>Dijkstra</a:t>
            </a:r>
            <a:endParaRPr lang="da-DK" dirty="0"/>
          </a:p>
        </p:txBody>
      </p:sp>
      <p:pic>
        <p:nvPicPr>
          <p:cNvPr id="31746" name="Picture 2" descr="C:\Dokumenter\Arbejde\E2011\ADA5\Figurer, kapitel 7-12\0321395670_pt2\ch09\ch09gif\fig09_20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62288" y="2172495"/>
            <a:ext cx="6067425" cy="338137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Graphs –</a:t>
            </a:r>
            <a:r>
              <a:rPr lang="da-DK" dirty="0" err="1"/>
              <a:t>weighted</a:t>
            </a:r>
            <a:r>
              <a:rPr lang="da-DK" dirty="0"/>
              <a:t> </a:t>
            </a:r>
            <a:r>
              <a:rPr lang="da-DK" dirty="0" err="1"/>
              <a:t>shortest</a:t>
            </a:r>
            <a:r>
              <a:rPr lang="da-DK" dirty="0"/>
              <a:t> </a:t>
            </a:r>
            <a:r>
              <a:rPr lang="da-DK" dirty="0" err="1"/>
              <a:t>path</a:t>
            </a:r>
            <a:r>
              <a:rPr lang="da-DK" dirty="0"/>
              <a:t> - </a:t>
            </a:r>
            <a:r>
              <a:rPr lang="da-DK" dirty="0" err="1"/>
              <a:t>Dijkstra</a:t>
            </a:r>
            <a:r>
              <a:rPr lang="da-DK" dirty="0"/>
              <a:t> )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1600201"/>
            <a:ext cx="8579296" cy="4525963"/>
          </a:xfrm>
        </p:spPr>
        <p:txBody>
          <a:bodyPr>
            <a:normAutofit fontScale="92500" lnSpcReduction="10000"/>
          </a:bodyPr>
          <a:lstStyle/>
          <a:p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Edsger</a:t>
            </a:r>
            <a:r>
              <a:rPr lang="da-DK" dirty="0"/>
              <a:t> </a:t>
            </a:r>
            <a:r>
              <a:rPr lang="da-DK" dirty="0" err="1"/>
              <a:t>Dijkstra</a:t>
            </a:r>
            <a:r>
              <a:rPr lang="da-DK" dirty="0"/>
              <a:t> (1930-2002) and his </a:t>
            </a:r>
            <a:r>
              <a:rPr lang="da-DK" dirty="0" err="1"/>
              <a:t>algorithm</a:t>
            </a:r>
            <a:r>
              <a:rPr lang="da-DK" dirty="0"/>
              <a:t>:</a:t>
            </a:r>
          </a:p>
          <a:p>
            <a:r>
              <a:rPr lang="da-DK" dirty="0" err="1"/>
              <a:t>Developed</a:t>
            </a:r>
            <a:r>
              <a:rPr lang="da-DK" dirty="0"/>
              <a:t> in the 1970’s.</a:t>
            </a:r>
          </a:p>
          <a:p>
            <a:r>
              <a:rPr lang="da-DK" dirty="0"/>
              <a:t>He </a:t>
            </a:r>
            <a:r>
              <a:rPr lang="da-DK" dirty="0" err="1"/>
              <a:t>claimed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”the </a:t>
            </a:r>
            <a:r>
              <a:rPr lang="da-DK" i="1" dirty="0"/>
              <a:t>go to-</a:t>
            </a:r>
            <a:r>
              <a:rPr lang="da-DK" dirty="0"/>
              <a:t>statement must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considered</a:t>
            </a:r>
            <a:r>
              <a:rPr lang="da-DK" dirty="0"/>
              <a:t> harmful”</a:t>
            </a:r>
          </a:p>
          <a:p>
            <a:r>
              <a:rPr lang="da-DK" dirty="0"/>
              <a:t>Problem </a:t>
            </a:r>
            <a:r>
              <a:rPr lang="da-DK" dirty="0" err="1"/>
              <a:t>reduction</a:t>
            </a:r>
            <a:r>
              <a:rPr lang="da-DK" dirty="0"/>
              <a:t>: </a:t>
            </a:r>
            <a:r>
              <a:rPr lang="da-DK" dirty="0" err="1"/>
              <a:t>chess</a:t>
            </a:r>
            <a:r>
              <a:rPr lang="da-DK" dirty="0"/>
              <a:t> </a:t>
            </a:r>
            <a:r>
              <a:rPr lang="da-DK" dirty="0" err="1"/>
              <a:t>board</a:t>
            </a:r>
            <a:r>
              <a:rPr lang="da-DK" dirty="0"/>
              <a:t> and </a:t>
            </a:r>
            <a:r>
              <a:rPr lang="da-DK" dirty="0" err="1"/>
              <a:t>dominoes</a:t>
            </a:r>
            <a:r>
              <a:rPr lang="da-DK" dirty="0"/>
              <a:t>.</a:t>
            </a:r>
          </a:p>
          <a:p>
            <a:r>
              <a:rPr lang="da-DK" i="1" dirty="0" err="1"/>
              <a:t>Greedy</a:t>
            </a:r>
            <a:r>
              <a:rPr lang="da-DK" dirty="0"/>
              <a:t> </a:t>
            </a:r>
            <a:r>
              <a:rPr lang="da-DK" dirty="0" err="1"/>
              <a:t>algorithm</a:t>
            </a:r>
            <a:r>
              <a:rPr lang="da-DK" dirty="0"/>
              <a:t>; </a:t>
            </a:r>
            <a:r>
              <a:rPr lang="da-DK" dirty="0" err="1"/>
              <a:t>solves</a:t>
            </a:r>
            <a:r>
              <a:rPr lang="da-DK" dirty="0"/>
              <a:t> the problem in stages by </a:t>
            </a:r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choosing</a:t>
            </a:r>
            <a:r>
              <a:rPr lang="da-DK" dirty="0"/>
              <a:t> </a:t>
            </a:r>
            <a:r>
              <a:rPr lang="da-DK" dirty="0" err="1"/>
              <a:t>what</a:t>
            </a:r>
            <a:r>
              <a:rPr lang="da-DK" dirty="0"/>
              <a:t> </a:t>
            </a:r>
            <a:r>
              <a:rPr lang="da-DK" dirty="0" err="1"/>
              <a:t>seems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the </a:t>
            </a:r>
            <a:r>
              <a:rPr lang="da-DK" dirty="0" err="1"/>
              <a:t>best</a:t>
            </a:r>
            <a:r>
              <a:rPr lang="da-DK" dirty="0"/>
              <a:t> option.</a:t>
            </a:r>
          </a:p>
          <a:p>
            <a:r>
              <a:rPr lang="da-DK" dirty="0" err="1"/>
              <a:t>Always</a:t>
            </a:r>
            <a:r>
              <a:rPr lang="da-DK" dirty="0"/>
              <a:t> </a:t>
            </a:r>
            <a:r>
              <a:rPr lang="da-DK" dirty="0" err="1"/>
              <a:t>picks</a:t>
            </a:r>
            <a:r>
              <a:rPr lang="da-DK" dirty="0"/>
              <a:t> the </a:t>
            </a:r>
            <a:r>
              <a:rPr lang="da-DK" dirty="0" err="1"/>
              <a:t>closest</a:t>
            </a:r>
            <a:r>
              <a:rPr lang="da-DK" dirty="0"/>
              <a:t> node.</a:t>
            </a:r>
          </a:p>
          <a:p>
            <a:r>
              <a:rPr lang="da-DK" dirty="0" err="1"/>
              <a:t>Does</a:t>
            </a:r>
            <a:r>
              <a:rPr lang="da-DK" dirty="0"/>
              <a:t> not </a:t>
            </a:r>
            <a:r>
              <a:rPr lang="da-DK" dirty="0" err="1"/>
              <a:t>work</a:t>
            </a:r>
            <a:r>
              <a:rPr lang="da-DK" dirty="0"/>
              <a:t> with negative </a:t>
            </a:r>
            <a:r>
              <a:rPr lang="da-DK" dirty="0" err="1"/>
              <a:t>costs</a:t>
            </a:r>
            <a:r>
              <a:rPr lang="da-DK" dirty="0"/>
              <a:t>.</a:t>
            </a:r>
          </a:p>
          <a:p>
            <a:r>
              <a:rPr lang="da-DK" dirty="0"/>
              <a:t>O(|E| </a:t>
            </a:r>
            <a:r>
              <a:rPr lang="da-DK" dirty="0" err="1"/>
              <a:t>log|V</a:t>
            </a:r>
            <a:r>
              <a:rPr lang="da-DK" dirty="0"/>
              <a:t>|) </a:t>
            </a:r>
            <a:r>
              <a:rPr lang="da-DK" dirty="0" err="1"/>
              <a:t>using</a:t>
            </a:r>
            <a:r>
              <a:rPr lang="da-DK" dirty="0"/>
              <a:t> </a:t>
            </a:r>
            <a:r>
              <a:rPr lang="da-DK" dirty="0" err="1"/>
              <a:t>appropriate</a:t>
            </a:r>
            <a:r>
              <a:rPr lang="da-DK" dirty="0"/>
              <a:t> data </a:t>
            </a:r>
            <a:r>
              <a:rPr lang="da-DK" dirty="0" err="1"/>
              <a:t>structure</a:t>
            </a:r>
            <a:r>
              <a:rPr lang="da-DK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793" y="166589"/>
            <a:ext cx="5254625" cy="271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1541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8818" y="-171400"/>
            <a:ext cx="4394200" cy="3476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269039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7131" y="-171400"/>
            <a:ext cx="4325938" cy="354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95282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7729" y="26114"/>
            <a:ext cx="4187825" cy="3124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948577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9" y="13145"/>
            <a:ext cx="5300663" cy="3176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037053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7808" y="0"/>
            <a:ext cx="4097338" cy="333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00995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/>
          <p:cNvSpPr>
            <a:spLocks noGrp="1"/>
          </p:cNvSpPr>
          <p:nvPr>
            <p:ph idx="1"/>
          </p:nvPr>
        </p:nvSpPr>
        <p:spPr>
          <a:xfrm>
            <a:off x="1981200" y="260649"/>
            <a:ext cx="8229600" cy="5865515"/>
          </a:xfrm>
        </p:spPr>
        <p:txBody>
          <a:bodyPr/>
          <a:lstStyle/>
          <a:p>
            <a:endParaRPr lang="da-DK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3429001"/>
            <a:ext cx="5359400" cy="3248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753" y="-27384"/>
            <a:ext cx="6315075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458731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Minimum </a:t>
            </a:r>
            <a:r>
              <a:rPr lang="da-DK" dirty="0" err="1"/>
              <a:t>spanning</a:t>
            </a:r>
            <a:r>
              <a:rPr lang="da-DK" dirty="0"/>
              <a:t> </a:t>
            </a:r>
            <a:r>
              <a:rPr lang="da-DK" dirty="0" err="1"/>
              <a:t>tree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Undirected</a:t>
            </a:r>
            <a:r>
              <a:rPr lang="da-DK" dirty="0"/>
              <a:t>, </a:t>
            </a:r>
            <a:r>
              <a:rPr lang="da-DK" dirty="0" err="1"/>
              <a:t>connected</a:t>
            </a:r>
            <a:r>
              <a:rPr lang="da-DK" dirty="0"/>
              <a:t> </a:t>
            </a:r>
            <a:r>
              <a:rPr lang="da-DK" dirty="0" err="1"/>
              <a:t>graph</a:t>
            </a:r>
            <a:endParaRPr lang="da-DK" dirty="0"/>
          </a:p>
          <a:p>
            <a:r>
              <a:rPr lang="da-DK" dirty="0"/>
              <a:t>Connect all nodes with minimal </a:t>
            </a:r>
            <a:r>
              <a:rPr lang="da-DK" dirty="0" err="1"/>
              <a:t>cost</a:t>
            </a:r>
            <a:r>
              <a:rPr lang="da-DK" dirty="0"/>
              <a:t>.</a:t>
            </a:r>
          </a:p>
          <a:p>
            <a:r>
              <a:rPr lang="da-DK" dirty="0" err="1"/>
              <a:t>Often</a:t>
            </a:r>
            <a:r>
              <a:rPr lang="da-DK" dirty="0"/>
              <a:t> more </a:t>
            </a:r>
            <a:r>
              <a:rPr lang="da-DK" dirty="0" err="1"/>
              <a:t>than</a:t>
            </a:r>
            <a:r>
              <a:rPr lang="da-DK" dirty="0"/>
              <a:t> </a:t>
            </a:r>
            <a:r>
              <a:rPr lang="da-DK" dirty="0" err="1"/>
              <a:t>one</a:t>
            </a:r>
            <a:r>
              <a:rPr lang="da-DK" dirty="0"/>
              <a:t> solution</a:t>
            </a:r>
          </a:p>
          <a:p>
            <a:r>
              <a:rPr lang="da-DK" dirty="0"/>
              <a:t>Can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performed</a:t>
            </a:r>
            <a:r>
              <a:rPr lang="da-DK" dirty="0"/>
              <a:t> on </a:t>
            </a:r>
            <a:r>
              <a:rPr lang="da-DK" i="1" dirty="0" err="1"/>
              <a:t>directed</a:t>
            </a:r>
            <a:r>
              <a:rPr lang="da-DK" i="1" dirty="0"/>
              <a:t> </a:t>
            </a:r>
            <a:r>
              <a:rPr lang="da-DK" i="1" dirty="0" err="1"/>
              <a:t>graphs</a:t>
            </a:r>
            <a:endParaRPr lang="da-DK" i="1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073964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Prim</a:t>
            </a:r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6146" name="Picture 2" descr="C:\Dokumenter\Arbejde\E2011\ADA5\Figurer, kapitel 7-12\0321395670_pt2\ch09\ch09gif\fig09_48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1544" y="1484784"/>
            <a:ext cx="8208912" cy="48965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878039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Prim</a:t>
            </a:r>
          </a:p>
        </p:txBody>
      </p:sp>
      <p:pic>
        <p:nvPicPr>
          <p:cNvPr id="7170" name="Picture 2" descr="C:\Dokumenter\Arbejde\E2011\ADA5\Figurer, kapitel 7-12\0321395670_pt2\ch09\ch09gif\fig09_49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4776" y="1600201"/>
            <a:ext cx="7782449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7972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Kruskal</a:t>
            </a:r>
            <a:endParaRPr lang="da-DK" dirty="0"/>
          </a:p>
        </p:txBody>
      </p:sp>
      <p:pic>
        <p:nvPicPr>
          <p:cNvPr id="8194" name="Picture 2" descr="C:\Dokumenter\Arbejde\E2011\ADA5\Figurer, kapitel 7-12\0321395670_pt2\ch09\ch09gif\fig09_57.gif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0639" y="1600201"/>
            <a:ext cx="7790723" cy="452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0272654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Kruskal</a:t>
            </a:r>
            <a:r>
              <a:rPr lang="da-DK" dirty="0"/>
              <a:t> </a:t>
            </a:r>
            <a:r>
              <a:rPr lang="da-DK" dirty="0" err="1"/>
              <a:t>pseudocode</a:t>
            </a:r>
            <a:endParaRPr lang="da-DK" dirty="0"/>
          </a:p>
        </p:txBody>
      </p:sp>
      <p:pic>
        <p:nvPicPr>
          <p:cNvPr id="4" name="Pladsholder til indhold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449" y="1600201"/>
            <a:ext cx="5245102" cy="4525963"/>
          </a:xfrm>
        </p:spPr>
      </p:pic>
    </p:spTree>
    <p:extLst>
      <p:ext uri="{BB962C8B-B14F-4D97-AF65-F5344CB8AC3E}">
        <p14:creationId xmlns:p14="http://schemas.microsoft.com/office/powerpoint/2010/main" val="680160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1989</Words>
  <Application>Microsoft Office PowerPoint</Application>
  <PresentationFormat>Widescreen</PresentationFormat>
  <Paragraphs>218</Paragraphs>
  <Slides>53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7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53</vt:i4>
      </vt:variant>
    </vt:vector>
  </HeadingPairs>
  <TitlesOfParts>
    <vt:vector size="61" baseType="lpstr">
      <vt:lpstr>Arial</vt:lpstr>
      <vt:lpstr>Calibri</vt:lpstr>
      <vt:lpstr>Calibri Light</vt:lpstr>
      <vt:lpstr>Cambria Math</vt:lpstr>
      <vt:lpstr>Courier</vt:lpstr>
      <vt:lpstr>Courier New</vt:lpstr>
      <vt:lpstr>Times New Roman</vt:lpstr>
      <vt:lpstr>Office-tema</vt:lpstr>
      <vt:lpstr>Algoritmer &amp; Datastrukturer Greatest Hits</vt:lpstr>
      <vt:lpstr>Recursion – a method that calls itself</vt:lpstr>
      <vt:lpstr>More recursion</vt:lpstr>
      <vt:lpstr>Advantages of using recursion</vt:lpstr>
      <vt:lpstr>Verification</vt:lpstr>
      <vt:lpstr>N is used to denote the number of elements  </vt:lpstr>
      <vt:lpstr>Rules of thumb</vt:lpstr>
      <vt:lpstr>Different cases</vt:lpstr>
      <vt:lpstr>The next step</vt:lpstr>
      <vt:lpstr>Hashing – briefly</vt:lpstr>
      <vt:lpstr>Hashing </vt:lpstr>
      <vt:lpstr>Hashings problem</vt:lpstr>
      <vt:lpstr>Quadratic probing</vt:lpstr>
      <vt:lpstr>Hopscotch-hashing</vt:lpstr>
      <vt:lpstr>Hopscotch example</vt:lpstr>
      <vt:lpstr>Hopscotch example</vt:lpstr>
      <vt:lpstr>Priority queue</vt:lpstr>
      <vt:lpstr>Priority queue – complete binary tree elements are added from left to right at the lowest level</vt:lpstr>
      <vt:lpstr>Implementation</vt:lpstr>
      <vt:lpstr>buildHeap()</vt:lpstr>
      <vt:lpstr>Why is buildHeap() important?</vt:lpstr>
      <vt:lpstr>Inversion</vt:lpstr>
      <vt:lpstr>Sorting</vt:lpstr>
      <vt:lpstr>More about inversions</vt:lpstr>
      <vt:lpstr>O(N2)</vt:lpstr>
      <vt:lpstr>O(N logN)</vt:lpstr>
      <vt:lpstr>bucketSort()</vt:lpstr>
      <vt:lpstr>Conclusion</vt:lpstr>
      <vt:lpstr>Introduction to trees</vt:lpstr>
      <vt:lpstr>Binary search tree</vt:lpstr>
      <vt:lpstr>Average case Analysis</vt:lpstr>
      <vt:lpstr>Average case analysis</vt:lpstr>
      <vt:lpstr>The AVL-tree</vt:lpstr>
      <vt:lpstr>AVL and non-AVL</vt:lpstr>
      <vt:lpstr>Rotation</vt:lpstr>
      <vt:lpstr>Single rotation</vt:lpstr>
      <vt:lpstr>Rotation</vt:lpstr>
      <vt:lpstr>PowerPoint-præsentation</vt:lpstr>
      <vt:lpstr>doubleWithLeftChild()</vt:lpstr>
      <vt:lpstr>Graphs –weighted shortest path - Dijkstra</vt:lpstr>
      <vt:lpstr>Graphs –weighted shortest path - Dijkstra )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Minimum spanning tree</vt:lpstr>
      <vt:lpstr>Prim</vt:lpstr>
      <vt:lpstr>Prim</vt:lpstr>
      <vt:lpstr>Kruskal</vt:lpstr>
      <vt:lpstr>Kruskal pseudocode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Algorithms &amp; Data Structures Greatest Hits</dc:title>
  <dc:creator>Ole Dolriis</dc:creator>
  <cp:lastModifiedBy>Ole Dolriis</cp:lastModifiedBy>
  <cp:revision>21</cp:revision>
  <dcterms:created xsi:type="dcterms:W3CDTF">2019-11-30T10:01:07Z</dcterms:created>
  <dcterms:modified xsi:type="dcterms:W3CDTF">2025-12-05T08:10:14Z</dcterms:modified>
</cp:coreProperties>
</file>