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8"/>
  </p:handoutMasterIdLst>
  <p:sldIdLst>
    <p:sldId id="309" r:id="rId2"/>
    <p:sldId id="268" r:id="rId3"/>
    <p:sldId id="340" r:id="rId4"/>
    <p:sldId id="341" r:id="rId5"/>
    <p:sldId id="339" r:id="rId6"/>
    <p:sldId id="342" r:id="rId7"/>
    <p:sldId id="343" r:id="rId8"/>
    <p:sldId id="258" r:id="rId9"/>
    <p:sldId id="296" r:id="rId10"/>
    <p:sldId id="310" r:id="rId11"/>
    <p:sldId id="311" r:id="rId12"/>
    <p:sldId id="29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83" r:id="rId23"/>
    <p:sldId id="284" r:id="rId24"/>
    <p:sldId id="306" r:id="rId25"/>
    <p:sldId id="305" r:id="rId26"/>
    <p:sldId id="270" r:id="rId27"/>
    <p:sldId id="271" r:id="rId28"/>
    <p:sldId id="272" r:id="rId29"/>
    <p:sldId id="274" r:id="rId30"/>
    <p:sldId id="275" r:id="rId31"/>
    <p:sldId id="276" r:id="rId32"/>
    <p:sldId id="277" r:id="rId33"/>
    <p:sldId id="278" r:id="rId34"/>
    <p:sldId id="279" r:id="rId35"/>
    <p:sldId id="282" r:id="rId36"/>
    <p:sldId id="280" r:id="rId37"/>
  </p:sldIdLst>
  <p:sldSz cx="9144000" cy="6858000" type="screen4x3"/>
  <p:notesSz cx="6797675" cy="9928225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99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E549F-61FE-4853-ACBA-54D0CEF3E0E9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8E98F-B1C5-4C1C-A693-ABB11F2438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4774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13-11-2025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13-11-2025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13-11-2025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13-11-2025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13-11-2025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13-11-2025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13-11-2025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13-11-2025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13-11-2025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13-11-2025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13-11-2025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D423F-81E4-4C73-9585-EDB5AEC6FB09}" type="datetimeFigureOut">
              <a:rPr lang="da-DK" smtClean="0"/>
              <a:pPr/>
              <a:t>13-11-2025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Algoritmer &amp; Datastrukturer </a:t>
            </a:r>
            <a:br>
              <a:rPr lang="da-DK" dirty="0"/>
            </a:br>
            <a:r>
              <a:rPr lang="da-DK" dirty="0"/>
              <a:t>12. november 2025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Træer</a:t>
            </a:r>
          </a:p>
          <a:p>
            <a:r>
              <a:rPr lang="da-DK" dirty="0"/>
              <a:t>Weiss, kapitel 4</a:t>
            </a:r>
          </a:p>
        </p:txBody>
      </p:sp>
    </p:spTree>
    <p:extLst>
      <p:ext uri="{BB962C8B-B14F-4D97-AF65-F5344CB8AC3E}">
        <p14:creationId xmlns:p14="http://schemas.microsoft.com/office/powerpoint/2010/main" val="42023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Binært søgetræ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Definition: </a:t>
            </a:r>
            <a:r>
              <a:rPr lang="da-DK" i="1" dirty="0"/>
              <a:t>balance </a:t>
            </a:r>
            <a:r>
              <a:rPr lang="da-DK" i="1" dirty="0" err="1"/>
              <a:t>condition</a:t>
            </a:r>
            <a:r>
              <a:rPr lang="da-DK" i="1" dirty="0"/>
              <a:t> </a:t>
            </a:r>
            <a:r>
              <a:rPr lang="da-DK" dirty="0"/>
              <a:t>– dybden af træet er O(log N).</a:t>
            </a:r>
          </a:p>
          <a:p>
            <a:r>
              <a:rPr lang="da-DK" dirty="0" err="1"/>
              <a:t>Søgetiden</a:t>
            </a:r>
            <a:r>
              <a:rPr lang="da-DK" dirty="0"/>
              <a:t> er så ligeledes O(log N).</a:t>
            </a:r>
          </a:p>
          <a:p>
            <a:r>
              <a:rPr lang="da-DK" dirty="0"/>
              <a:t>Det holder bare ikke, hvis træerne bliver højre- eller venstretunge på grund af gentagne indsættelser og sletninger.</a:t>
            </a:r>
          </a:p>
          <a:p>
            <a:pPr>
              <a:buNone/>
            </a:pPr>
            <a:endParaRPr lang="da-DK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C957-A5B4-8C2C-DEBB-63329A99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path length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7A097-F9C8-0718-18F2-1DC583EA0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Weiss:</a:t>
            </a:r>
          </a:p>
          <a:p>
            <a:pPr marL="0" indent="0">
              <a:buNone/>
            </a:pPr>
            <a:r>
              <a:rPr lang="da-DK" dirty="0"/>
              <a:t>”The sum of all the </a:t>
            </a:r>
            <a:r>
              <a:rPr lang="da-DK" dirty="0" err="1"/>
              <a:t>depths</a:t>
            </a:r>
            <a:r>
              <a:rPr lang="da-DK" dirty="0"/>
              <a:t> of all nodes in a </a:t>
            </a:r>
            <a:r>
              <a:rPr lang="da-DK" dirty="0" err="1"/>
              <a:t>tree</a:t>
            </a:r>
            <a:r>
              <a:rPr lang="da-DK" dirty="0"/>
              <a:t> is </a:t>
            </a:r>
            <a:r>
              <a:rPr lang="da-DK" dirty="0" err="1"/>
              <a:t>known</a:t>
            </a:r>
            <a:r>
              <a:rPr lang="da-DK" dirty="0"/>
              <a:t> as the </a:t>
            </a:r>
            <a:r>
              <a:rPr lang="da-DK" dirty="0" err="1"/>
              <a:t>internal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 </a:t>
            </a:r>
            <a:r>
              <a:rPr lang="da-DK" dirty="0" err="1"/>
              <a:t>length</a:t>
            </a:r>
            <a:r>
              <a:rPr lang="da-DK" dirty="0"/>
              <a:t>.”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Andre mener, at bladene </a:t>
            </a:r>
            <a:r>
              <a:rPr lang="da-DK" b="1" dirty="0"/>
              <a:t>ikke</a:t>
            </a:r>
            <a:r>
              <a:rPr lang="da-DK" dirty="0"/>
              <a:t> skal tælles med, og det er derfor, det hedder </a:t>
            </a:r>
            <a:r>
              <a:rPr lang="da-DK" i="1" dirty="0" err="1"/>
              <a:t>internal</a:t>
            </a:r>
            <a:r>
              <a:rPr lang="da-DK" i="1" dirty="0"/>
              <a:t> </a:t>
            </a:r>
            <a:r>
              <a:rPr lang="da-DK" dirty="0" err="1"/>
              <a:t>path</a:t>
            </a:r>
            <a:r>
              <a:rPr lang="da-DK" dirty="0"/>
              <a:t> </a:t>
            </a:r>
            <a:r>
              <a:rPr lang="da-DK" dirty="0" err="1"/>
              <a:t>length</a:t>
            </a:r>
            <a:r>
              <a:rPr lang="da-DK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56941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25A14-E2FC-219E-DC58-B251E93D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49636-6157-2A1B-EB25-13E84F959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/>
          <a:lstStyle/>
          <a:p>
            <a:pPr marL="0" indent="0">
              <a:buNone/>
            </a:pP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Internal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Path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Length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(IPL)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can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sometimes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refer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to the sum of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depths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of all nodes in a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tree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including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both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internal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nodes and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leaves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depending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on the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context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. This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broader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definition is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useful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when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talking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about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the general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structure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and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efficiency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of operations on a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binary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tree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including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searches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which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involve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both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internal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nodes and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leaves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.</a:t>
            </a:r>
            <a:b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</a:br>
            <a:b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</a:b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However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in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other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contexts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IPL is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sometimes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specifically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defined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as the sum of the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depths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of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internal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nodes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only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excluding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leaves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especially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when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we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focus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on the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structural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properties of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internal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nodes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alone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.</a:t>
            </a:r>
          </a:p>
          <a:p>
            <a:pPr marL="0" indent="0" algn="ctr">
              <a:buNone/>
            </a:pPr>
            <a:r>
              <a:rPr lang="da-DK" sz="3600" b="1" dirty="0"/>
              <a:t>Vi går med Weiss og tæller bladene med!</a:t>
            </a:r>
          </a:p>
        </p:txBody>
      </p:sp>
    </p:spTree>
    <p:extLst>
      <p:ext uri="{BB962C8B-B14F-4D97-AF65-F5344CB8AC3E}">
        <p14:creationId xmlns:p14="http://schemas.microsoft.com/office/powerpoint/2010/main" val="2379955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44862-626C-4AF3-9D51-12E67153F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1210146"/>
          </a:xfrm>
        </p:spPr>
        <p:txBody>
          <a:bodyPr>
            <a:normAutofit fontScale="90000"/>
          </a:bodyPr>
          <a:lstStyle/>
          <a:p>
            <a:r>
              <a:rPr lang="da-DK" dirty="0"/>
              <a:t>Binært træ med </a:t>
            </a:r>
            <a:r>
              <a:rPr lang="da-DK" dirty="0" err="1"/>
              <a:t>internal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 </a:t>
            </a:r>
            <a:r>
              <a:rPr lang="da-DK" dirty="0" err="1"/>
              <a:t>length</a:t>
            </a:r>
            <a:r>
              <a:rPr lang="da-DK" dirty="0"/>
              <a:t> </a:t>
            </a:r>
            <a:r>
              <a:rPr lang="da-DK"/>
              <a:t>= 19</a:t>
            </a:r>
            <a:br>
              <a:rPr lang="da-DK"/>
            </a:br>
            <a:r>
              <a:rPr lang="da-DK"/>
              <a:t>2*1 (B,C)+4*2(D,E,F,G)+3*3(H,I,J) </a:t>
            </a:r>
            <a:endParaRPr lang="da-DK" dirty="0"/>
          </a:p>
        </p:txBody>
      </p:sp>
      <p:pic>
        <p:nvPicPr>
          <p:cNvPr id="4" name="Picture 2" descr="C:\Dokumenter\Arbejde\E2011\ADA5\Figurer, kapitel 1-6\0321395670_pt1\ch06\ch06gif\fig06_02.gif">
            <a:extLst>
              <a:ext uri="{FF2B5EF4-FFF2-40B4-BE49-F238E27FC236}">
                <a16:creationId xmlns:a16="http://schemas.microsoft.com/office/drawing/2014/main" id="{11DDEDB3-2A9C-4768-AADB-4CDCA2B875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4912" y="1805781"/>
            <a:ext cx="6734175" cy="4114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3435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Average case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da-DK" dirty="0"/>
                  <a:t>Summen af dybderne af samtlige noder kaldes træets </a:t>
                </a:r>
                <a:r>
                  <a:rPr lang="da-DK" b="1" dirty="0" err="1"/>
                  <a:t>internal</a:t>
                </a:r>
                <a:r>
                  <a:rPr lang="da-DK" b="1" dirty="0"/>
                  <a:t> </a:t>
                </a:r>
                <a:r>
                  <a:rPr lang="da-DK" b="1" dirty="0" err="1"/>
                  <a:t>path</a:t>
                </a:r>
                <a:r>
                  <a:rPr lang="da-DK" b="1" dirty="0"/>
                  <a:t> </a:t>
                </a:r>
                <a:r>
                  <a:rPr lang="da-DK" b="1" dirty="0" err="1"/>
                  <a:t>length</a:t>
                </a:r>
                <a:r>
                  <a:rPr lang="da-DK" dirty="0"/>
                  <a:t> og kan beskrives på følgende måde:</a:t>
                </a:r>
              </a:p>
              <a:p>
                <a:pPr marL="0" indent="0" algn="ctr">
                  <a:buNone/>
                </a:pPr>
                <a:r>
                  <a:rPr lang="da-DK" dirty="0"/>
                  <a:t>D(N) = D(i) + D(N – i – 1) + N – 1</a:t>
                </a:r>
              </a:p>
              <a:p>
                <a:pPr marL="0" indent="0">
                  <a:buNone/>
                </a:pPr>
                <a:r>
                  <a:rPr lang="da-DK" dirty="0"/>
                  <a:t>Hvor de to første elementer på højresiden er venstre og højre </a:t>
                </a:r>
                <a:r>
                  <a:rPr lang="da-DK" dirty="0" err="1"/>
                  <a:t>subtræ</a:t>
                </a:r>
                <a:r>
                  <a:rPr lang="da-DK" dirty="0"/>
                  <a:t> set fra roden.</a:t>
                </a:r>
              </a:p>
              <a:p>
                <a:pPr marL="0" indent="0">
                  <a:buNone/>
                </a:pPr>
                <a:r>
                  <a:rPr lang="da-DK" dirty="0"/>
                  <a:t>Gennemsnitsværdien af D(N) kan beskrives som en </a:t>
                </a:r>
                <a:r>
                  <a:rPr lang="da-DK" i="1" dirty="0" err="1"/>
                  <a:t>rekurrens</a:t>
                </a:r>
                <a:r>
                  <a:rPr lang="da-DK" i="1" dirty="0"/>
                  <a:t>, </a:t>
                </a:r>
                <a:r>
                  <a:rPr lang="da-DK" dirty="0"/>
                  <a:t>på denne måde: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>
                          <a:latin typeface="Cambria Math"/>
                        </a:rPr>
                        <m:t>𝐷</m:t>
                      </m:r>
                      <m:r>
                        <a:rPr lang="da-DK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da-DK">
                          <a:latin typeface="Cambria Math"/>
                        </a:rPr>
                        <m:t>N</m:t>
                      </m:r>
                      <m:r>
                        <a:rPr lang="da-DK">
                          <a:latin typeface="Cambria Math"/>
                        </a:rPr>
                        <m:t>)</m:t>
                      </m:r>
                      <m:r>
                        <a:rPr lang="da-DK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i="1">
                              <a:latin typeface="Cambria Math"/>
                            </a:rPr>
                            <m:t> </m:t>
                          </m:r>
                        </m:e>
                      </m:d>
                      <m:nary>
                        <m:naryPr>
                          <m:chr m:val="∑"/>
                          <m:grow m:val="on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i="1">
                              <a:latin typeface="Cambria Math"/>
                            </a:rPr>
                            <m:t>𝑗</m:t>
                          </m:r>
                          <m:r>
                            <a:rPr lang="da-DK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r>
                            <a:rPr lang="da-DK" i="1">
                              <a:latin typeface="Cambria Math"/>
                            </a:rPr>
                            <m:t>𝐷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d>
                            <m:dPr>
                              <m:begChr m:val=""/>
                              <m:endChr m:val="]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  <m:r>
                            <a:rPr lang="da-DK" i="1">
                              <a:latin typeface="Cambria Math"/>
                            </a:rPr>
                            <m:t>+</m:t>
                          </m:r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−1</m:t>
                          </m:r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 algn="ctr">
                  <a:buNone/>
                </a:pPr>
                <a:endParaRPr lang="da-DK" i="1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07" t="-21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775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Average case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600200"/>
                <a:ext cx="8640960" cy="4983162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da-DK" dirty="0"/>
                  <a:t>Det kan (som bekendt) bevises, 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>
                          <a:latin typeface="Cambria Math"/>
                        </a:rPr>
                        <m:t>𝐷</m:t>
                      </m:r>
                      <m:r>
                        <a:rPr lang="da-DK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da-DK">
                          <a:latin typeface="Cambria Math"/>
                        </a:rPr>
                        <m:t>N</m:t>
                      </m:r>
                      <m:r>
                        <a:rPr lang="da-DK">
                          <a:latin typeface="Cambria Math"/>
                        </a:rPr>
                        <m:t>)</m:t>
                      </m:r>
                      <m:r>
                        <a:rPr lang="da-DK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i="1">
                              <a:latin typeface="Cambria Math"/>
                            </a:rPr>
                            <m:t> </m:t>
                          </m:r>
                        </m:e>
                      </m:d>
                      <m:nary>
                        <m:naryPr>
                          <m:chr m:val="∑"/>
                          <m:grow m:val="on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i="1">
                              <a:latin typeface="Cambria Math"/>
                            </a:rPr>
                            <m:t>𝑗</m:t>
                          </m:r>
                          <m:r>
                            <a:rPr lang="da-DK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r>
                            <a:rPr lang="da-DK" i="1">
                              <a:latin typeface="Cambria Math"/>
                            </a:rPr>
                            <m:t>𝐷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d>
                            <m:dPr>
                              <m:begChr m:val=""/>
                              <m:endChr m:val="]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  <m:r>
                            <a:rPr lang="da-DK" i="1">
                              <a:latin typeface="Cambria Math"/>
                            </a:rPr>
                            <m:t>+</m:t>
                          </m:r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−1</m:t>
                          </m:r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er O(N log N), hvilket betyder at den </a:t>
                </a:r>
                <a:r>
                  <a:rPr lang="da-DK" b="1" dirty="0"/>
                  <a:t>gennemsnitlige</a:t>
                </a:r>
                <a:r>
                  <a:rPr lang="da-DK" dirty="0"/>
                  <a:t> dybde for alle noder i et træ er O(log N).</a:t>
                </a:r>
              </a:p>
              <a:p>
                <a:pPr marL="0" indent="0">
                  <a:buNone/>
                </a:pPr>
                <a:r>
                  <a:rPr lang="da-DK" dirty="0"/>
                  <a:t>Det giver mening under antagelse af, at alle træer er lige sandsynlige og dermed, at alle indsættelses-sekvenser er lige sandsynlige.</a:t>
                </a:r>
              </a:p>
              <a:p>
                <a:pPr marL="0" indent="0">
                  <a:buNone/>
                </a:pPr>
                <a:r>
                  <a:rPr lang="da-DK" dirty="0"/>
                  <a:t>Husk at i det perfekte træ er den </a:t>
                </a:r>
                <a:r>
                  <a:rPr lang="da-DK" b="1" dirty="0"/>
                  <a:t>maksimale </a:t>
                </a:r>
                <a:r>
                  <a:rPr lang="da-DK" dirty="0"/>
                  <a:t>dybde O(log N).</a:t>
                </a: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600200"/>
                <a:ext cx="8640960" cy="4983162"/>
              </a:xfrm>
              <a:blipFill>
                <a:blip r:embed="rId2"/>
                <a:stretch>
                  <a:fillRect l="-1340" t="-1958" r="-20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904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Et temmelig ubalanceret træ</a:t>
            </a:r>
          </a:p>
        </p:txBody>
      </p:sp>
      <p:pic>
        <p:nvPicPr>
          <p:cNvPr id="1026" name="Picture 2" descr="C:\Dokumenter\Arbejde\E2011\ADA5\Figurer, kapitel 1-6\0321395670_pt1\ch04\ch04gif\fig04_27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7509" y="1600200"/>
            <a:ext cx="7448981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da-DK" dirty="0"/>
              <a:t>Tilfældigt generet træ – med 500 noder – gennemsnitsdybden er 9,98 (log 500 ~ 9)</a:t>
            </a:r>
          </a:p>
        </p:txBody>
      </p:sp>
      <p:pic>
        <p:nvPicPr>
          <p:cNvPr id="1026" name="Picture 2" descr="C:\Users\Administrator\Documents\Arbejde\E2011\ADA5\Figurer, kapitel 1-6\0321395670_pt1\ch04\ch04gif\fig04_26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146" y="1600200"/>
            <a:ext cx="6459707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457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Problemerne med average case og anden analyse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Er massive. Overvej følgende:</a:t>
            </a:r>
          </a:p>
          <a:p>
            <a:r>
              <a:rPr lang="da-DK" dirty="0"/>
              <a:t>Er alle træer lige sandsynlige?</a:t>
            </a:r>
          </a:p>
          <a:p>
            <a:r>
              <a:rPr lang="da-DK" dirty="0"/>
              <a:t>Hvad hvis input er mere eller mindre sorteret?</a:t>
            </a:r>
          </a:p>
          <a:p>
            <a:r>
              <a:rPr lang="da-DK" dirty="0"/>
              <a:t>Hvad betyder </a:t>
            </a:r>
            <a:r>
              <a:rPr lang="da-DK" i="1" dirty="0"/>
              <a:t>average </a:t>
            </a:r>
            <a:r>
              <a:rPr lang="da-DK" dirty="0"/>
              <a:t>egentlig?</a:t>
            </a:r>
          </a:p>
          <a:p>
            <a:r>
              <a:rPr lang="da-DK" dirty="0"/>
              <a:t>Antallet af muligheder er overvældende stort.</a:t>
            </a:r>
          </a:p>
        </p:txBody>
      </p:sp>
    </p:spTree>
    <p:extLst>
      <p:ext uri="{BB962C8B-B14F-4D97-AF65-F5344CB8AC3E}">
        <p14:creationId xmlns:p14="http://schemas.microsoft.com/office/powerpoint/2010/main" val="2449888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Konklusion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Alting bliver meget nemmere, hvis træet er </a:t>
            </a:r>
            <a:r>
              <a:rPr lang="da-DK" i="1" dirty="0">
                <a:sym typeface="Wingdings" pitchFamily="2" charset="2"/>
              </a:rPr>
              <a:t>balanceret</a:t>
            </a:r>
            <a:r>
              <a:rPr lang="da-DK" dirty="0">
                <a:sym typeface="Wingdings" pitchFamily="2" charset="2"/>
              </a:rPr>
              <a:t>, hvilket betyder, at</a:t>
            </a:r>
          </a:p>
          <a:p>
            <a:r>
              <a:rPr lang="da-DK" dirty="0">
                <a:sym typeface="Wingdings" pitchFamily="2" charset="2"/>
              </a:rPr>
              <a:t>Dybden er altid O(log N)</a:t>
            </a:r>
          </a:p>
          <a:p>
            <a:r>
              <a:rPr lang="da-DK" dirty="0">
                <a:sym typeface="Wingdings" pitchFamily="2" charset="2"/>
              </a:rPr>
              <a:t>Eller med andre ord: for hver node er højdeforskellen på dets subtræer aldrig større end 1.</a:t>
            </a:r>
          </a:p>
          <a:p>
            <a:r>
              <a:rPr lang="da-DK" dirty="0">
                <a:sym typeface="Wingdings" pitchFamily="2" charset="2"/>
              </a:rPr>
              <a:t>En løsning er det såkaldte AVL-træ.</a:t>
            </a:r>
          </a:p>
        </p:txBody>
      </p:sp>
    </p:spTree>
    <p:extLst>
      <p:ext uri="{BB962C8B-B14F-4D97-AF65-F5344CB8AC3E}">
        <p14:creationId xmlns:p14="http://schemas.microsoft.com/office/powerpoint/2010/main" val="2473668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Det mindste balancerede træ </a:t>
            </a:r>
            <a:r>
              <a:rPr lang="da-DK"/>
              <a:t>med højden </a:t>
            </a:r>
            <a:r>
              <a:rPr lang="da-DK" dirty="0"/>
              <a:t>9. Hvordan ser det største ud?</a:t>
            </a:r>
          </a:p>
        </p:txBody>
      </p:sp>
      <p:pic>
        <p:nvPicPr>
          <p:cNvPr id="2050" name="Picture 2" descr="C:\Users\Administrator\Documents\Arbejde\E2011\ADA5\Figurer, kapitel 1-6\0321395670_pt1\ch04\ch04gif\fig04_30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76" y="1600200"/>
            <a:ext cx="6505247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994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AVL-træet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AVL ~ </a:t>
            </a:r>
            <a:r>
              <a:rPr lang="da-DK" dirty="0" err="1"/>
              <a:t>Adelson-Velskii</a:t>
            </a:r>
            <a:r>
              <a:rPr lang="da-DK" dirty="0"/>
              <a:t> &amp; </a:t>
            </a:r>
            <a:r>
              <a:rPr lang="da-DK" dirty="0" err="1"/>
              <a:t>Landis</a:t>
            </a:r>
            <a:r>
              <a:rPr lang="da-DK" dirty="0"/>
              <a:t>.</a:t>
            </a:r>
          </a:p>
          <a:p>
            <a:r>
              <a:rPr lang="da-DK" dirty="0"/>
              <a:t>AVL-træet har en </a:t>
            </a:r>
            <a:r>
              <a:rPr lang="da-DK" i="1" dirty="0"/>
              <a:t>balance </a:t>
            </a:r>
            <a:r>
              <a:rPr lang="da-DK" i="1" dirty="0" err="1"/>
              <a:t>condition</a:t>
            </a:r>
            <a:r>
              <a:rPr lang="da-DK" i="1" dirty="0"/>
              <a:t>.</a:t>
            </a:r>
          </a:p>
          <a:p>
            <a:r>
              <a:rPr lang="da-DK" dirty="0"/>
              <a:t>For alle node i træet må variationen i højden af nodens subtræer højest være 1.</a:t>
            </a:r>
          </a:p>
          <a:p>
            <a:r>
              <a:rPr lang="da-DK" dirty="0"/>
              <a:t>Ændringer i træet, som tilsikrer balancen, kaldes </a:t>
            </a:r>
            <a:r>
              <a:rPr lang="da-DK" i="1" dirty="0"/>
              <a:t>rotationer.</a:t>
            </a:r>
            <a:endParaRPr lang="da-DK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AVL and non-AVL</a:t>
            </a:r>
          </a:p>
        </p:txBody>
      </p:sp>
      <p:pic>
        <p:nvPicPr>
          <p:cNvPr id="2050" name="Picture 2" descr="C:\Dokumenter\Arbejde\E2011\ADA5\Figurer, kapitel 1-6\0321395670_pt1\ch04\ch04gif\fig04_29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300228"/>
            <a:ext cx="8229600" cy="31259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Rotation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/>
          <a:lstStyle/>
          <a:p>
            <a:r>
              <a:rPr lang="da-DK" dirty="0"/>
              <a:t>Efter indsættelse af en ny node (fx 6 i træet til venstre på foregående slide), kan træet være ubalanceret.</a:t>
            </a:r>
          </a:p>
          <a:p>
            <a:r>
              <a:rPr lang="da-DK" i="1" dirty="0"/>
              <a:t>Single rotation</a:t>
            </a:r>
            <a:r>
              <a:rPr lang="da-DK" dirty="0"/>
              <a:t> kan løse problemet.</a:t>
            </a:r>
            <a:endParaRPr lang="da-DK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Single rotation</a:t>
            </a:r>
          </a:p>
        </p:txBody>
      </p:sp>
      <p:pic>
        <p:nvPicPr>
          <p:cNvPr id="3074" name="Picture 2" descr="C:\Dokumenter\Arbejde\E2011\ADA5\Figurer, kapitel 1-6\0321395670_pt1\ch04\ch04gif\fig04_32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06939"/>
            <a:ext cx="8229600" cy="33124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Rotation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da-DK" sz="3000" dirty="0"/>
              <a:t>Behovet for rotation kan opstå i fire tilfælde:</a:t>
            </a:r>
          </a:p>
          <a:p>
            <a:pPr>
              <a:buNone/>
            </a:pPr>
            <a:endParaRPr lang="da-DK" sz="3000" dirty="0"/>
          </a:p>
          <a:p>
            <a:pPr marL="514350" indent="-514350">
              <a:buFont typeface="+mj-lt"/>
              <a:buAutoNum type="arabicPeriod"/>
            </a:pPr>
            <a:r>
              <a:rPr lang="da-DK" sz="3000" dirty="0"/>
              <a:t>Indsættelse i venstre </a:t>
            </a:r>
            <a:r>
              <a:rPr lang="da-DK" sz="3000" dirty="0" err="1"/>
              <a:t>subtræ</a:t>
            </a:r>
            <a:r>
              <a:rPr lang="da-DK" sz="3000" dirty="0"/>
              <a:t> af venstre barn af α.</a:t>
            </a:r>
          </a:p>
          <a:p>
            <a:pPr marL="514350" indent="-514350">
              <a:buFont typeface="+mj-lt"/>
              <a:buAutoNum type="arabicPeriod"/>
            </a:pPr>
            <a:r>
              <a:rPr lang="da-DK" sz="3000" dirty="0"/>
              <a:t>Indsættelse i højre </a:t>
            </a:r>
            <a:r>
              <a:rPr lang="da-DK" sz="3000" dirty="0" err="1"/>
              <a:t>subtræ</a:t>
            </a:r>
            <a:r>
              <a:rPr lang="da-DK" sz="3000" dirty="0"/>
              <a:t> af venstre barn af α.</a:t>
            </a:r>
          </a:p>
          <a:p>
            <a:pPr marL="514350" indent="-514350">
              <a:buFont typeface="+mj-lt"/>
              <a:buAutoNum type="arabicPeriod"/>
            </a:pPr>
            <a:r>
              <a:rPr lang="da-DK" sz="3000" dirty="0"/>
              <a:t>Indsættelse i venstre </a:t>
            </a:r>
            <a:r>
              <a:rPr lang="da-DK" sz="3000" dirty="0" err="1"/>
              <a:t>subtræ</a:t>
            </a:r>
            <a:r>
              <a:rPr lang="da-DK" sz="3000" dirty="0"/>
              <a:t> af højre barn af α.</a:t>
            </a:r>
          </a:p>
          <a:p>
            <a:pPr marL="514350" indent="-514350">
              <a:buFont typeface="+mj-lt"/>
              <a:buAutoNum type="arabicPeriod"/>
            </a:pPr>
            <a:r>
              <a:rPr lang="da-DK" sz="3000" dirty="0"/>
              <a:t>Indsættelse i højre </a:t>
            </a:r>
            <a:r>
              <a:rPr lang="da-DK" sz="3000" dirty="0" err="1"/>
              <a:t>subtræ</a:t>
            </a:r>
            <a:r>
              <a:rPr lang="da-DK" sz="3000" dirty="0"/>
              <a:t> af højre barn af α.</a:t>
            </a:r>
          </a:p>
          <a:p>
            <a:pPr marL="514350" indent="-514350">
              <a:buFont typeface="+mj-lt"/>
              <a:buAutoNum type="arabicPeriod"/>
            </a:pPr>
            <a:endParaRPr lang="da-DK" sz="3000" dirty="0"/>
          </a:p>
          <a:p>
            <a:pPr marL="0" indent="0">
              <a:buNone/>
            </a:pPr>
            <a:r>
              <a:rPr lang="da-DK" sz="3000" dirty="0"/>
              <a:t>Bemærk symmetrien.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Single rotation for 1</a:t>
            </a:r>
          </a:p>
        </p:txBody>
      </p:sp>
      <p:pic>
        <p:nvPicPr>
          <p:cNvPr id="4098" name="Picture 2" descr="C:\Dokumenter\Arbejde\E2011\ADA5\Figurer, kapitel 1-6\0321395670_pt1\ch04\ch04gif\fig04_31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787389"/>
            <a:ext cx="8229600" cy="21515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Single rotation for 4</a:t>
            </a:r>
          </a:p>
        </p:txBody>
      </p:sp>
      <p:pic>
        <p:nvPicPr>
          <p:cNvPr id="5122" name="Picture 2" descr="C:\Dokumenter\Arbejde\E2011\ADA5\Figurer, kapitel 1-6\0321395670_pt1\ch04\ch04gif\fig04_33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735897"/>
            <a:ext cx="8229600" cy="22545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Left</a:t>
            </a:r>
            <a:r>
              <a:rPr lang="da-DK" dirty="0"/>
              <a:t>/right double rotation for 2</a:t>
            </a:r>
          </a:p>
        </p:txBody>
      </p:sp>
      <p:pic>
        <p:nvPicPr>
          <p:cNvPr id="6146" name="Picture 2" descr="C:\Dokumenter\Arbejde\E2011\ADA5\Figurer, kapitel 1-6\0321395670_pt1\ch04\ch04gif\fig04_35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912021"/>
            <a:ext cx="8229600" cy="19023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Left</a:t>
            </a:r>
            <a:r>
              <a:rPr lang="da-DK" dirty="0"/>
              <a:t>/right double rotation for 3</a:t>
            </a:r>
          </a:p>
        </p:txBody>
      </p:sp>
      <p:pic>
        <p:nvPicPr>
          <p:cNvPr id="7170" name="Picture 2" descr="C:\Dokumenter\Arbejde\E2011\ADA5\Figurer, kapitel 1-6\0321395670_pt1\ch04\ch04gif\fig04_36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85864"/>
            <a:ext cx="8229600" cy="19546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private </a:t>
            </a:r>
            <a:r>
              <a:rPr lang="da-DK" sz="1600" dirty="0" err="1">
                <a:latin typeface="Courier" pitchFamily="49" charset="0"/>
              </a:rPr>
              <a:t>AvlNode</a:t>
            </a:r>
            <a:r>
              <a:rPr lang="da-DK" sz="1600" dirty="0">
                <a:latin typeface="Courier" pitchFamily="49" charset="0"/>
              </a:rPr>
              <a:t>&lt;</a:t>
            </a:r>
            <a:r>
              <a:rPr lang="da-DK" sz="1600" dirty="0" err="1">
                <a:latin typeface="Courier" pitchFamily="49" charset="0"/>
              </a:rPr>
              <a:t>AnyType</a:t>
            </a:r>
            <a:r>
              <a:rPr lang="da-DK" sz="1600" dirty="0">
                <a:latin typeface="Courier" pitchFamily="49" charset="0"/>
              </a:rPr>
              <a:t>&gt; </a:t>
            </a:r>
            <a:r>
              <a:rPr lang="da-DK" sz="1600" dirty="0" err="1">
                <a:latin typeface="Courier" pitchFamily="49" charset="0"/>
              </a:rPr>
              <a:t>insert</a:t>
            </a:r>
            <a:r>
              <a:rPr lang="da-DK" sz="1600" dirty="0">
                <a:latin typeface="Courier" pitchFamily="49" charset="0"/>
              </a:rPr>
              <a:t>( </a:t>
            </a:r>
            <a:r>
              <a:rPr lang="da-DK" sz="1600" dirty="0" err="1">
                <a:latin typeface="Courier" pitchFamily="49" charset="0"/>
              </a:rPr>
              <a:t>AnyType</a:t>
            </a:r>
            <a:r>
              <a:rPr lang="da-DK" sz="1600" dirty="0">
                <a:latin typeface="Courier" pitchFamily="49" charset="0"/>
              </a:rPr>
              <a:t> x, </a:t>
            </a:r>
            <a:r>
              <a:rPr lang="da-DK" sz="1600" dirty="0" err="1">
                <a:latin typeface="Courier" pitchFamily="49" charset="0"/>
              </a:rPr>
              <a:t>AvlNode</a:t>
            </a:r>
            <a:r>
              <a:rPr lang="da-DK" sz="1600" dirty="0">
                <a:latin typeface="Courier" pitchFamily="49" charset="0"/>
              </a:rPr>
              <a:t>&lt;</a:t>
            </a:r>
            <a:r>
              <a:rPr lang="da-DK" sz="1600" dirty="0" err="1">
                <a:latin typeface="Courier" pitchFamily="49" charset="0"/>
              </a:rPr>
              <a:t>AnyType</a:t>
            </a:r>
            <a:r>
              <a:rPr lang="da-DK" sz="1600" dirty="0">
                <a:latin typeface="Courier" pitchFamily="49" charset="0"/>
              </a:rPr>
              <a:t>&gt; t )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{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if( t == </a:t>
            </a:r>
            <a:r>
              <a:rPr lang="da-DK" sz="1600" dirty="0" err="1">
                <a:latin typeface="Courier" pitchFamily="49" charset="0"/>
              </a:rPr>
              <a:t>null</a:t>
            </a:r>
            <a:r>
              <a:rPr lang="da-DK" sz="1600" dirty="0">
                <a:latin typeface="Courier" pitchFamily="49" charset="0"/>
              </a:rPr>
              <a:t> )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    </a:t>
            </a:r>
            <a:r>
              <a:rPr lang="da-DK" sz="1600" dirty="0" err="1">
                <a:latin typeface="Courier" pitchFamily="49" charset="0"/>
              </a:rPr>
              <a:t>return</a:t>
            </a:r>
            <a:r>
              <a:rPr lang="da-DK" sz="1600" dirty="0">
                <a:latin typeface="Courier" pitchFamily="49" charset="0"/>
              </a:rPr>
              <a:t> new </a:t>
            </a:r>
            <a:r>
              <a:rPr lang="da-DK" sz="1600" dirty="0" err="1">
                <a:latin typeface="Courier" pitchFamily="49" charset="0"/>
              </a:rPr>
              <a:t>AvlNode</a:t>
            </a:r>
            <a:r>
              <a:rPr lang="da-DK" sz="1600" dirty="0">
                <a:latin typeface="Courier" pitchFamily="49" charset="0"/>
              </a:rPr>
              <a:t>&lt;</a:t>
            </a:r>
            <a:r>
              <a:rPr lang="da-DK" sz="1600" dirty="0" err="1">
                <a:latin typeface="Courier" pitchFamily="49" charset="0"/>
              </a:rPr>
              <a:t>AnyType</a:t>
            </a:r>
            <a:r>
              <a:rPr lang="da-DK" sz="1600" dirty="0">
                <a:latin typeface="Courier" pitchFamily="49" charset="0"/>
              </a:rPr>
              <a:t>&gt;( x, </a:t>
            </a:r>
            <a:r>
              <a:rPr lang="da-DK" sz="1600" dirty="0" err="1">
                <a:latin typeface="Courier" pitchFamily="49" charset="0"/>
              </a:rPr>
              <a:t>null</a:t>
            </a:r>
            <a:r>
              <a:rPr lang="da-DK" sz="1600" dirty="0">
                <a:latin typeface="Courier" pitchFamily="49" charset="0"/>
              </a:rPr>
              <a:t>, </a:t>
            </a:r>
            <a:r>
              <a:rPr lang="da-DK" sz="1600" dirty="0" err="1">
                <a:latin typeface="Courier" pitchFamily="49" charset="0"/>
              </a:rPr>
              <a:t>null</a:t>
            </a:r>
            <a:r>
              <a:rPr lang="da-DK" sz="1600" dirty="0">
                <a:latin typeface="Courier" pitchFamily="49" charset="0"/>
              </a:rPr>
              <a:t> );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</a:t>
            </a:r>
            <a:r>
              <a:rPr lang="da-DK" sz="1600" dirty="0" err="1">
                <a:latin typeface="Courier" pitchFamily="49" charset="0"/>
              </a:rPr>
              <a:t>int</a:t>
            </a:r>
            <a:r>
              <a:rPr lang="da-DK" sz="1600" dirty="0">
                <a:latin typeface="Courier" pitchFamily="49" charset="0"/>
              </a:rPr>
              <a:t> </a:t>
            </a:r>
            <a:r>
              <a:rPr lang="da-DK" sz="1600" dirty="0" err="1">
                <a:latin typeface="Courier" pitchFamily="49" charset="0"/>
              </a:rPr>
              <a:t>compareResult</a:t>
            </a:r>
            <a:r>
              <a:rPr lang="da-DK" sz="1600" dirty="0">
                <a:latin typeface="Courier" pitchFamily="49" charset="0"/>
              </a:rPr>
              <a:t> = </a:t>
            </a:r>
            <a:r>
              <a:rPr lang="da-DK" sz="1600" dirty="0" err="1">
                <a:latin typeface="Courier" pitchFamily="49" charset="0"/>
              </a:rPr>
              <a:t>x.compareTo</a:t>
            </a:r>
            <a:r>
              <a:rPr lang="da-DK" sz="1600" dirty="0">
                <a:latin typeface="Courier" pitchFamily="49" charset="0"/>
              </a:rPr>
              <a:t>( </a:t>
            </a:r>
            <a:r>
              <a:rPr lang="da-DK" sz="1600" dirty="0" err="1">
                <a:latin typeface="Courier" pitchFamily="49" charset="0"/>
              </a:rPr>
              <a:t>t.element</a:t>
            </a:r>
            <a:r>
              <a:rPr lang="da-DK" sz="1600" dirty="0">
                <a:latin typeface="Courier" pitchFamily="49" charset="0"/>
              </a:rPr>
              <a:t> );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if( </a:t>
            </a:r>
            <a:r>
              <a:rPr lang="da-DK" sz="1600" dirty="0" err="1">
                <a:latin typeface="Courier" pitchFamily="49" charset="0"/>
              </a:rPr>
              <a:t>compareResult</a:t>
            </a:r>
            <a:r>
              <a:rPr lang="da-DK" sz="1600" dirty="0">
                <a:latin typeface="Courier" pitchFamily="49" charset="0"/>
              </a:rPr>
              <a:t> &lt; 0 )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    </a:t>
            </a:r>
            <a:r>
              <a:rPr lang="da-DK" sz="1600" dirty="0" err="1">
                <a:latin typeface="Courier" pitchFamily="49" charset="0"/>
              </a:rPr>
              <a:t>t.left</a:t>
            </a:r>
            <a:r>
              <a:rPr lang="da-DK" sz="1600" dirty="0">
                <a:latin typeface="Courier" pitchFamily="49" charset="0"/>
              </a:rPr>
              <a:t> = </a:t>
            </a:r>
            <a:r>
              <a:rPr lang="da-DK" sz="1600" dirty="0" err="1">
                <a:latin typeface="Courier" pitchFamily="49" charset="0"/>
              </a:rPr>
              <a:t>insert</a:t>
            </a:r>
            <a:r>
              <a:rPr lang="da-DK" sz="1600" dirty="0">
                <a:latin typeface="Courier" pitchFamily="49" charset="0"/>
              </a:rPr>
              <a:t>( x, </a:t>
            </a:r>
            <a:r>
              <a:rPr lang="da-DK" sz="1600" dirty="0" err="1">
                <a:latin typeface="Courier" pitchFamily="49" charset="0"/>
              </a:rPr>
              <a:t>t.left</a:t>
            </a:r>
            <a:r>
              <a:rPr lang="da-DK" sz="1600" dirty="0">
                <a:latin typeface="Courier" pitchFamily="49" charset="0"/>
              </a:rPr>
              <a:t> );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</a:t>
            </a:r>
            <a:r>
              <a:rPr lang="da-DK" sz="1600" dirty="0" err="1">
                <a:latin typeface="Courier" pitchFamily="49" charset="0"/>
              </a:rPr>
              <a:t>else</a:t>
            </a:r>
            <a:r>
              <a:rPr lang="da-DK" sz="1600" dirty="0">
                <a:latin typeface="Courier" pitchFamily="49" charset="0"/>
              </a:rPr>
              <a:t> if( </a:t>
            </a:r>
            <a:r>
              <a:rPr lang="da-DK" sz="1600" dirty="0" err="1">
                <a:latin typeface="Courier" pitchFamily="49" charset="0"/>
              </a:rPr>
              <a:t>compareResult</a:t>
            </a:r>
            <a:r>
              <a:rPr lang="da-DK" sz="1600" dirty="0">
                <a:latin typeface="Courier" pitchFamily="49" charset="0"/>
              </a:rPr>
              <a:t> &gt; 0 )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    </a:t>
            </a:r>
            <a:r>
              <a:rPr lang="da-DK" sz="1600" dirty="0" err="1">
                <a:latin typeface="Courier" pitchFamily="49" charset="0"/>
              </a:rPr>
              <a:t>t.right</a:t>
            </a:r>
            <a:r>
              <a:rPr lang="da-DK" sz="1600" dirty="0">
                <a:latin typeface="Courier" pitchFamily="49" charset="0"/>
              </a:rPr>
              <a:t> = </a:t>
            </a:r>
            <a:r>
              <a:rPr lang="da-DK" sz="1600" dirty="0" err="1">
                <a:latin typeface="Courier" pitchFamily="49" charset="0"/>
              </a:rPr>
              <a:t>insert</a:t>
            </a:r>
            <a:r>
              <a:rPr lang="da-DK" sz="1600" dirty="0">
                <a:latin typeface="Courier" pitchFamily="49" charset="0"/>
              </a:rPr>
              <a:t>( x, </a:t>
            </a:r>
            <a:r>
              <a:rPr lang="da-DK" sz="1600" dirty="0" err="1">
                <a:latin typeface="Courier" pitchFamily="49" charset="0"/>
              </a:rPr>
              <a:t>t.right</a:t>
            </a:r>
            <a:r>
              <a:rPr lang="da-DK" sz="1600" dirty="0">
                <a:latin typeface="Courier" pitchFamily="49" charset="0"/>
              </a:rPr>
              <a:t> );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</a:t>
            </a:r>
            <a:r>
              <a:rPr lang="da-DK" sz="1600" dirty="0" err="1">
                <a:latin typeface="Courier" pitchFamily="49" charset="0"/>
              </a:rPr>
              <a:t>else</a:t>
            </a:r>
            <a:endParaRPr lang="da-DK" sz="1600" dirty="0">
              <a:latin typeface="Courier" pitchFamily="49" charset="0"/>
            </a:endParaRP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    ;  // </a:t>
            </a:r>
            <a:r>
              <a:rPr lang="da-DK" sz="1600" dirty="0" err="1">
                <a:latin typeface="Courier" pitchFamily="49" charset="0"/>
              </a:rPr>
              <a:t>Duplicate</a:t>
            </a:r>
            <a:r>
              <a:rPr lang="da-DK" sz="1600" dirty="0">
                <a:latin typeface="Courier" pitchFamily="49" charset="0"/>
              </a:rPr>
              <a:t>; do </a:t>
            </a:r>
            <a:r>
              <a:rPr lang="da-DK" sz="1600" dirty="0" err="1">
                <a:latin typeface="Courier" pitchFamily="49" charset="0"/>
              </a:rPr>
              <a:t>nothing</a:t>
            </a:r>
            <a:endParaRPr lang="da-DK" sz="1600" dirty="0">
              <a:latin typeface="Courier" pitchFamily="49" charset="0"/>
            </a:endParaRP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</a:t>
            </a:r>
            <a:r>
              <a:rPr lang="da-DK" sz="1600" dirty="0" err="1">
                <a:latin typeface="Courier" pitchFamily="49" charset="0"/>
              </a:rPr>
              <a:t>return</a:t>
            </a:r>
            <a:r>
              <a:rPr lang="da-DK" sz="1600" dirty="0">
                <a:latin typeface="Courier" pitchFamily="49" charset="0"/>
              </a:rPr>
              <a:t> balance( t );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}</a:t>
            </a:r>
          </a:p>
          <a:p>
            <a:pPr marL="0" indent="0">
              <a:buNone/>
            </a:pPr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1917650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balance()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private AvlNode&lt;AnyType&gt; balance( AvlNode&lt;AnyType&gt; t )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{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if( t == null )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    return t;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if( height( t.left ) - height( t.right ) &gt; ALLOWED_IMBALANCE )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    if( height( t.left.left ) &gt;= height( t.left.right ) )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        t = rotateWithLeftChild( t );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    else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        t = doubleWithLeftChild( t );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else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if( height( t.right ) - height( t.left ) &gt; ALLOWED_IMBALANCE )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    if( height( t.right.right ) &gt;= height( t.right.left ) )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        t = rotateWithRightChild( t );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    else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        t = doubleWithRightChild( t );</a:t>
            </a:r>
          </a:p>
          <a:p>
            <a:pPr marL="0" indent="0">
              <a:buNone/>
            </a:pPr>
            <a:endParaRPr lang="da-DK" sz="1600">
              <a:latin typeface="Courier" pitchFamily="49" charset="0"/>
            </a:endParaRP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t.height = Math.max( height( t.left ), height( t.right ) ) + 1;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        return t;</a:t>
            </a:r>
          </a:p>
          <a:p>
            <a:pPr marL="0" indent="0">
              <a:buNone/>
            </a:pPr>
            <a:r>
              <a:rPr lang="da-DK" sz="1600">
                <a:latin typeface="Courier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3855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70386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81864" y="3933056"/>
            <a:ext cx="8928992" cy="2692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private </a:t>
            </a:r>
            <a:r>
              <a:rPr lang="da-DK" sz="1600" dirty="0" err="1">
                <a:latin typeface="Courier" pitchFamily="49" charset="0"/>
              </a:rPr>
              <a:t>AvlNode</a:t>
            </a:r>
            <a:r>
              <a:rPr lang="da-DK" sz="1600" dirty="0">
                <a:latin typeface="Courier" pitchFamily="49" charset="0"/>
              </a:rPr>
              <a:t>&lt;</a:t>
            </a:r>
            <a:r>
              <a:rPr lang="da-DK" sz="1600" dirty="0" err="1">
                <a:latin typeface="Courier" pitchFamily="49" charset="0"/>
              </a:rPr>
              <a:t>AnyType</a:t>
            </a:r>
            <a:r>
              <a:rPr lang="da-DK" sz="1600" dirty="0">
                <a:latin typeface="Courier" pitchFamily="49" charset="0"/>
              </a:rPr>
              <a:t>&gt; </a:t>
            </a:r>
            <a:r>
              <a:rPr lang="da-DK" sz="1600" dirty="0" err="1">
                <a:latin typeface="Courier" pitchFamily="49" charset="0"/>
              </a:rPr>
              <a:t>rotateWithLeftChild</a:t>
            </a:r>
            <a:r>
              <a:rPr lang="da-DK" sz="1600" dirty="0">
                <a:latin typeface="Courier" pitchFamily="49" charset="0"/>
              </a:rPr>
              <a:t>( </a:t>
            </a:r>
            <a:r>
              <a:rPr lang="da-DK" sz="1600" dirty="0" err="1">
                <a:latin typeface="Courier" pitchFamily="49" charset="0"/>
              </a:rPr>
              <a:t>AvlNode</a:t>
            </a:r>
            <a:r>
              <a:rPr lang="da-DK" sz="1600" dirty="0">
                <a:latin typeface="Courier" pitchFamily="49" charset="0"/>
              </a:rPr>
              <a:t>&lt;</a:t>
            </a:r>
            <a:r>
              <a:rPr lang="da-DK" sz="1600" dirty="0" err="1">
                <a:latin typeface="Courier" pitchFamily="49" charset="0"/>
              </a:rPr>
              <a:t>AnyType</a:t>
            </a:r>
            <a:r>
              <a:rPr lang="da-DK" sz="1600" dirty="0">
                <a:latin typeface="Courier" pitchFamily="49" charset="0"/>
              </a:rPr>
              <a:t>&gt; k2 )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</a:t>
            </a:r>
            <a:r>
              <a:rPr lang="da-DK" sz="1600" dirty="0" err="1">
                <a:latin typeface="Courier" pitchFamily="49" charset="0"/>
              </a:rPr>
              <a:t>AvlNode</a:t>
            </a:r>
            <a:r>
              <a:rPr lang="da-DK" sz="1600" dirty="0">
                <a:latin typeface="Courier" pitchFamily="49" charset="0"/>
              </a:rPr>
              <a:t>&lt;</a:t>
            </a:r>
            <a:r>
              <a:rPr lang="da-DK" sz="1600" dirty="0" err="1">
                <a:latin typeface="Courier" pitchFamily="49" charset="0"/>
              </a:rPr>
              <a:t>AnyType</a:t>
            </a:r>
            <a:r>
              <a:rPr lang="da-DK" sz="1600" dirty="0">
                <a:latin typeface="Courier" pitchFamily="49" charset="0"/>
              </a:rPr>
              <a:t>&gt; k1 = k2.left;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k2.left = k1.right;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k1.right = k2;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k2.height = </a:t>
            </a:r>
            <a:r>
              <a:rPr lang="da-DK" sz="1600" dirty="0" err="1">
                <a:latin typeface="Courier" pitchFamily="49" charset="0"/>
              </a:rPr>
              <a:t>Math.max</a:t>
            </a:r>
            <a:r>
              <a:rPr lang="da-DK" sz="1600" dirty="0">
                <a:latin typeface="Courier" pitchFamily="49" charset="0"/>
              </a:rPr>
              <a:t>(</a:t>
            </a:r>
            <a:r>
              <a:rPr lang="da-DK" sz="1600" dirty="0" err="1">
                <a:latin typeface="Courier" pitchFamily="49" charset="0"/>
              </a:rPr>
              <a:t>height</a:t>
            </a:r>
            <a:r>
              <a:rPr lang="da-DK" sz="1600" dirty="0">
                <a:latin typeface="Courier" pitchFamily="49" charset="0"/>
              </a:rPr>
              <a:t>(k2.left),</a:t>
            </a:r>
            <a:r>
              <a:rPr lang="da-DK" sz="1600" dirty="0" err="1">
                <a:latin typeface="Courier" pitchFamily="49" charset="0"/>
              </a:rPr>
              <a:t>height</a:t>
            </a:r>
            <a:r>
              <a:rPr lang="da-DK" sz="1600" dirty="0">
                <a:latin typeface="Courier" pitchFamily="49" charset="0"/>
              </a:rPr>
              <a:t>(k2.right) ) + 1;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k1.height = </a:t>
            </a:r>
            <a:r>
              <a:rPr lang="da-DK" sz="1600" dirty="0" err="1">
                <a:latin typeface="Courier" pitchFamily="49" charset="0"/>
              </a:rPr>
              <a:t>Math.max</a:t>
            </a:r>
            <a:r>
              <a:rPr lang="da-DK" sz="1600" dirty="0">
                <a:latin typeface="Courier" pitchFamily="49" charset="0"/>
              </a:rPr>
              <a:t>(</a:t>
            </a:r>
            <a:r>
              <a:rPr lang="da-DK" sz="1600" dirty="0" err="1">
                <a:latin typeface="Courier" pitchFamily="49" charset="0"/>
              </a:rPr>
              <a:t>height</a:t>
            </a:r>
            <a:r>
              <a:rPr lang="da-DK" sz="1600" dirty="0">
                <a:latin typeface="Courier" pitchFamily="49" charset="0"/>
              </a:rPr>
              <a:t>(k1.left),k2.height ) + 1;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</a:t>
            </a:r>
            <a:r>
              <a:rPr lang="da-DK" sz="1600" dirty="0" err="1">
                <a:latin typeface="Courier" pitchFamily="49" charset="0"/>
              </a:rPr>
              <a:t>return</a:t>
            </a:r>
            <a:r>
              <a:rPr lang="da-DK" sz="1600" dirty="0">
                <a:latin typeface="Courier" pitchFamily="49" charset="0"/>
              </a:rPr>
              <a:t> k1;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}</a:t>
            </a:r>
          </a:p>
        </p:txBody>
      </p:sp>
      <p:pic>
        <p:nvPicPr>
          <p:cNvPr id="1026" name="Picture 2" descr="C:\Users\od\Documents\Arbejde\2013-2\ADA5\Figurer, kapitel 1-6\0321395670_pt1\ch04\ch04gif\fig04_3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8712968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824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latin typeface="Courier"/>
              </a:rPr>
              <a:t>doubleWithLeftChild()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251520" y="2348880"/>
            <a:ext cx="8784976" cy="3777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 dirty="0">
                <a:latin typeface="Courier"/>
              </a:rPr>
              <a:t>    private </a:t>
            </a:r>
            <a:r>
              <a:rPr lang="da-DK" sz="2000" dirty="0" err="1">
                <a:latin typeface="Courier"/>
              </a:rPr>
              <a:t>AvlNode</a:t>
            </a:r>
            <a:r>
              <a:rPr lang="da-DK" sz="2000" dirty="0">
                <a:latin typeface="Courier"/>
              </a:rPr>
              <a:t>&lt;</a:t>
            </a:r>
            <a:r>
              <a:rPr lang="da-DK" sz="2000" dirty="0" err="1">
                <a:latin typeface="Courier"/>
              </a:rPr>
              <a:t>AnyType</a:t>
            </a:r>
            <a:r>
              <a:rPr lang="da-DK" sz="2000" dirty="0">
                <a:latin typeface="Courier"/>
              </a:rPr>
              <a:t>&gt; </a:t>
            </a:r>
            <a:r>
              <a:rPr lang="da-DK" sz="2000" dirty="0" err="1">
                <a:latin typeface="Courier"/>
              </a:rPr>
              <a:t>doubleWithLeftChild</a:t>
            </a:r>
            <a:r>
              <a:rPr lang="da-DK" sz="2000" dirty="0">
                <a:latin typeface="Courier"/>
              </a:rPr>
              <a:t>( 			</a:t>
            </a:r>
            <a:r>
              <a:rPr lang="da-DK" sz="2000" dirty="0" err="1">
                <a:latin typeface="Courier"/>
              </a:rPr>
              <a:t>AvlNode</a:t>
            </a:r>
            <a:r>
              <a:rPr lang="da-DK" sz="2000" dirty="0">
                <a:latin typeface="Courier"/>
              </a:rPr>
              <a:t>&lt;</a:t>
            </a:r>
            <a:r>
              <a:rPr lang="da-DK" sz="2000" dirty="0" err="1">
                <a:latin typeface="Courier"/>
              </a:rPr>
              <a:t>AnyType</a:t>
            </a:r>
            <a:r>
              <a:rPr lang="da-DK" sz="2000" dirty="0">
                <a:latin typeface="Courier"/>
              </a:rPr>
              <a:t>&gt; k3 )</a:t>
            </a:r>
          </a:p>
          <a:p>
            <a:pPr marL="0" indent="0">
              <a:buNone/>
            </a:pPr>
            <a:r>
              <a:rPr lang="da-DK" sz="2000" dirty="0">
                <a:latin typeface="Courier"/>
              </a:rPr>
              <a:t>    {</a:t>
            </a:r>
          </a:p>
          <a:p>
            <a:pPr marL="0" indent="0">
              <a:buNone/>
            </a:pPr>
            <a:r>
              <a:rPr lang="da-DK" sz="2000" dirty="0">
                <a:latin typeface="Courier"/>
              </a:rPr>
              <a:t>        k3.left = </a:t>
            </a:r>
            <a:r>
              <a:rPr lang="da-DK" sz="2000" dirty="0" err="1">
                <a:latin typeface="Courier"/>
              </a:rPr>
              <a:t>rotateWithRightChild</a:t>
            </a:r>
            <a:r>
              <a:rPr lang="da-DK" sz="2000" dirty="0">
                <a:latin typeface="Courier"/>
              </a:rPr>
              <a:t>( k3.left );</a:t>
            </a:r>
          </a:p>
          <a:p>
            <a:pPr marL="0" indent="0">
              <a:buNone/>
            </a:pPr>
            <a:r>
              <a:rPr lang="da-DK" sz="2000" dirty="0">
                <a:latin typeface="Courier"/>
              </a:rPr>
              <a:t>        </a:t>
            </a:r>
            <a:r>
              <a:rPr lang="da-DK" sz="2000" dirty="0" err="1">
                <a:latin typeface="Courier"/>
              </a:rPr>
              <a:t>return</a:t>
            </a:r>
            <a:r>
              <a:rPr lang="da-DK" sz="2000" dirty="0">
                <a:latin typeface="Courier"/>
              </a:rPr>
              <a:t> </a:t>
            </a:r>
            <a:r>
              <a:rPr lang="da-DK" sz="2000" dirty="0" err="1">
                <a:latin typeface="Courier"/>
              </a:rPr>
              <a:t>rotateWithLeftChild</a:t>
            </a:r>
            <a:r>
              <a:rPr lang="da-DK" sz="2000" dirty="0">
                <a:latin typeface="Courier"/>
              </a:rPr>
              <a:t>( k3 );</a:t>
            </a:r>
          </a:p>
          <a:p>
            <a:pPr marL="0" indent="0">
              <a:buNone/>
            </a:pPr>
            <a:r>
              <a:rPr lang="da-DK" sz="2000" dirty="0">
                <a:latin typeface="Courier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931134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Splaying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Problem: i nogle applikationer er det meget sandsynligt at en nyligt læst node vil blive efterspurgt meget snart igen.</a:t>
            </a:r>
          </a:p>
          <a:p>
            <a:r>
              <a:rPr lang="da-DK" dirty="0"/>
              <a:t>Derfor kunne det måske være smart at forfremme noden i hierarkiet, hvis den ligger dybt.</a:t>
            </a:r>
          </a:p>
          <a:p>
            <a:r>
              <a:rPr lang="da-DK" dirty="0"/>
              <a:t>Dette kan gøres med gentagne rotationer, og modsat AVL-træet er det ikke nødvendigt at vedligeholde </a:t>
            </a:r>
            <a:r>
              <a:rPr lang="da-DK" i="1" dirty="0" err="1"/>
              <a:t>height</a:t>
            </a:r>
            <a:r>
              <a:rPr lang="da-DK" i="1" dirty="0"/>
              <a:t>-</a:t>
            </a:r>
            <a:r>
              <a:rPr lang="da-DK" dirty="0"/>
              <a:t>attributten.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Splaying</a:t>
            </a:r>
            <a:r>
              <a:rPr lang="da-DK" dirty="0"/>
              <a:t> </a:t>
            </a:r>
            <a:r>
              <a:rPr lang="da-DK" dirty="0" err="1"/>
              <a:t>zig-zag</a:t>
            </a:r>
            <a:endParaRPr lang="da-DK" dirty="0"/>
          </a:p>
        </p:txBody>
      </p:sp>
      <p:pic>
        <p:nvPicPr>
          <p:cNvPr id="2050" name="Picture 2" descr="C:\Dokumenter\Arbejde\E2011\ADA5\Figurer, kapitel 1-6\0321395670_pt1\ch04\ch04gif\fig04_44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55390"/>
            <a:ext cx="8229600" cy="20155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Splaying</a:t>
            </a:r>
            <a:r>
              <a:rPr lang="da-DK" dirty="0"/>
              <a:t> </a:t>
            </a:r>
            <a:r>
              <a:rPr lang="da-DK" dirty="0" err="1"/>
              <a:t>zig-zig</a:t>
            </a:r>
            <a:endParaRPr lang="da-DK" dirty="0"/>
          </a:p>
        </p:txBody>
      </p:sp>
      <p:pic>
        <p:nvPicPr>
          <p:cNvPr id="3074" name="Picture 2" descr="C:\Dokumenter\Arbejde\E2011\ADA5\Figurer, kapitel 1-6\0321395670_pt1\ch04\ch04gif\fig04_45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971571"/>
            <a:ext cx="8229600" cy="1783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B-træer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7500" lnSpcReduction="20000"/>
          </a:bodyPr>
          <a:lstStyle/>
          <a:p>
            <a:r>
              <a:rPr lang="da-DK" dirty="0"/>
              <a:t>Problem: hvis træet er for stort til at være i </a:t>
            </a:r>
            <a:r>
              <a:rPr lang="da-DK" dirty="0" err="1"/>
              <a:t>memory</a:t>
            </a:r>
            <a:r>
              <a:rPr lang="da-DK" dirty="0"/>
              <a:t>, så bliver disc accesser en flaskehals.</a:t>
            </a:r>
          </a:p>
          <a:p>
            <a:r>
              <a:rPr lang="da-DK" dirty="0"/>
              <a:t>I 2014 skrev Weiss, at man kan udføre 120 disc accesser på et sekund.</a:t>
            </a:r>
          </a:p>
          <a:p>
            <a:r>
              <a:rPr lang="da-DK" dirty="0"/>
              <a:t>Det er ikke ret meget sammenlignet med de milliarder af instruktioner, der kan eksekveres på den samme tid.</a:t>
            </a:r>
          </a:p>
          <a:p>
            <a:r>
              <a:rPr lang="da-DK" dirty="0"/>
              <a:t>I runde tal: hvis vi kan halvere antallet af disc accesser, kan vi halvere køretiden.</a:t>
            </a:r>
          </a:p>
          <a:p>
            <a:r>
              <a:rPr lang="da-DK" dirty="0"/>
              <a:t>Løsning (kort): et </a:t>
            </a:r>
            <a:r>
              <a:rPr lang="da-DK" i="1" dirty="0"/>
              <a:t>M-ordens søgetræ</a:t>
            </a:r>
            <a:r>
              <a:rPr lang="da-DK" dirty="0"/>
              <a:t> hvor M for eksempel er 5.</a:t>
            </a:r>
          </a:p>
          <a:p>
            <a:r>
              <a:rPr lang="da-DK" dirty="0"/>
              <a:t>Data lagres i bladene.</a:t>
            </a:r>
          </a:p>
          <a:p>
            <a:r>
              <a:rPr lang="da-DK" dirty="0"/>
              <a:t>I det følgende eksempel repræsenterer hver node en disc blok, der sædvanligvis indeholder adskillige data </a:t>
            </a:r>
            <a:r>
              <a:rPr lang="da-DK" dirty="0" err="1"/>
              <a:t>records</a:t>
            </a:r>
            <a:r>
              <a:rPr lang="da-DK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5-ordens B-træ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da-DK" dirty="0"/>
          </a:p>
        </p:txBody>
      </p:sp>
      <p:pic>
        <p:nvPicPr>
          <p:cNvPr id="4099" name="Picture 3" descr="C:\Dokumenter\Arbejde\E2011\ADA5\Figurer, kapitel 1-6\0321395670_pt1\ch04\ch04gif\fig04_59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71663"/>
            <a:ext cx="9144000" cy="39336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B-træet med 57 indsat</a:t>
            </a:r>
          </a:p>
        </p:txBody>
      </p:sp>
      <p:pic>
        <p:nvPicPr>
          <p:cNvPr id="5122" name="Picture 2" descr="C:\Dokumenter\Arbejde\E2011\ADA5\Figurer, kapitel 1-6\0321395670_pt1\ch04\ch04gif\fig04_60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05380"/>
            <a:ext cx="8229600" cy="27156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B-træet med 55 indsat</a:t>
            </a:r>
          </a:p>
        </p:txBody>
      </p:sp>
      <p:pic>
        <p:nvPicPr>
          <p:cNvPr id="6146" name="Picture 2" descr="C:\Dokumenter\Arbejde\E2011\ADA5\Figurer, kapitel 1-6\0321395670_pt1\ch04\ch04gif\fig04_61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05380"/>
            <a:ext cx="8229600" cy="27156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B-træet med 40 indsat</a:t>
            </a:r>
          </a:p>
        </p:txBody>
      </p:sp>
      <p:pic>
        <p:nvPicPr>
          <p:cNvPr id="7170" name="Picture 2" descr="C:\Dokumenter\Arbejde\E2011\ADA5\Figurer, kapitel 1-6\0321395670_pt1\ch04\ch04gif\fig04_62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757277"/>
            <a:ext cx="8229600" cy="22118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B-træet med 99 slettet</a:t>
            </a:r>
          </a:p>
        </p:txBody>
      </p:sp>
      <p:pic>
        <p:nvPicPr>
          <p:cNvPr id="8194" name="Picture 2" descr="C:\Dokumenter\Arbejde\E2011\ADA5\Figurer, kapitel 1-6\0321395670_pt1\ch04\ch04gif\fig04_63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758397"/>
            <a:ext cx="8229600" cy="22095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Træer </a:t>
            </a:r>
            <a:r>
              <a:rPr lang="da-DK"/>
              <a:t>i compilere</a:t>
            </a:r>
            <a:endParaRPr lang="da-DK" dirty="0"/>
          </a:p>
        </p:txBody>
      </p:sp>
      <p:pic>
        <p:nvPicPr>
          <p:cNvPr id="2050" name="Picture 2" descr="C:\Dokumenter\Arbejde\E2011\ADA5\Expression tree.jpe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600200"/>
            <a:ext cx="5544615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1026" name="Picture 2" descr="C:\Dokumenter\Arbejde\E2011\ADA5\Parsetræ.jpe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260648"/>
            <a:ext cx="3456383" cy="64807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13945</TotalTime>
  <Words>1303</Words>
  <Application>Microsoft Office PowerPoint</Application>
  <PresentationFormat>Skærmshow (4:3)</PresentationFormat>
  <Paragraphs>138</Paragraphs>
  <Slides>36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36</vt:i4>
      </vt:variant>
    </vt:vector>
  </HeadingPairs>
  <TitlesOfParts>
    <vt:vector size="44" baseType="lpstr">
      <vt:lpstr>Aptos</vt:lpstr>
      <vt:lpstr>Arial</vt:lpstr>
      <vt:lpstr>Calibri</vt:lpstr>
      <vt:lpstr>Cambria Math</vt:lpstr>
      <vt:lpstr>Courier</vt:lpstr>
      <vt:lpstr>Courier New</vt:lpstr>
      <vt:lpstr>Wingdings</vt:lpstr>
      <vt:lpstr>Kontortema</vt:lpstr>
      <vt:lpstr>Algoritmer &amp; Datastrukturer  12. november 2025</vt:lpstr>
      <vt:lpstr>Binært søgetræ</vt:lpstr>
      <vt:lpstr>Internal path length</vt:lpstr>
      <vt:lpstr>ChatGPT</vt:lpstr>
      <vt:lpstr>Binært træ med internal path length = 19 2*1 (B,C)+4*2(D,E,F,G)+3*3(H,I,J) </vt:lpstr>
      <vt:lpstr>Average case Analysis</vt:lpstr>
      <vt:lpstr>Average case analysis</vt:lpstr>
      <vt:lpstr>Et temmelig ubalanceret træ</vt:lpstr>
      <vt:lpstr>Tilfældigt generet træ – med 500 noder – gennemsnitsdybden er 9,98 (log 500 ~ 9)</vt:lpstr>
      <vt:lpstr>Problemerne med average case og anden analyse</vt:lpstr>
      <vt:lpstr>Konklusion</vt:lpstr>
      <vt:lpstr>Det mindste balancerede træ med højden 9. Hvordan ser det største ud?</vt:lpstr>
      <vt:lpstr>AVL-træet</vt:lpstr>
      <vt:lpstr>AVL and non-AVL</vt:lpstr>
      <vt:lpstr>Rotation</vt:lpstr>
      <vt:lpstr>Single rotation</vt:lpstr>
      <vt:lpstr>Rotation</vt:lpstr>
      <vt:lpstr>Single rotation for 1</vt:lpstr>
      <vt:lpstr>Single rotation for 4</vt:lpstr>
      <vt:lpstr>Left/right double rotation for 2</vt:lpstr>
      <vt:lpstr>Left/right double rotation for 3</vt:lpstr>
      <vt:lpstr>insert()</vt:lpstr>
      <vt:lpstr>balance()</vt:lpstr>
      <vt:lpstr>PowerPoint-præsentation</vt:lpstr>
      <vt:lpstr>doubleWithLeftChild()</vt:lpstr>
      <vt:lpstr>Splaying</vt:lpstr>
      <vt:lpstr>Splaying zig-zag</vt:lpstr>
      <vt:lpstr>Splaying zig-zig</vt:lpstr>
      <vt:lpstr>B-træer</vt:lpstr>
      <vt:lpstr>5-ordens B-træ</vt:lpstr>
      <vt:lpstr>B-træet med 57 indsat</vt:lpstr>
      <vt:lpstr>B-træet med 55 indsat</vt:lpstr>
      <vt:lpstr>B-træet med 40 indsat</vt:lpstr>
      <vt:lpstr>B-træet med 99 slettet</vt:lpstr>
      <vt:lpstr>Træer i compilere</vt:lpstr>
      <vt:lpstr>PowerPoint-præsentation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Mere om træer</dc:title>
  <dc:creator>Ole Dolriis</dc:creator>
  <cp:lastModifiedBy>Ole Dolriis</cp:lastModifiedBy>
  <cp:revision>138</cp:revision>
  <cp:lastPrinted>2012-10-10T10:01:54Z</cp:lastPrinted>
  <dcterms:created xsi:type="dcterms:W3CDTF">2011-10-03T09:48:18Z</dcterms:created>
  <dcterms:modified xsi:type="dcterms:W3CDTF">2025-11-13T08:43:01Z</dcterms:modified>
</cp:coreProperties>
</file>