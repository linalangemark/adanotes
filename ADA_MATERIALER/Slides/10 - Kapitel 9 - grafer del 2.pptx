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1" r:id="rId4"/>
    <p:sldId id="315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44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17" r:id="rId22"/>
    <p:sldId id="345" r:id="rId23"/>
    <p:sldId id="339" r:id="rId24"/>
    <p:sldId id="340" r:id="rId25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43" autoAdjust="0"/>
  </p:normalViewPr>
  <p:slideViewPr>
    <p:cSldViewPr>
      <p:cViewPr varScale="1">
        <p:scale>
          <a:sx n="95" d="100"/>
          <a:sy n="95" d="100"/>
        </p:scale>
        <p:origin x="3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6C8B2-E44E-44A6-8716-66701E3263C7}" type="datetimeFigureOut">
              <a:rPr lang="da-DK" smtClean="0"/>
              <a:pPr/>
              <a:t>28-11-2025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206680" cy="1470025"/>
          </a:xfrm>
        </p:spPr>
        <p:txBody>
          <a:bodyPr>
            <a:normAutofit/>
          </a:bodyPr>
          <a:lstStyle/>
          <a:p>
            <a:r>
              <a:rPr lang="da-DK" dirty="0"/>
              <a:t>Algoritmer &amp; </a:t>
            </a:r>
            <a:r>
              <a:rPr lang="da-DK" dirty="0" err="1"/>
              <a:t>Datastrkurer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28. november 2025</a:t>
            </a:r>
            <a:endParaRPr lang="da-DK" sz="3200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sz="5400" dirty="0"/>
              <a:t>Grafer del 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Network flow problemer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pPr>
              <a:buNone/>
            </a:pPr>
            <a:r>
              <a:rPr lang="da-DK" dirty="0"/>
              <a:t>	Opgave: find det maksimale flow fra </a:t>
            </a:r>
            <a:r>
              <a:rPr lang="da-DK" i="1" dirty="0"/>
              <a:t>source </a:t>
            </a:r>
            <a:r>
              <a:rPr lang="da-DK" dirty="0"/>
              <a:t> til </a:t>
            </a:r>
            <a:r>
              <a:rPr lang="da-DK" i="1" dirty="0"/>
              <a:t>sink</a:t>
            </a:r>
            <a:r>
              <a:rPr lang="da-DK" dirty="0"/>
              <a:t> ved at se på kapacitet.</a:t>
            </a:r>
          </a:p>
          <a:p>
            <a:pPr>
              <a:buNone/>
            </a:pPr>
            <a:r>
              <a:rPr lang="da-DK" dirty="0"/>
              <a:t>	</a:t>
            </a:r>
          </a:p>
          <a:p>
            <a:pPr>
              <a:buNone/>
            </a:pPr>
            <a:r>
              <a:rPr lang="da-DK" dirty="0"/>
              <a:t>	</a:t>
            </a:r>
            <a:r>
              <a:rPr lang="da-DK" sz="2400" dirty="0"/>
              <a:t>Opgaven bliver en del sværere, hvis der tilføjes en omkostningsparameter.</a:t>
            </a:r>
          </a:p>
        </p:txBody>
      </p:sp>
    </p:spTree>
    <p:extLst>
      <p:ext uri="{BB962C8B-B14F-4D97-AF65-F5344CB8AC3E}">
        <p14:creationId xmlns:p14="http://schemas.microsoft.com/office/powerpoint/2010/main" val="307972408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Network flow problemer</a:t>
            </a:r>
            <a:br>
              <a:rPr lang="da-DK" dirty="0"/>
            </a:br>
            <a:r>
              <a:rPr lang="da-DK" sz="2200" dirty="0"/>
              <a:t>en graf og dens maksimale flow</a:t>
            </a:r>
          </a:p>
        </p:txBody>
      </p:sp>
      <p:pic>
        <p:nvPicPr>
          <p:cNvPr id="2050" name="Picture 2" descr="C:\Dokumenter\Arbejde\E2011\ADA5\Figurer, kapitel 7-12\0321395670_pt2\ch09\ch09gif\fig09_3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1729581"/>
            <a:ext cx="7200900" cy="426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21881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Network flow problemer</a:t>
            </a:r>
            <a:br>
              <a:rPr lang="da-DK" dirty="0"/>
            </a:br>
            <a:r>
              <a:rPr lang="da-DK" sz="1800" dirty="0"/>
              <a:t>startkonfiguration</a:t>
            </a:r>
            <a:endParaRPr lang="da-DK" dirty="0"/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06004"/>
            <a:ext cx="8229600" cy="3114355"/>
          </a:xfrm>
        </p:spPr>
      </p:pic>
    </p:spTree>
    <p:extLst>
      <p:ext uri="{BB962C8B-B14F-4D97-AF65-F5344CB8AC3E}">
        <p14:creationId xmlns:p14="http://schemas.microsoft.com/office/powerpoint/2010/main" val="26631708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Network flow problemer</a:t>
            </a:r>
          </a:p>
        </p:txBody>
      </p:sp>
      <p:pic>
        <p:nvPicPr>
          <p:cNvPr id="3074" name="Picture 2" descr="C:\Dokumenter\Arbejde\E2011\ADA5\Figurer, kapitel 7-12\0321395670_pt2\ch09\ch09gif\fig09_4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04418"/>
            <a:ext cx="8229600" cy="31175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77042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Network flow problemer</a:t>
            </a:r>
          </a:p>
        </p:txBody>
      </p:sp>
      <p:pic>
        <p:nvPicPr>
          <p:cNvPr id="4098" name="Picture 2" descr="C:\Dokumenter\Arbejde\E2011\ADA5\Figurer, kapitel 7-12\0321395670_pt2\ch09\ch09gif\fig09_4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06004"/>
            <a:ext cx="8229600" cy="31143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538022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Network flow problemer</a:t>
            </a:r>
          </a:p>
        </p:txBody>
      </p:sp>
      <p:pic>
        <p:nvPicPr>
          <p:cNvPr id="5122" name="Picture 2" descr="C:\Dokumenter\Arbejde\E2011\ADA5\Figurer, kapitel 7-12\0321395670_pt2\ch09\ch09gif\fig09_4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06004"/>
            <a:ext cx="8229600" cy="31143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97153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Minimum </a:t>
            </a:r>
            <a:r>
              <a:rPr lang="da-DK" dirty="0" err="1"/>
              <a:t>spanning</a:t>
            </a:r>
            <a:r>
              <a:rPr lang="da-DK" dirty="0"/>
              <a:t> </a:t>
            </a:r>
            <a:r>
              <a:rPr lang="da-DK" dirty="0" err="1"/>
              <a:t>tree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Undirected</a:t>
            </a:r>
            <a:r>
              <a:rPr lang="da-DK" dirty="0"/>
              <a:t>, </a:t>
            </a:r>
            <a:r>
              <a:rPr lang="da-DK" dirty="0" err="1"/>
              <a:t>connected</a:t>
            </a:r>
            <a:r>
              <a:rPr lang="da-DK" dirty="0"/>
              <a:t> graf</a:t>
            </a:r>
          </a:p>
          <a:p>
            <a:r>
              <a:rPr lang="da-DK" dirty="0"/>
              <a:t>Forbind alle noder billigst muligt.</a:t>
            </a:r>
          </a:p>
          <a:p>
            <a:r>
              <a:rPr lang="da-DK" dirty="0"/>
              <a:t>Ofte mere end en løsning.</a:t>
            </a:r>
          </a:p>
          <a:p>
            <a:r>
              <a:rPr lang="da-DK" dirty="0"/>
              <a:t>Kan udføres på </a:t>
            </a:r>
            <a:r>
              <a:rPr lang="da-DK" i="1" dirty="0" err="1"/>
              <a:t>directed</a:t>
            </a:r>
            <a:r>
              <a:rPr lang="da-DK" i="1" dirty="0"/>
              <a:t> </a:t>
            </a:r>
            <a:r>
              <a:rPr lang="da-DK" i="1" dirty="0" err="1"/>
              <a:t>graphs</a:t>
            </a:r>
            <a:endParaRPr lang="da-DK" i="1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0739648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Prim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146" name="Picture 2" descr="C:\Dokumenter\Arbejde\E2011\ADA5\Figurer, kapitel 7-12\0321395670_pt2\ch09\ch09gif\fig09_48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208912" cy="4896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87803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Prim</a:t>
            </a:r>
          </a:p>
        </p:txBody>
      </p:sp>
      <p:pic>
        <p:nvPicPr>
          <p:cNvPr id="7170" name="Picture 2" descr="C:\Dokumenter\Arbejde\E2011\ADA5\Figurer, kapitel 7-12\0321395670_pt2\ch09\ch09gif\fig09_4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775" y="1600200"/>
            <a:ext cx="7782449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79729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Kruskal</a:t>
            </a:r>
            <a:endParaRPr lang="da-DK" dirty="0"/>
          </a:p>
        </p:txBody>
      </p:sp>
      <p:pic>
        <p:nvPicPr>
          <p:cNvPr id="8194" name="Picture 2" descr="C:\Dokumenter\Arbejde\E2011\ADA5\Figurer, kapitel 7-12\0321395670_pt2\ch09\ch09gif\fig09_5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638" y="1600200"/>
            <a:ext cx="779072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272654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DC599-9966-601D-0EEF-396546508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Disjunkte mængder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902074-8EDB-9D44-264A-938C03E27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0" i="0" dirty="0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Disjunkte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mængder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(disjoint sets) er</a:t>
            </a: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mængder</a:t>
            </a: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hvis</a:t>
            </a: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fællesmængde</a:t>
            </a: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er tom.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17002686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7BFD3-B9F9-4715-A376-C01B013E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Disjunkte mængder - </a:t>
            </a:r>
            <a:r>
              <a:rPr lang="da-DK" dirty="0" err="1"/>
              <a:t>startkonfigration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FE262A8F-2BB8-4223-9161-F8F55915F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10072"/>
            <a:ext cx="8229600" cy="1106219"/>
          </a:xfrm>
        </p:spPr>
      </p:pic>
    </p:spTree>
    <p:extLst>
      <p:ext uri="{BB962C8B-B14F-4D97-AF65-F5344CB8AC3E}">
        <p14:creationId xmlns:p14="http://schemas.microsoft.com/office/powerpoint/2010/main" val="311649470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D4D81-F82F-4E11-8652-6B6B4C20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Disjunkte mængder – efter 1. forening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16A5CD5-539B-48C9-B5DC-47454100A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21340"/>
            <a:ext cx="8229600" cy="1883682"/>
          </a:xfrm>
        </p:spPr>
      </p:pic>
    </p:spTree>
    <p:extLst>
      <p:ext uri="{BB962C8B-B14F-4D97-AF65-F5344CB8AC3E}">
        <p14:creationId xmlns:p14="http://schemas.microsoft.com/office/powerpoint/2010/main" val="27280059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A5339-8011-4047-8324-7D08BFEC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Disjunkte mængder – efter 2. forening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A14866C8-D5AA-4409-9F2F-71CF5CAEE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81389"/>
            <a:ext cx="8229600" cy="1963584"/>
          </a:xfrm>
        </p:spPr>
      </p:pic>
    </p:spTree>
    <p:extLst>
      <p:ext uri="{BB962C8B-B14F-4D97-AF65-F5344CB8AC3E}">
        <p14:creationId xmlns:p14="http://schemas.microsoft.com/office/powerpoint/2010/main" val="26945477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B35F9-F3D0-41C9-9D4C-7CCC656A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Disjunkte mængder – efter . forening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EBA961F9-072C-4CD7-A838-879B5F055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23456"/>
            <a:ext cx="8229600" cy="2879451"/>
          </a:xfrm>
        </p:spPr>
      </p:pic>
    </p:spTree>
    <p:extLst>
      <p:ext uri="{BB962C8B-B14F-4D97-AF65-F5344CB8AC3E}">
        <p14:creationId xmlns:p14="http://schemas.microsoft.com/office/powerpoint/2010/main" val="231050506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E8F73-6C1E-4FF8-8FCC-AB92FA74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784976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Disjunkte mængder </a:t>
            </a:r>
            <a:br>
              <a:rPr lang="da-DK" dirty="0"/>
            </a:br>
            <a:r>
              <a:rPr lang="da-DK" dirty="0"/>
              <a:t> array implementering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A14599E4-A7BC-406E-8A4D-22FD910D1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62" y="3453606"/>
            <a:ext cx="6619875" cy="819150"/>
          </a:xfrm>
        </p:spPr>
      </p:pic>
    </p:spTree>
    <p:extLst>
      <p:ext uri="{BB962C8B-B14F-4D97-AF65-F5344CB8AC3E}">
        <p14:creationId xmlns:p14="http://schemas.microsoft.com/office/powerpoint/2010/main" val="161380597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FF3CFE-5115-48CA-89B7-2ACC96C9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Disjunkte mængder – objekt konstruktion</a:t>
            </a:r>
          </a:p>
        </p:txBody>
      </p:sp>
      <p:pic>
        <p:nvPicPr>
          <p:cNvPr id="5" name="Pladsholder til indhold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AE94AF02-8CF7-40A9-8C8A-BBFC17C0F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" y="2334419"/>
            <a:ext cx="7439025" cy="3057525"/>
          </a:xfrm>
        </p:spPr>
      </p:pic>
    </p:spTree>
    <p:extLst>
      <p:ext uri="{BB962C8B-B14F-4D97-AF65-F5344CB8AC3E}">
        <p14:creationId xmlns:p14="http://schemas.microsoft.com/office/powerpoint/2010/main" val="69254478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E12AA-7104-42E8-9872-12C540CA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Disjunkte mængder – forening</a:t>
            </a:r>
          </a:p>
        </p:txBody>
      </p:sp>
      <p:pic>
        <p:nvPicPr>
          <p:cNvPr id="5" name="Pladsholder til indhold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2D9EC2FB-08BE-4C01-8D49-BBF74DAA5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2177256"/>
            <a:ext cx="7353300" cy="3371850"/>
          </a:xfrm>
        </p:spPr>
      </p:pic>
    </p:spTree>
    <p:extLst>
      <p:ext uri="{BB962C8B-B14F-4D97-AF65-F5344CB8AC3E}">
        <p14:creationId xmlns:p14="http://schemas.microsoft.com/office/powerpoint/2010/main" val="356824087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0AEA71-0C32-49FD-BDF1-F486EFBB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Disujnkte</a:t>
            </a:r>
            <a:r>
              <a:rPr lang="da-DK" dirty="0"/>
              <a:t> mængder – find</a:t>
            </a:r>
          </a:p>
        </p:txBody>
      </p:sp>
      <p:pic>
        <p:nvPicPr>
          <p:cNvPr id="5" name="Pladsholder til indhold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EB5684AE-4E23-43B5-89AE-202A2CE91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7" y="1862931"/>
            <a:ext cx="5991225" cy="4000500"/>
          </a:xfrm>
        </p:spPr>
      </p:pic>
    </p:spTree>
    <p:extLst>
      <p:ext uri="{BB962C8B-B14F-4D97-AF65-F5344CB8AC3E}">
        <p14:creationId xmlns:p14="http://schemas.microsoft.com/office/powerpoint/2010/main" val="280113884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Kruskal</a:t>
            </a:r>
            <a:r>
              <a:rPr lang="da-DK" dirty="0"/>
              <a:t> pseudokode</a:t>
            </a:r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49" y="1600200"/>
            <a:ext cx="5245102" cy="4525963"/>
          </a:xfrm>
        </p:spPr>
      </p:pic>
    </p:spTree>
    <p:extLst>
      <p:ext uri="{BB962C8B-B14F-4D97-AF65-F5344CB8AC3E}">
        <p14:creationId xmlns:p14="http://schemas.microsoft.com/office/powerpoint/2010/main" val="68016018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8043D-7689-2407-B2F4-1EE646E9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QuickSelect - </a:t>
            </a:r>
            <a:r>
              <a:rPr lang="da-DK" dirty="0" err="1"/>
              <a:t>rekurrensligning</a:t>
            </a:r>
            <a:endParaRPr lang="da-DK" dirty="0"/>
          </a:p>
        </p:txBody>
      </p:sp>
      <p:pic>
        <p:nvPicPr>
          <p:cNvPr id="5" name="Pladsholder til indhold 4" descr="Et billede, der indeholder tekst, whiteboard, tavle, håndskrift&#10;&#10;AI-genereret indhold kan være ukorrekt.">
            <a:extLst>
              <a:ext uri="{FF2B5EF4-FFF2-40B4-BE49-F238E27FC236}">
                <a16:creationId xmlns:a16="http://schemas.microsoft.com/office/drawing/2014/main" id="{06331E7A-AF7D-296B-4AB9-B58EE37D9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600200"/>
            <a:ext cx="5184576" cy="5069160"/>
          </a:xfrm>
        </p:spPr>
      </p:pic>
    </p:spTree>
    <p:extLst>
      <p:ext uri="{BB962C8B-B14F-4D97-AF65-F5344CB8AC3E}">
        <p14:creationId xmlns:p14="http://schemas.microsoft.com/office/powerpoint/2010/main" val="169179882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083F9-D22C-0D15-7E04-336A44EE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52D0C6-E0AE-F1CC-59B9-A5C2F147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4400" dirty="0"/>
              <a:t>Opgave i aktivitetsplanlægning</a:t>
            </a:r>
          </a:p>
          <a:p>
            <a:pPr marL="0" indent="0" algn="ctr">
              <a:buNone/>
            </a:pPr>
            <a:r>
              <a:rPr lang="da-DK" sz="4000" i="1" dirty="0"/>
              <a:t>Kritisk vej</a:t>
            </a:r>
          </a:p>
          <a:p>
            <a:pPr marL="0" indent="0" algn="ctr">
              <a:buNone/>
            </a:pPr>
            <a:r>
              <a:rPr lang="da-DK" sz="1800" dirty="0"/>
              <a:t>på</a:t>
            </a:r>
          </a:p>
          <a:p>
            <a:pPr marL="0" indent="0" algn="ctr">
              <a:buNone/>
            </a:pPr>
            <a:r>
              <a:rPr lang="da-DK" sz="1800" i="1" dirty="0"/>
              <a:t>itslearning</a:t>
            </a:r>
          </a:p>
        </p:txBody>
      </p:sp>
    </p:spTree>
    <p:extLst>
      <p:ext uri="{BB962C8B-B14F-4D97-AF65-F5344CB8AC3E}">
        <p14:creationId xmlns:p14="http://schemas.microsoft.com/office/powerpoint/2010/main" val="19458555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B6BCA-0E21-0FE2-1959-ACE2DD17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4" descr="Et billede, der indeholder håndskrift, tekst, Rektangel, diagram">
            <a:extLst>
              <a:ext uri="{FF2B5EF4-FFF2-40B4-BE49-F238E27FC236}">
                <a16:creationId xmlns:a16="http://schemas.microsoft.com/office/drawing/2014/main" id="{B707BD02-161A-BD82-3311-0EC972FBF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44" y="1600200"/>
            <a:ext cx="7827511" cy="4525963"/>
          </a:xfrm>
        </p:spPr>
      </p:pic>
    </p:spTree>
    <p:extLst>
      <p:ext uri="{BB962C8B-B14F-4D97-AF65-F5344CB8AC3E}">
        <p14:creationId xmlns:p14="http://schemas.microsoft.com/office/powerpoint/2010/main" val="24541692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13684</TotalTime>
  <Words>168</Words>
  <Application>Microsoft Office PowerPoint</Application>
  <PresentationFormat>Skærmshow (4:3)</PresentationFormat>
  <Paragraphs>41</Paragraphs>
  <Slides>24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24</vt:i4>
      </vt:variant>
    </vt:vector>
  </HeadingPairs>
  <TitlesOfParts>
    <vt:vector size="28" baseType="lpstr">
      <vt:lpstr>Arial</vt:lpstr>
      <vt:lpstr>Calibri</vt:lpstr>
      <vt:lpstr>Roboto</vt:lpstr>
      <vt:lpstr>Kontortema</vt:lpstr>
      <vt:lpstr>Algoritmer &amp; Datastrkurer  28. november 2025</vt:lpstr>
      <vt:lpstr>Network flow problemer</vt:lpstr>
      <vt:lpstr>Network flow problemer en graf og dens maksimale flow</vt:lpstr>
      <vt:lpstr>Network flow problemer startkonfiguration</vt:lpstr>
      <vt:lpstr>Network flow problemer</vt:lpstr>
      <vt:lpstr>Network flow problemer</vt:lpstr>
      <vt:lpstr>Network flow problemer</vt:lpstr>
      <vt:lpstr>Minimum spanning tree</vt:lpstr>
      <vt:lpstr>Prim</vt:lpstr>
      <vt:lpstr>Prim</vt:lpstr>
      <vt:lpstr>Kruskal</vt:lpstr>
      <vt:lpstr>Disjunkte mængder</vt:lpstr>
      <vt:lpstr>Disjunkte mængder - startkonfigration</vt:lpstr>
      <vt:lpstr>Disjunkte mængder – efter 1. forening</vt:lpstr>
      <vt:lpstr>Disjunkte mængder – efter 2. forening</vt:lpstr>
      <vt:lpstr>Disjunkte mængder – efter . forening</vt:lpstr>
      <vt:lpstr>Disjunkte mængder   array implementering</vt:lpstr>
      <vt:lpstr>Disjunkte mængder – objekt konstruktion</vt:lpstr>
      <vt:lpstr>Disjunkte mængder – forening</vt:lpstr>
      <vt:lpstr>Disujnkte mængder – find</vt:lpstr>
      <vt:lpstr>Kruskal pseudokode</vt:lpstr>
      <vt:lpstr>QuickSelect - rekurrensligning</vt:lpstr>
      <vt:lpstr>Øvelse</vt:lpstr>
      <vt:lpstr>PowerPoint-præsentation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26. oktober 2011</dc:title>
  <dc:creator>Ole Dolriis</dc:creator>
  <cp:lastModifiedBy>Ole Dolriis</cp:lastModifiedBy>
  <cp:revision>164</cp:revision>
  <dcterms:created xsi:type="dcterms:W3CDTF">2011-11-16T10:33:03Z</dcterms:created>
  <dcterms:modified xsi:type="dcterms:W3CDTF">2025-11-28T10:54:45Z</dcterms:modified>
</cp:coreProperties>
</file>